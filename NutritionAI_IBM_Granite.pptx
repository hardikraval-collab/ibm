
<file path=[Content_Types].xml><?xml version="1.0" encoding="utf-8"?>
<Types xmlns="http://schemas.openxmlformats.org/package/2006/content-types">
  <Default Extension="xml" ContentType="application/vnd.openxmlformats-officedocument.presentationml.presentation.main+xml"/>
  <Default Extension="rels" ContentType="application/vnd.openxmlformats-package.relationships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officeDocument/2006/relationships/officeDocument" Target="/ppt/presentation.xml" Id="R2c3bce1faaf444e4" /><Relationship Type="http://schemas.openxmlformats.org/package/2006/relationships/metadata/core-properties" Target="/docProps/core.xml" Id="Rdb1050a951c84667" /><Relationship Type="http://schemas.openxmlformats.org/officeDocument/2006/relationships/extended-properties" Target="/docProps/app.xml" Id="R772556a7806045f9" /><Relationship Type="http://schemas.openxmlformats.org/officeDocument/2006/relationships/custom-properties" Target="/docProps/custom.xml" Id="Rdec86b2593464320" /></Relationships>
</file>

<file path=ppt/presentation.xml><?xml version="1.0" encoding="utf-8"?>
<p:presentation xmlns:r="http://schemas.openxmlformats.org/officeDocument/2006/relationships" xmlns:p="http://schemas.openxmlformats.org/presentationml/2006/main">
  <p:sldMasterIdLst>
    <p:sldMasterId xmlns:r="http://schemas.openxmlformats.org/officeDocument/2006/relationships" id="2147483648" r:id="rId1"/>
  </p:sldMasterIdLst>
  <p:notesMasterIdLst>
    <p:notesMasterId r:id="Rd061832b3fbe4b6b"/>
  </p:notesMasterIdLst>
  <p:sldIdLst>
    <p:sldId id="256" r:id="R752e5505e15e4fbf"/>
    <p:sldId id="257" r:id="R06ccfaa580c54a19"/>
    <p:sldId id="258" r:id="Rbb619af760e946c5"/>
    <p:sldId id="259" r:id="Re105a7252a7e44e9"/>
    <p:sldId id="260" r:id="Rdaba5f040b194ba6"/>
    <p:sldId id="261" r:id="R4dc372daeedc444c"/>
    <p:sldId id="262" r:id="R0ad39f04ae4046ec"/>
    <p:sldId id="263" r:id="R2e911146a92a49e3"/>
    <p:sldId id="264" r:id="Re9858f03e67644f2"/>
    <p:sldId id="265" r:id="R526b30809cdb49df"/>
    <p:sldId id="266" r:id="Re5715a31000346b6"/>
    <p:sldId id="267" r:id="Rbba19b9bff8346ea"/>
    <p:sldId id="268" r:id="Ra7e1c4b49e4242e1"/>
    <p:sldId id="269" r:id="R0eeec8195c584852"/>
    <p:sldId id="270" r:id="R067bb5df80e14835"/>
    <p:sldId id="271" r:id="Re82d1896e0c74e52"/>
    <p:sldId id="272" r:id="R908249db6dd34f36"/>
  </p:sldIdLst>
  <p:sldSz cx="12192000" cy="6858000"/>
  <p:notesSz cx="6858000" cy="9144000"/>
</p:presentation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Id1" /><Relationship Type="http://schemas.openxmlformats.org/officeDocument/2006/relationships/theme" Target="/ppt/theme/theme1.xml" Id="rId2" /><Relationship Type="http://schemas.openxmlformats.org/officeDocument/2006/relationships/slide" Target="/ppt/slides/slide1.xml" Id="R752e5505e15e4fbf" /><Relationship Type="http://schemas.openxmlformats.org/officeDocument/2006/relationships/notesMaster" Target="/ppt/notesMasters/notesMaster1.xml" Id="Rd061832b3fbe4b6b" /><Relationship Type="http://schemas.openxmlformats.org/officeDocument/2006/relationships/slide" Target="/ppt/slides/slide2.xml" Id="R06ccfaa580c54a19" /><Relationship Type="http://schemas.openxmlformats.org/officeDocument/2006/relationships/slide" Target="/ppt/slides/slide3.xml" Id="Rbb619af760e946c5" /><Relationship Type="http://schemas.openxmlformats.org/officeDocument/2006/relationships/slide" Target="/ppt/slides/slide4.xml" Id="Re105a7252a7e44e9" /><Relationship Type="http://schemas.openxmlformats.org/officeDocument/2006/relationships/slide" Target="/ppt/slides/slide5.xml" Id="Rdaba5f040b194ba6" /><Relationship Type="http://schemas.openxmlformats.org/officeDocument/2006/relationships/slide" Target="/ppt/slides/slide6.xml" Id="R4dc372daeedc444c" /><Relationship Type="http://schemas.openxmlformats.org/officeDocument/2006/relationships/slide" Target="/ppt/slides/slide7.xml" Id="R0ad39f04ae4046ec" /><Relationship Type="http://schemas.openxmlformats.org/officeDocument/2006/relationships/slide" Target="/ppt/slides/slide8.xml" Id="R2e911146a92a49e3" /><Relationship Type="http://schemas.openxmlformats.org/officeDocument/2006/relationships/slide" Target="/ppt/slides/slide9.xml" Id="Re9858f03e67644f2" /><Relationship Type="http://schemas.openxmlformats.org/officeDocument/2006/relationships/slide" Target="/ppt/slides/slide10.xml" Id="R526b30809cdb49df" /><Relationship Type="http://schemas.openxmlformats.org/officeDocument/2006/relationships/slide" Target="/ppt/slides/slide11.xml" Id="Re5715a31000346b6" /><Relationship Type="http://schemas.openxmlformats.org/officeDocument/2006/relationships/slide" Target="/ppt/slides/slide12.xml" Id="Rbba19b9bff8346ea" /><Relationship Type="http://schemas.openxmlformats.org/officeDocument/2006/relationships/slide" Target="/ppt/slides/slide13.xml" Id="Ra7e1c4b49e4242e1" /><Relationship Type="http://schemas.openxmlformats.org/officeDocument/2006/relationships/slide" Target="/ppt/slides/slide14.xml" Id="R0eeec8195c584852" /><Relationship Type="http://schemas.openxmlformats.org/officeDocument/2006/relationships/slide" Target="/ppt/slides/slide15.xml" Id="R067bb5df80e14835" /><Relationship Type="http://schemas.openxmlformats.org/officeDocument/2006/relationships/slide" Target="/ppt/slides/slide16.xml" Id="Re82d1896e0c74e52" /><Relationship Type="http://schemas.openxmlformats.org/officeDocument/2006/relationships/slide" Target="/ppt/slides/slide17.xml" Id="R908249db6dd34f3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7ad25b49a7ba43de" 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r">
              <a:defRPr sz="1200"/>
            </a:lvl1pPr>
          </a:lstStyle>
          <a:p>
            <a:fld id="{B1E4B0A2-5C8E-4E5F-9C1D-2F3A4B5C6D71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25717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3429000"/>
            <a:ext cx="5486400" cy="4114800"/>
          </a:xfrm>
          <a:prstGeom prst="rect">
            <a:avLst/>
          </a:prstGeom>
        </p:spPr>
        <p:txBody>
          <a:bodyPr vert="horz" lIns="91440" tIns="45720" rIns="91440" bIns="45720"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r">
              <a:defRPr sz="1200"/>
            </a:lvl1pPr>
          </a:lstStyle>
          <a:p>
            <a:fld id="{B1E4B0A2-5C8E-4E5F-9C1D-2F3A4B5C6D72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Masters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>
          <a:solidFill>
            <a:schemeClr val="phClr"/>
          </a:solidFill>
        </a:ln>
        <a:ln w="12700" cap="flat">
          <a:solidFill>
            <a:schemeClr val="phClr"/>
          </a:solidFill>
        </a:ln>
        <a:ln w="19050" cap="flat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84bf91d10fd14758" /><Relationship Type="http://schemas.openxmlformats.org/officeDocument/2006/relationships/slide" Target="/ppt/slides/slide1.xml" Id="Rbdfc4576f45f43c3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6cf4e2d58e9b487e" /><Relationship Type="http://schemas.openxmlformats.org/officeDocument/2006/relationships/slide" Target="/ppt/slides/slide2.xml" Id="R3426aeb028fd4fae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bbe171ce940e4666" /><Relationship Type="http://schemas.openxmlformats.org/officeDocument/2006/relationships/slide" Target="/ppt/slides/slide3.xml" Id="R11896f4f97604d55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94d2853886c243a6" /><Relationship Type="http://schemas.openxmlformats.org/officeDocument/2006/relationships/slide" Target="/ppt/slides/slide4.xml" Id="R18af3480d8b24d14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e94c8680f3ab432d" /><Relationship Type="http://schemas.openxmlformats.org/officeDocument/2006/relationships/slide" Target="/ppt/slides/slide5.xml" Id="Rf72f5fe7a7c346f8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4a03b970255349e7" /><Relationship Type="http://schemas.openxmlformats.org/officeDocument/2006/relationships/slide" Target="/ppt/slides/slide6.xml" Id="Rc20d3960099b4cc7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f951b3cfb908468a" /><Relationship Type="http://schemas.openxmlformats.org/officeDocument/2006/relationships/slide" Target="/ppt/slides/slide7.xml" Id="R915ebded26c949da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dbb7de285bb94e38" /><Relationship Type="http://schemas.openxmlformats.org/officeDocument/2006/relationships/slide" Target="/ppt/slides/slide8.xml" Id="Rbdcec0603fcf4074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5334e434cab3403d" /><Relationship Type="http://schemas.openxmlformats.org/officeDocument/2006/relationships/slide" Target="/ppt/slides/slide9.xml" Id="R1d243e78c0d14a4b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6228238f469b4f03" /><Relationship Type="http://schemas.openxmlformats.org/officeDocument/2006/relationships/slide" Target="/ppt/slides/slide10.xml" Id="Rc18add944dc342c1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a6e0bd8c5ff54912" /><Relationship Type="http://schemas.openxmlformats.org/officeDocument/2006/relationships/slide" Target="/ppt/slides/slide11.xml" Id="R8ec4dfeef94046cd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6bf90db4ad32481f" /><Relationship Type="http://schemas.openxmlformats.org/officeDocument/2006/relationships/slide" Target="/ppt/slides/slide12.xml" Id="Rc81af79aa8694d93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46a5fe3ece844b4b" /><Relationship Type="http://schemas.openxmlformats.org/officeDocument/2006/relationships/slide" Target="/ppt/slides/slide13.xml" Id="Ra6c698f4192c4d5e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1097610098a84b87" /><Relationship Type="http://schemas.openxmlformats.org/officeDocument/2006/relationships/slide" Target="/ppt/slides/slide14.xml" Id="R6f8a1839387b42bd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d1db21f0357d42a1" /><Relationship Type="http://schemas.openxmlformats.org/officeDocument/2006/relationships/slide" Target="/ppt/slides/slide15.xml" Id="R70d9dc08eb504c4c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e5eacf998d534ee0" /><Relationship Type="http://schemas.openxmlformats.org/officeDocument/2006/relationships/slide" Target="/ppt/slides/slide16.xml" Id="Rf5549ae0d2454435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6cdf117f2514460c" /><Relationship Type="http://schemas.openxmlformats.org/officeDocument/2006/relationships/slide" Target="/ppt/slides/slide17.xml" Id="R9d8cfdf9c7bc45c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Title slide: Nutrition Agentic AI powered by IBM Granite LLM. Full-stack web application built with Flask, Python, and IBM watsonx.ai.</a:t>
            </a:r>
          </a:p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Overview: Nutrition Agentic AI is a complete web application using IBM Granite LLM. It collects user data, applies agentic reasoning, generates personalised nutrition plans, and saves them as Markdown files.</a:t>
            </a:r>
          </a:p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SDLC: 7 phases from requirements through deployment. Every phase maps directly to code in the repository.</a:t>
            </a:r>
          </a:p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Architecture: Browser sends HTTP to Flask, Flask calls the agentic pipeline, which calls IBM Granite or falls back to rule engine. All inputs and outputs pass through the guardrail layer.</a:t>
            </a:r>
          </a:p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IBM Granite integration: Uses granite-13b-instruct-v2. Authenticates via IBM IAM token. Falls back to rule-based AI if API is unavailable — ensuring 100% uptime.</a:t>
            </a:r>
          </a:p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The Generate Plan tab has two panels: left is the user profile form collecting personal info, diet, medical history and location; right shows the AI-generated personalised nutrition plan.</a:t>
            </a:r>
          </a:p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The Ask AI tab provides a chat interface powered by IBM Granite. Users can type nutrition questions or click quick-question buttons. The AI responds with evidence-based guidance and ethical guardrails.</a:t>
            </a:r>
          </a:p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Every generated plan is saved as a .md file with YAML front-matter metadata, full 7-day meal plan content, and an auto-appended medical disclaimer. Files are downloadable from the My Plans tab.</a:t>
            </a:r>
          </a:p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The 7-day plan covers every meal: breakfast, lunch, dinner, and 2 snacks per day. Calorie and macro targets are adjusted for the user's medical conditions (diabetes: low GI, blood pressure: low sodium).</a:t>
            </a:r>
          </a:p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HAM = Helpful, Accurate, Mindful. Guardrails screen both user inputs and AI outputs. Medical awareness means the plan automatically adapts to diabetes, hypertension, allergies etc.</a:t>
            </a:r>
          </a:p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6 REST API endpoints. POST /api/generate-plan is the core endpoint — takes user profile JSON, returns complete nutrition plan and saves the .md file. All endpoints have guardrails applied.</a:t>
            </a:r>
          </a:p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Project structure: 12 files, 2948 lines. Core intelligence in granite_agent.py (657 lines). Flask routes in app.py. Full responsive frontend in templates and static directories.</a:t>
            </a:r>
          </a:p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Deployment: Windows users can double-click start_nutrition_ai.bat for one-click setup. Manual install works on all platforms. IBM watsonx.ai credentials are optional.</a:t>
            </a:r>
          </a:p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9 key features: IBM Granite LLM, 7-day plans, medical awareness, HAM guardrails, markdown export, smart fallback AI, Q&amp;A agent, cultural context, and responsive web UI.</a:t>
            </a:r>
          </a:p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GitHub repository: github.com/hardikraval-collab/ibm. All 12 files pushed to main branch. Clean commit with descriptive message. .gitignore properly excludes secrets and generated files.</a:t>
            </a:r>
          </a:p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Every generated plan includes this full medical disclaimer. IBM AI Ethics principles of explainability, fairness, and safety are all implemented through guardrails and transparent design.</a:t>
            </a:r>
          </a:p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Summary: Complete Nutrition Agentic AI application using IBM Granite LLM. 7 SDLC phases, 12 files, 2948 lines. Available on GitHub.</a:t>
            </a:r>
          </a:p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e18df9124e64132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9ba5d00787041d7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3040ea3918842f2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d0dfd599ddf4c30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45a1d54079d4a9c" /></Relationships>
</file>

<file path=ppt/slideLayouts/slideLayout1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/>
    </p:spTree>
  </p:cSld>
</p:sldLayout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ctrTitle"/>
          </p:nvPr>
        </p:nvSpPr>
        <p:spPr>
          <a:xfrm xmlns:a="http://schemas.openxmlformats.org/drawingml/2006/main">
            <a:off x="685800" y="2130425"/>
            <a:ext cx="7772400" cy="14700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Subtitle"/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371600" y="3886200"/>
            <a:ext cx="6400800" cy="1752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Layouts/slideLayout3.xml><?xml version="1.0" encoding="utf-8"?>
<p:sldLayout xmlns:p="http://schemas.openxmlformats.org/presentationml/2006/main" type="objTx">
  <p:cSld name="Title and Content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838200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Content"/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Layouts/slideLayout4.xml><?xml version="1.0" encoding="utf-8"?>
<p:sldLayout xmlns:p="http://schemas.openxmlformats.org/presentationml/2006/main" type="twoColTx">
  <p:cSld name="Two Content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838200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Content Left"/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4" name="Content Right"/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172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Layouts/slideLayout5.xml><?xml version="1.0" encoding="utf-8"?>
<p:sldLayout xmlns:p="http://schemas.openxmlformats.org/presentationml/2006/main" type="titleOnly">
  <p:cSld name="Title Only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838200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Id1" /><Relationship Type="http://schemas.openxmlformats.org/officeDocument/2006/relationships/theme" Target="/ppt/theme/theme1.xml" Id="Rde5eb4ebb7934405" /><Relationship Type="http://schemas.openxmlformats.org/officeDocument/2006/relationships/slideLayout" Target="/ppt/slideLayouts/slideLayout2.xml" Id="rId2" /><Relationship Type="http://schemas.openxmlformats.org/officeDocument/2006/relationships/slideLayout" Target="/ppt/slideLayouts/slideLayout3.xml" Id="rId3" /><Relationship Type="http://schemas.openxmlformats.org/officeDocument/2006/relationships/slideLayout" Target="/ppt/slideLayouts/slideLayout4.xml" Id="rId4" /><Relationship Type="http://schemas.openxmlformats.org/officeDocument/2006/relationships/slideLayout" Target="/ppt/slideLayouts/slideLayout5.xml" Id="rId5" /></Relationships>
</file>

<file path=ppt/slideMasters/slideMaster1.xml><?xml version="1.0" encoding="utf-8"?>
<p:sldMaster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Id1"/>
    <p:sldLayoutId xmlns:r="http://schemas.openxmlformats.org/officeDocument/2006/relationships" id="2147483650" r:id="rId2"/>
    <p:sldLayoutId xmlns:r="http://schemas.openxmlformats.org/officeDocument/2006/relationships" id="2147483651" r:id="rId3"/>
    <p:sldLayoutId xmlns:r="http://schemas.openxmlformats.org/officeDocument/2006/relationships" id="2147483652" r:id="rId4"/>
    <p:sldLayoutId xmlns:r="http://schemas.openxmlformats.org/officeDocument/2006/relationships" id="2147483653" r:id="rId5"/>
  </p:sldLayoutIdLst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9d9fc29acad4305" /><Relationship Type="http://schemas.openxmlformats.org/officeDocument/2006/relationships/notesSlide" Target="/ppt/notesSlides/notesSlide1.xml" Id="R5976bc38ff6d493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5686cef7a544034" /><Relationship Type="http://schemas.openxmlformats.org/officeDocument/2006/relationships/notesSlide" Target="/ppt/notesSlides/notesSlide2.xml" Id="Rd94ea416920f4d20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65682468bcb498f" /><Relationship Type="http://schemas.openxmlformats.org/officeDocument/2006/relationships/notesSlide" Target="/ppt/notesSlides/notesSlide3.xml" Id="Rb9c520bb608a4fa3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ccb1bc109224c5c" /><Relationship Type="http://schemas.openxmlformats.org/officeDocument/2006/relationships/notesSlide" Target="/ppt/notesSlides/notesSlide4.xml" Id="R8bc726e8152c4b1b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f6eae4feedf4e31" /><Relationship Type="http://schemas.openxmlformats.org/officeDocument/2006/relationships/notesSlide" Target="/ppt/notesSlides/notesSlide5.xml" Id="Reb89c9ac1a8e4345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13b82acc1f642d3" /><Relationship Type="http://schemas.openxmlformats.org/officeDocument/2006/relationships/notesSlide" Target="/ppt/notesSlides/notesSlide6.xml" Id="Raa98619a42694127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2a4bb788dae4b86" /><Relationship Type="http://schemas.openxmlformats.org/officeDocument/2006/relationships/notesSlide" Target="/ppt/notesSlides/notesSlide7.xml" Id="Rd2649ff0560a4b74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425cb426b3741e4" /><Relationship Type="http://schemas.openxmlformats.org/officeDocument/2006/relationships/notesSlide" Target="/ppt/notesSlides/notesSlide8.xml" Id="Rb12eb276fb984f95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8ae236b70634c84" /><Relationship Type="http://schemas.openxmlformats.org/officeDocument/2006/relationships/notesSlide" Target="/ppt/notesSlides/notesSlide9.xml" Id="R643061d2fffa4220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cf0b3a212064197" /><Relationship Type="http://schemas.openxmlformats.org/officeDocument/2006/relationships/notesSlide" Target="/ppt/notesSlides/notesSlide10.xml" Id="Rf8ab8a5b9c7d441b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cd66c8023c54091" /><Relationship Type="http://schemas.openxmlformats.org/officeDocument/2006/relationships/notesSlide" Target="/ppt/notesSlides/notesSlide11.xml" Id="Recc7a5a9c9af4a82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98f41cf600b485c" /><Relationship Type="http://schemas.openxmlformats.org/officeDocument/2006/relationships/notesSlide" Target="/ppt/notesSlides/notesSlide12.xml" Id="R9cfc0a7ab4494eda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43830cccf534901" /><Relationship Type="http://schemas.openxmlformats.org/officeDocument/2006/relationships/notesSlide" Target="/ppt/notesSlides/notesSlide13.xml" Id="Rf97fb468acf34f5b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b5eaec19a044221" /><Relationship Type="http://schemas.openxmlformats.org/officeDocument/2006/relationships/notesSlide" Target="/ppt/notesSlides/notesSlide14.xml" Id="Rea12334cca6f4787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b21e3a001574934" /><Relationship Type="http://schemas.openxmlformats.org/officeDocument/2006/relationships/notesSlide" Target="/ppt/notesSlides/notesSlide15.xml" Id="R055730e0497a4174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cca40ac88424efe" /><Relationship Type="http://schemas.openxmlformats.org/officeDocument/2006/relationships/notesSlide" Target="/ppt/notesSlides/notesSlide16.xml" Id="Rd91be3e1611c4869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44b979293354d5d" /><Relationship Type="http://schemas.openxmlformats.org/officeDocument/2006/relationships/notesSlide" Target="/ppt/notesSlides/notesSlide17.xml" Id="R5effa304692e438e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A3D62"/>
        </a:solidFill>
      </p:bgPr>
    </p:bg>
    <p:spTree>
      <p:nvGrpSpPr>
        <p:cNvPr id="1" name=""/>
        <p:cNvGrpSpPr/>
        <p:nvPr/>
      </p:nvGrpSpPr>
      <p:grpSpPr/>
      <p:sp>
        <p:nvSpPr>
          <p:cNvPr id="100000" name="TopAccent"/>
          <p:cNvSpPr txBox="1"/>
          <p:nvPr/>
        </p:nvSpPr>
        <p:spPr>
          <a:xfrm xmlns:a="http://schemas.openxmlformats.org/drawingml/2006/main">
            <a:off x="0" y="0"/>
            <a:ext cx="12193200" cy="14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CC71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>
              <a:solidFill>
                <a:srgbClr val="2ECC71"/>
              </a:solidFill>
            </a:endParaRPr>
          </a:p>
        </p:txBody>
      </p:sp>
      <p:sp>
        <p:nvSpPr>
          <p:cNvPr id="100001" name="Title"/>
          <p:cNvSpPr txBox="1"/>
          <p:nvPr/>
        </p:nvSpPr>
        <p:spPr>
          <a:xfrm xmlns:a="http://schemas.openxmlformats.org/drawingml/2006/main">
            <a:off x="648000" y="1080000"/>
            <a:ext cx="10800000" cy="108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4400" b="1">
                <a:solidFill>
                  <a:srgbClr val="FFFFFF"/>
                </a:solidFill>
                <a:latin typeface="Calibri"/>
                <a:ea typeface="Calibri"/>
              </a:rPr>
              <a:t>Nutrition Agentic AI</a:t>
            </a:r>
          </a:p>
        </p:txBody>
      </p:sp>
      <p:sp>
        <p:nvSpPr>
          <p:cNvPr id="100002" name="Sub"/>
          <p:cNvSpPr txBox="1"/>
          <p:nvPr/>
        </p:nvSpPr>
        <p:spPr>
          <a:xfrm xmlns:a="http://schemas.openxmlformats.org/drawingml/2006/main">
            <a:off x="648000" y="2268000"/>
            <a:ext cx="10800000" cy="54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2200" b="0">
                <a:solidFill>
                  <a:srgbClr val="2ECC71"/>
                </a:solidFill>
                <a:latin typeface="Calibri"/>
                <a:ea typeface="Calibri"/>
              </a:rPr>
              <a:t>Powered by IBM Granite LLM &amp; watsonx.ai</a:t>
            </a:r>
          </a:p>
        </p:txBody>
      </p:sp>
      <p:sp>
        <p:nvSpPr>
          <p:cNvPr id="100003" name="Tagline"/>
          <p:cNvSpPr txBox="1"/>
          <p:nvPr/>
        </p:nvSpPr>
        <p:spPr>
          <a:xfrm xmlns:a="http://schemas.openxmlformats.org/drawingml/2006/main">
            <a:off x="648000" y="2952000"/>
            <a:ext cx="10800000" cy="432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400" b="0">
                <a:solidFill>
                  <a:srgbClr val="BDC3C7"/>
                </a:solidFill>
                <a:latin typeface="Calibri"/>
                <a:ea typeface="Calibri"/>
              </a:rPr>
              <a:t>Personalised 7-Day Nutrition Plans | Ethical AI Guardrails | Medical Awareness | IBM Granite 13B</a:t>
            </a:r>
          </a:p>
        </p:txBody>
      </p:sp>
      <p:sp>
        <p:nvSpPr>
          <p:cNvPr id="100004" name="Footer"/>
          <p:cNvSpPr txBox="1"/>
          <p:nvPr/>
        </p:nvSpPr>
        <p:spPr>
          <a:xfrm xmlns:a="http://schemas.openxmlformats.org/drawingml/2006/main">
            <a:off x="648000" y="5940000"/>
            <a:ext cx="10800000" cy="288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100" b="0">
                <a:solidFill>
                  <a:srgbClr val="7F8C8D"/>
                </a:solidFill>
                <a:latin typeface="Calibri"/>
                <a:ea typeface="Calibri"/>
              </a:rPr>
              <a:t>GitHub: github.com/hardikraval-collab/ibm  |  Python 3.7 + Flask + IBM Granite</a:t>
            </a:r>
          </a:p>
        </p:txBody>
      </p:sp>
    </p:spTree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/>
      <p:sp>
        <p:nvSpPr>
          <p:cNvPr id="100005" name="TopBar"/>
          <p:cNvSpPr txBox="1"/>
          <p:nvPr/>
        </p:nvSpPr>
        <p:spPr>
          <a:xfrm xmlns:a="http://schemas.openxmlformats.org/drawingml/2006/main">
            <a:off x="0" y="0"/>
            <a:ext cx="12193200" cy="50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3D62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>
              <a:solidFill>
                <a:srgbClr val="0A3D62"/>
              </a:solidFill>
            </a:endParaRPr>
          </a:p>
        </p:txBody>
      </p:sp>
      <p:sp>
        <p:nvSpPr>
          <p:cNvPr id="100006" name="SlideTitle"/>
          <p:cNvSpPr txBox="1"/>
          <p:nvPr/>
        </p:nvSpPr>
        <p:spPr>
          <a:xfrm xmlns:a="http://schemas.openxmlformats.org/drawingml/2006/main">
            <a:off x="540000" y="72000"/>
            <a:ext cx="9000000" cy="36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2200" b="1">
                <a:solidFill>
                  <a:srgbClr val="FFFFFF"/>
                </a:solidFill>
                <a:latin typeface="Calibri"/>
                <a:ea typeface="Calibri"/>
              </a:rPr>
              <a:t>Project Overview</a:t>
            </a:r>
          </a:p>
        </p:txBody>
      </p:sp>
      <p:sp>
        <p:nvSpPr>
          <p:cNvPr id="100007" name="SlideNum"/>
          <p:cNvSpPr txBox="1"/>
          <p:nvPr/>
        </p:nvSpPr>
        <p:spPr>
          <a:xfrm xmlns:a="http://schemas.openxmlformats.org/drawingml/2006/main">
            <a:off x="10800000" y="72000"/>
            <a:ext cx="1080000" cy="36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2000" b="1">
                <a:solidFill>
                  <a:srgbClr val="2ECC71"/>
                </a:solidFill>
                <a:latin typeface="Calibri"/>
                <a:ea typeface="Calibri"/>
              </a:rPr>
              <a:t>02</a:t>
            </a:r>
          </a:p>
        </p:txBody>
      </p:sp>
      <p:sp>
        <p:nvSpPr>
          <p:cNvPr id="100008" name="MainTitle"/>
          <p:cNvSpPr txBox="1"/>
          <p:nvPr/>
        </p:nvSpPr>
        <p:spPr>
          <a:xfrm xmlns:a="http://schemas.openxmlformats.org/drawingml/2006/main">
            <a:off x="540000" y="648000"/>
            <a:ext cx="10800000" cy="504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3000" b="1">
                <a:solidFill>
                  <a:srgbClr val="0A3D62"/>
                </a:solidFill>
                <a:latin typeface="Calibri"/>
                <a:ea typeface="Calibri"/>
              </a:rPr>
              <a:t>What is Nutrition Agentic AI?</a:t>
            </a:r>
          </a:p>
        </p:txBody>
      </p:sp>
      <p:sp>
        <p:nvSpPr>
          <p:cNvPr id="100009" name="Desc"/>
          <p:cNvSpPr txBox="1"/>
          <p:nvPr/>
        </p:nvSpPr>
        <p:spPr>
          <a:xfrm xmlns:a="http://schemas.openxmlformats.org/drawingml/2006/main">
            <a:off x="540000" y="1224000"/>
            <a:ext cx="10800000" cy="72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600" b="0">
                <a:solidFill>
                  <a:srgbClr val="2C3E50"/>
                </a:solidFill>
                <a:latin typeface="Calibri"/>
                <a:ea typeface="Calibri"/>
              </a:rPr>
              <a:t>A full-stack Agentic AI web application that generates personalised 7-day nutrition plans using IBM Granite LLM via watsonx.ai, with ethical guardrails, HAM principles, and medical disclaimers built in.</a:t>
            </a:r>
          </a:p>
        </p:txBody>
      </p:sp>
      <p:sp>
        <p:nvSpPr>
          <p:cNvPr id="100010" name="Box1"/>
          <p:cNvSpPr txBox="1"/>
          <p:nvPr/>
        </p:nvSpPr>
        <p:spPr>
          <a:xfrm xmlns:a="http://schemas.openxmlformats.org/drawingml/2006/main">
            <a:off x="540000" y="2088000"/>
            <a:ext cx="3060000" cy="144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3D62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300" b="0">
                <a:solidFill>
                  <a:srgbClr val="FFFFFF"/>
                </a:solidFill>
                <a:latin typeface="Calibri"/>
                <a:ea typeface="Calibri"/>
              </a:rPr>
              <a:t>IBM Granite LLM</a:t>
            </a:r>
          </a:p>
          <a:p xmlns:a="http://schemas.openxmlformats.org/drawingml/2006/main">
            <a:r>
              <a:rPr lang="en-US" sz="1300" b="0">
                <a:solidFill>
                  <a:srgbClr val="FFFFFF"/>
                </a:solidFill>
                <a:latin typeface="Calibri"/>
                <a:ea typeface="Calibri"/>
              </a:rPr>
              <a:t>granite-13b-instruct-v2</a:t>
            </a:r>
          </a:p>
          <a:p xmlns:a="http://schemas.openxmlformats.org/drawingml/2006/main">
            <a:r>
              <a:rPr lang="en-US" sz="1300" b="0">
                <a:solidFill>
                  <a:srgbClr val="FFFFFF"/>
                </a:solidFill>
                <a:latin typeface="Calibri"/>
                <a:ea typeface="Calibri"/>
              </a:rPr>
              <a:t>via watsonx.ai REST API</a:t>
            </a:r>
          </a:p>
        </p:txBody>
      </p:sp>
      <p:sp>
        <p:nvSpPr>
          <p:cNvPr id="100011" name="Box2"/>
          <p:cNvSpPr txBox="1"/>
          <p:nvPr/>
        </p:nvSpPr>
        <p:spPr>
          <a:xfrm xmlns:a="http://schemas.openxmlformats.org/drawingml/2006/main">
            <a:off x="4032000" y="2088000"/>
            <a:ext cx="3060000" cy="144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5276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300" b="0">
                <a:solidFill>
                  <a:srgbClr val="FFFFFF"/>
                </a:solidFill>
                <a:latin typeface="Calibri"/>
                <a:ea typeface="Calibri"/>
              </a:rPr>
              <a:t>Agentic AI Pipeline</a:t>
            </a:r>
          </a:p>
          <a:p xmlns:a="http://schemas.openxmlformats.org/drawingml/2006/main">
            <a:r>
              <a:rPr lang="en-US" sz="1300" b="0">
                <a:solidFill>
                  <a:srgbClr val="FFFFFF"/>
                </a:solidFill>
                <a:latin typeface="Calibri"/>
                <a:ea typeface="Calibri"/>
              </a:rPr>
              <a:t>Plan &gt; Execute &gt; Guard</a:t>
            </a:r>
          </a:p>
          <a:p xmlns:a="http://schemas.openxmlformats.org/drawingml/2006/main">
            <a:r>
              <a:rPr lang="en-US" sz="1300" b="0">
                <a:solidFill>
                  <a:srgbClr val="FFFFFF"/>
                </a:solidFill>
                <a:latin typeface="Calibri"/>
                <a:ea typeface="Calibri"/>
              </a:rPr>
              <a:t>Reflect &gt; Q&amp;A</a:t>
            </a:r>
          </a:p>
        </p:txBody>
      </p:sp>
      <p:sp>
        <p:nvSpPr>
          <p:cNvPr id="100012" name="Box3"/>
          <p:cNvSpPr txBox="1"/>
          <p:nvPr/>
        </p:nvSpPr>
        <p:spPr>
          <a:xfrm xmlns:a="http://schemas.openxmlformats.org/drawingml/2006/main">
            <a:off x="7524000" y="2088000"/>
            <a:ext cx="3060000" cy="144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7A65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300" b="0">
                <a:solidFill>
                  <a:srgbClr val="FFFFFF"/>
                </a:solidFill>
                <a:latin typeface="Calibri"/>
                <a:ea typeface="Calibri"/>
              </a:rPr>
              <a:t>Medical Awareness</a:t>
            </a:r>
          </a:p>
          <a:p xmlns:a="http://schemas.openxmlformats.org/drawingml/2006/main">
            <a:r>
              <a:rPr lang="en-US" sz="1300" b="0">
                <a:solidFill>
                  <a:srgbClr val="FFFFFF"/>
                </a:solidFill>
                <a:latin typeface="Calibri"/>
                <a:ea typeface="Calibri"/>
              </a:rPr>
              <a:t>Diabetes, Hypertension</a:t>
            </a:r>
          </a:p>
          <a:p xmlns:a="http://schemas.openxmlformats.org/drawingml/2006/main">
            <a:r>
              <a:rPr lang="en-US" sz="1300" b="0">
                <a:solidFill>
                  <a:srgbClr val="FFFFFF"/>
                </a:solidFill>
                <a:latin typeface="Calibri"/>
                <a:ea typeface="Calibri"/>
              </a:rPr>
              <a:t>Allergies &amp; More</a:t>
            </a:r>
          </a:p>
        </p:txBody>
      </p:sp>
      <p:sp>
        <p:nvSpPr>
          <p:cNvPr id="100013" name="TechStack"/>
          <p:cNvSpPr txBox="1"/>
          <p:nvPr/>
        </p:nvSpPr>
        <p:spPr>
          <a:xfrm xmlns:a="http://schemas.openxmlformats.org/drawingml/2006/main">
            <a:off x="540000" y="3780000"/>
            <a:ext cx="10800000" cy="324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300" b="0">
                <a:solidFill>
                  <a:srgbClr val="566573"/>
                </a:solidFill>
                <a:latin typeface="Calibri"/>
                <a:ea typeface="Calibri"/>
              </a:rPr>
              <a:t>Tech Stack:  Python 3.7  |  Flask 1.0  |  IBM Watson SDK  |  HTML5 / CSS3 / JavaScript  |  Markdown Export</a:t>
            </a:r>
          </a:p>
        </p:txBody>
      </p:sp>
    </p:spTree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/>
      <p:sp>
        <p:nvSpPr>
          <p:cNvPr id="100014" name="TopBar"/>
          <p:cNvSpPr txBox="1"/>
          <p:nvPr/>
        </p:nvSpPr>
        <p:spPr>
          <a:xfrm xmlns:a="http://schemas.openxmlformats.org/drawingml/2006/main">
            <a:off x="0" y="0"/>
            <a:ext cx="12193200" cy="50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3D62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>
              <a:solidFill>
                <a:srgbClr val="0A3D62"/>
              </a:solidFill>
            </a:endParaRPr>
          </a:p>
        </p:txBody>
      </p:sp>
      <p:sp>
        <p:nvSpPr>
          <p:cNvPr id="100015" name="SlideTitle"/>
          <p:cNvSpPr txBox="1"/>
          <p:nvPr/>
        </p:nvSpPr>
        <p:spPr>
          <a:xfrm xmlns:a="http://schemas.openxmlformats.org/drawingml/2006/main">
            <a:off x="540000" y="72000"/>
            <a:ext cx="9000000" cy="36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2200" b="1">
                <a:solidFill>
                  <a:srgbClr val="FFFFFF"/>
                </a:solidFill>
                <a:latin typeface="Calibri"/>
                <a:ea typeface="Calibri"/>
              </a:rPr>
              <a:t>Agentic AI SDLC Phases</a:t>
            </a:r>
          </a:p>
        </p:txBody>
      </p:sp>
      <p:sp>
        <p:nvSpPr>
          <p:cNvPr id="100016" name="SlideNum"/>
          <p:cNvSpPr txBox="1"/>
          <p:nvPr/>
        </p:nvSpPr>
        <p:spPr>
          <a:xfrm xmlns:a="http://schemas.openxmlformats.org/drawingml/2006/main">
            <a:off x="10800000" y="72000"/>
            <a:ext cx="1080000" cy="36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2000" b="1">
                <a:solidFill>
                  <a:srgbClr val="2ECC71"/>
                </a:solidFill>
                <a:latin typeface="Calibri"/>
                <a:ea typeface="Calibri"/>
              </a:rPr>
              <a:t>03</a:t>
            </a:r>
          </a:p>
        </p:txBody>
      </p:sp>
      <p:sp>
        <p:nvSpPr>
          <p:cNvPr id="100017" name="Ph1"/>
          <p:cNvSpPr txBox="1"/>
          <p:nvPr/>
        </p:nvSpPr>
        <p:spPr>
          <a:xfrm xmlns:a="http://schemas.openxmlformats.org/drawingml/2006/main">
            <a:off x="540000" y="648000"/>
            <a:ext cx="10800000" cy="50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5276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300" b="0">
                <a:solidFill>
                  <a:srgbClr val="FFFFFF"/>
                </a:solidFill>
                <a:latin typeface="Calibri"/>
                <a:ea typeface="Calibri"/>
              </a:rPr>
              <a:t>Phase 1 — Requirements Analysis</a:t>
            </a:r>
          </a:p>
          <a:p xmlns:a="http://schemas.openxmlformats.org/drawingml/2006/main">
            <a:r>
              <a:rPr lang="en-US" sz="1300" b="0">
                <a:solidFill>
                  <a:srgbClr val="FFFFFF"/>
                </a:solidFill>
                <a:latin typeface="Calibri"/>
                <a:ea typeface="Calibri"/>
              </a:rPr>
              <a:t>User profile collection: name, age, diet, medical history, city, country, goals, allergies</a:t>
            </a:r>
          </a:p>
        </p:txBody>
      </p:sp>
      <p:sp>
        <p:nvSpPr>
          <p:cNvPr id="100018" name="Ph2"/>
          <p:cNvSpPr txBox="1"/>
          <p:nvPr/>
        </p:nvSpPr>
        <p:spPr>
          <a:xfrm xmlns:a="http://schemas.openxmlformats.org/drawingml/2006/main">
            <a:off x="540000" y="1260000"/>
            <a:ext cx="10800000" cy="50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7A65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300" b="0">
                <a:solidFill>
                  <a:srgbClr val="FFFFFF"/>
                </a:solidFill>
                <a:latin typeface="Calibri"/>
                <a:ea typeface="Calibri"/>
              </a:rPr>
              <a:t>Phase 2 — Agent Design</a:t>
            </a:r>
          </a:p>
          <a:p xmlns:a="http://schemas.openxmlformats.org/drawingml/2006/main">
            <a:r>
              <a:rPr lang="en-US" sz="1300" b="0">
                <a:solidFill>
                  <a:srgbClr val="FFFFFF"/>
                </a:solidFill>
                <a:latin typeface="Calibri"/>
                <a:ea typeface="Calibri"/>
              </a:rPr>
              <a:t>Multi-agent architecture: Planner &gt; Executor &gt; Guardrail &gt; Reflector &gt; Q&amp;A Agent</a:t>
            </a:r>
          </a:p>
        </p:txBody>
      </p:sp>
      <p:sp>
        <p:nvSpPr>
          <p:cNvPr id="100019" name="Ph3"/>
          <p:cNvSpPr txBox="1"/>
          <p:nvPr/>
        </p:nvSpPr>
        <p:spPr>
          <a:xfrm xmlns:a="http://schemas.openxmlformats.org/drawingml/2006/main">
            <a:off x="540000" y="1872000"/>
            <a:ext cx="10800000" cy="50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84212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300" b="0">
                <a:solidFill>
                  <a:srgbClr val="FFFFFF"/>
                </a:solidFill>
                <a:latin typeface="Calibri"/>
                <a:ea typeface="Calibri"/>
              </a:rPr>
              <a:t>Phase 3 — Prompt Engineering</a:t>
            </a:r>
          </a:p>
          <a:p xmlns:a="http://schemas.openxmlformats.org/drawingml/2006/main">
            <a:r>
              <a:rPr lang="en-US" sz="1300" b="0">
                <a:solidFill>
                  <a:srgbClr val="FFFFFF"/>
                </a:solidFill>
                <a:latin typeface="Calibri"/>
                <a:ea typeface="Calibri"/>
              </a:rPr>
              <a:t>Structured, ethics-aware prompts with user context, dietary rules, and medical constraints</a:t>
            </a:r>
          </a:p>
        </p:txBody>
      </p:sp>
      <p:sp>
        <p:nvSpPr>
          <p:cNvPr id="100020" name="Ph4"/>
          <p:cNvSpPr txBox="1"/>
          <p:nvPr/>
        </p:nvSpPr>
        <p:spPr>
          <a:xfrm xmlns:a="http://schemas.openxmlformats.org/drawingml/2006/main">
            <a:off x="540000" y="2484000"/>
            <a:ext cx="10800000" cy="50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12E5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300" b="0">
                <a:solidFill>
                  <a:srgbClr val="FFFFFF"/>
                </a:solidFill>
                <a:latin typeface="Calibri"/>
                <a:ea typeface="Calibri"/>
              </a:rPr>
              <a:t>Phase 4 — Tool Integration</a:t>
            </a:r>
          </a:p>
          <a:p xmlns:a="http://schemas.openxmlformats.org/drawingml/2006/main">
            <a:r>
              <a:rPr lang="en-US" sz="1300" b="0">
                <a:solidFill>
                  <a:srgbClr val="FFFFFF"/>
                </a:solidFill>
                <a:latin typeface="Calibri"/>
                <a:ea typeface="Calibri"/>
              </a:rPr>
              <a:t>IBM Granite via watsonx.ai REST API + IAM token auth + intelligent fallback engine</a:t>
            </a:r>
          </a:p>
        </p:txBody>
      </p:sp>
      <p:sp>
        <p:nvSpPr>
          <p:cNvPr id="100021" name="Ph5"/>
          <p:cNvSpPr txBox="1"/>
          <p:nvPr/>
        </p:nvSpPr>
        <p:spPr>
          <a:xfrm xmlns:a="http://schemas.openxmlformats.org/drawingml/2006/main">
            <a:off x="540000" y="3096000"/>
            <a:ext cx="10800000" cy="50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22B21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300" b="0">
                <a:solidFill>
                  <a:srgbClr val="FFFFFF"/>
                </a:solidFill>
                <a:latin typeface="Calibri"/>
                <a:ea typeface="Calibri"/>
              </a:rPr>
              <a:t>Phase 5 — Guardrails &amp; Ethics (HAM)</a:t>
            </a:r>
          </a:p>
          <a:p xmlns:a="http://schemas.openxmlformats.org/drawingml/2006/main">
            <a:r>
              <a:rPr lang="en-US" sz="1300" b="0">
                <a:solidFill>
                  <a:srgbClr val="FFFFFF"/>
                </a:solidFill>
                <a:latin typeface="Calibri"/>
                <a:ea typeface="Calibri"/>
              </a:rPr>
              <a:t>Harmful keyword filtering, medical boundary enforcement, HAM principles applied</a:t>
            </a:r>
          </a:p>
        </p:txBody>
      </p:sp>
      <p:sp>
        <p:nvSpPr>
          <p:cNvPr id="100022" name="Ph6"/>
          <p:cNvSpPr txBox="1"/>
          <p:nvPr/>
        </p:nvSpPr>
        <p:spPr>
          <a:xfrm xmlns:a="http://schemas.openxmlformats.org/drawingml/2006/main">
            <a:off x="540000" y="3708000"/>
            <a:ext cx="5256000" cy="50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3D62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300" b="0">
                <a:solidFill>
                  <a:srgbClr val="FFFFFF"/>
                </a:solidFill>
                <a:latin typeface="Calibri"/>
                <a:ea typeface="Calibri"/>
              </a:rPr>
              <a:t>Phase 6 — Plan Persistence</a:t>
            </a:r>
          </a:p>
          <a:p xmlns:a="http://schemas.openxmlformats.org/drawingml/2006/main">
            <a:r>
              <a:rPr lang="en-US" sz="1300" b="0">
                <a:solidFill>
                  <a:srgbClr val="FFFFFF"/>
                </a:solidFill>
                <a:latin typeface="Calibri"/>
                <a:ea typeface="Calibri"/>
              </a:rPr>
              <a:t>Markdown file generation with YAML front-matter, downloadable .md output</a:t>
            </a:r>
          </a:p>
        </p:txBody>
      </p:sp>
      <p:sp>
        <p:nvSpPr>
          <p:cNvPr id="100023" name="Ph7"/>
          <p:cNvSpPr txBox="1"/>
          <p:nvPr/>
        </p:nvSpPr>
        <p:spPr>
          <a:xfrm xmlns:a="http://schemas.openxmlformats.org/drawingml/2006/main">
            <a:off x="5904000" y="3708000"/>
            <a:ext cx="5436000" cy="50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6655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300" b="0">
                <a:solidFill>
                  <a:srgbClr val="FFFFFF"/>
                </a:solidFill>
                <a:latin typeface="Calibri"/>
                <a:ea typeface="Calibri"/>
              </a:rPr>
              <a:t>Phase 7 — Deployment</a:t>
            </a:r>
          </a:p>
          <a:p xmlns:a="http://schemas.openxmlformats.org/drawingml/2006/main">
            <a:r>
              <a:rPr lang="en-US" sz="1300" b="0">
                <a:solidFill>
                  <a:srgbClr val="FFFFFF"/>
                </a:solidFill>
                <a:latin typeface="Calibri"/>
                <a:ea typeface="Calibri"/>
              </a:rPr>
              <a:t>Flask web server, REST API, HTML/CSS/JS frontend, Windows .bat launcher</a:t>
            </a:r>
          </a:p>
        </p:txBody>
      </p:sp>
    </p:spTree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/>
      <p:sp>
        <p:nvSpPr>
          <p:cNvPr id="100024" name="TopBar"/>
          <p:cNvSpPr txBox="1"/>
          <p:nvPr/>
        </p:nvSpPr>
        <p:spPr>
          <a:xfrm xmlns:a="http://schemas.openxmlformats.org/drawingml/2006/main">
            <a:off x="0" y="0"/>
            <a:ext cx="12193200" cy="50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3D62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>
              <a:solidFill>
                <a:srgbClr val="0A3D62"/>
              </a:solidFill>
            </a:endParaRPr>
          </a:p>
        </p:txBody>
      </p:sp>
      <p:sp>
        <p:nvSpPr>
          <p:cNvPr id="100025" name="SlideTitle"/>
          <p:cNvSpPr txBox="1"/>
          <p:nvPr/>
        </p:nvSpPr>
        <p:spPr>
          <a:xfrm xmlns:a="http://schemas.openxmlformats.org/drawingml/2006/main">
            <a:off x="540000" y="72000"/>
            <a:ext cx="9000000" cy="36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2200" b="1">
                <a:solidFill>
                  <a:srgbClr val="FFFFFF"/>
                </a:solidFill>
                <a:latin typeface="Calibri"/>
                <a:ea typeface="Calibri"/>
              </a:rPr>
              <a:t>System Architecture</a:t>
            </a:r>
          </a:p>
        </p:txBody>
      </p:sp>
      <p:sp>
        <p:nvSpPr>
          <p:cNvPr id="100026" name="SlideNum"/>
          <p:cNvSpPr txBox="1"/>
          <p:nvPr/>
        </p:nvSpPr>
        <p:spPr>
          <a:xfrm xmlns:a="http://schemas.openxmlformats.org/drawingml/2006/main">
            <a:off x="10800000" y="72000"/>
            <a:ext cx="1080000" cy="36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2000" b="1">
                <a:solidFill>
                  <a:srgbClr val="2ECC71"/>
                </a:solidFill>
                <a:latin typeface="Calibri"/>
                <a:ea typeface="Calibri"/>
              </a:rPr>
              <a:t>04</a:t>
            </a:r>
          </a:p>
        </p:txBody>
      </p:sp>
      <p:sp>
        <p:nvSpPr>
          <p:cNvPr id="100027" name="Browser"/>
          <p:cNvSpPr txBox="1"/>
          <p:nvPr/>
        </p:nvSpPr>
        <p:spPr>
          <a:xfrm xmlns:a="http://schemas.openxmlformats.org/drawingml/2006/main">
            <a:off x="540000" y="792000"/>
            <a:ext cx="2160000" cy="126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5276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300" b="0">
                <a:solidFill>
                  <a:srgbClr val="FFFFFF"/>
                </a:solidFill>
                <a:latin typeface="Calibri"/>
                <a:ea typeface="Calibri"/>
              </a:rPr>
              <a:t>Browser</a:t>
            </a:r>
          </a:p>
          <a:p xmlns:a="http://schemas.openxmlformats.org/drawingml/2006/main">
            <a:r>
              <a:rPr lang="en-US" sz="1300" b="0">
                <a:solidFill>
                  <a:srgbClr val="FFFFFF"/>
                </a:solidFill>
                <a:latin typeface="Calibri"/>
                <a:ea typeface="Calibri"/>
              </a:rPr>
              <a:t>(HTML / CSS / JS)</a:t>
            </a:r>
          </a:p>
          <a:p xmlns:a="http://schemas.openxmlformats.org/drawingml/2006/main">
            <a:r>
              <a:rPr lang="en-US" sz="1300" b="0">
                <a:solidFill>
                  <a:srgbClr val="FFFFFF"/>
                </a:solidFill>
                <a:latin typeface="Calibri"/>
                <a:ea typeface="Calibri"/>
              </a:rPr>
              <a:t>User Interface</a:t>
            </a:r>
          </a:p>
        </p:txBody>
      </p:sp>
      <p:sp>
        <p:nvSpPr>
          <p:cNvPr id="100028" name="Arrow1"/>
          <p:cNvSpPr txBox="1"/>
          <p:nvPr/>
        </p:nvSpPr>
        <p:spPr>
          <a:xfrm xmlns:a="http://schemas.openxmlformats.org/drawingml/2006/main">
            <a:off x="2880000" y="1296000"/>
            <a:ext cx="1080000" cy="252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100" b="0">
                <a:solidFill>
                  <a:srgbClr val="0A3D62"/>
                </a:solidFill>
                <a:latin typeface="Calibri"/>
                <a:ea typeface="Calibri"/>
              </a:rPr>
              <a:t>HTTP REST</a:t>
            </a:r>
          </a:p>
        </p:txBody>
      </p:sp>
      <p:sp>
        <p:nvSpPr>
          <p:cNvPr id="100029" name="Flask"/>
          <p:cNvSpPr txBox="1"/>
          <p:nvPr/>
        </p:nvSpPr>
        <p:spPr>
          <a:xfrm xmlns:a="http://schemas.openxmlformats.org/drawingml/2006/main">
            <a:off x="4140000" y="792000"/>
            <a:ext cx="2160000" cy="126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7A65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300" b="0">
                <a:solidFill>
                  <a:srgbClr val="FFFFFF"/>
                </a:solidFill>
                <a:latin typeface="Calibri"/>
                <a:ea typeface="Calibri"/>
              </a:rPr>
              <a:t>Flask Server</a:t>
            </a:r>
          </a:p>
          <a:p xmlns:a="http://schemas.openxmlformats.org/drawingml/2006/main">
            <a:r>
              <a:rPr lang="en-US" sz="1300" b="0">
                <a:solidFill>
                  <a:srgbClr val="FFFFFF"/>
                </a:solidFill>
                <a:latin typeface="Calibri"/>
                <a:ea typeface="Calibri"/>
              </a:rPr>
              <a:t>app.py</a:t>
            </a:r>
          </a:p>
          <a:p xmlns:a="http://schemas.openxmlformats.org/drawingml/2006/main">
            <a:r>
              <a:rPr lang="en-US" sz="1300" b="0">
                <a:solidFill>
                  <a:srgbClr val="FFFFFF"/>
                </a:solidFill>
                <a:latin typeface="Calibri"/>
                <a:ea typeface="Calibri"/>
              </a:rPr>
              <a:t>6 REST Endpoints</a:t>
            </a:r>
          </a:p>
        </p:txBody>
      </p:sp>
      <p:sp>
        <p:nvSpPr>
          <p:cNvPr id="100030" name="Arrow2"/>
          <p:cNvSpPr txBox="1"/>
          <p:nvPr/>
        </p:nvSpPr>
        <p:spPr>
          <a:xfrm xmlns:a="http://schemas.openxmlformats.org/drawingml/2006/main">
            <a:off x="6480000" y="1296000"/>
            <a:ext cx="900000" cy="252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100" b="0">
                <a:solidFill>
                  <a:srgbClr val="0A3D62"/>
                </a:solidFill>
                <a:latin typeface="Calibri"/>
                <a:ea typeface="Calibri"/>
              </a:rPr>
              <a:t>calls</a:t>
            </a:r>
          </a:p>
        </p:txBody>
      </p:sp>
      <p:sp>
        <p:nvSpPr>
          <p:cNvPr id="100031" name="Agent"/>
          <p:cNvSpPr txBox="1"/>
          <p:nvPr/>
        </p:nvSpPr>
        <p:spPr>
          <a:xfrm xmlns:a="http://schemas.openxmlformats.org/drawingml/2006/main">
            <a:off x="7560000" y="792000"/>
            <a:ext cx="2520000" cy="126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84212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300" b="0">
                <a:solidFill>
                  <a:srgbClr val="FFFFFF"/>
                </a:solidFill>
                <a:latin typeface="Calibri"/>
                <a:ea typeface="Calibri"/>
              </a:rPr>
              <a:t>Agentic Pipeline</a:t>
            </a:r>
          </a:p>
          <a:p xmlns:a="http://schemas.openxmlformats.org/drawingml/2006/main">
            <a:r>
              <a:rPr lang="en-US" sz="1300" b="0">
                <a:solidFill>
                  <a:srgbClr val="FFFFFF"/>
                </a:solidFill>
                <a:latin typeface="Calibri"/>
                <a:ea typeface="Calibri"/>
              </a:rPr>
              <a:t>granite_agent.py</a:t>
            </a:r>
          </a:p>
          <a:p xmlns:a="http://schemas.openxmlformats.org/drawingml/2006/main">
            <a:r>
              <a:rPr lang="en-US" sz="1300" b="0">
                <a:solidFill>
                  <a:srgbClr val="FFFFFF"/>
                </a:solidFill>
                <a:latin typeface="Calibri"/>
                <a:ea typeface="Calibri"/>
              </a:rPr>
              <a:t>Plan&gt;Execute&gt;Guard&gt;Reflect</a:t>
            </a:r>
          </a:p>
        </p:txBody>
      </p:sp>
      <p:sp>
        <p:nvSpPr>
          <p:cNvPr id="100032" name="Granite"/>
          <p:cNvSpPr txBox="1"/>
          <p:nvPr/>
        </p:nvSpPr>
        <p:spPr>
          <a:xfrm xmlns:a="http://schemas.openxmlformats.org/drawingml/2006/main">
            <a:off x="540000" y="2592000"/>
            <a:ext cx="2880000" cy="108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12E5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300" b="0">
                <a:solidFill>
                  <a:srgbClr val="FFFFFF"/>
                </a:solidFill>
                <a:latin typeface="Calibri"/>
                <a:ea typeface="Calibri"/>
              </a:rPr>
              <a:t>IBM Granite</a:t>
            </a:r>
          </a:p>
          <a:p xmlns:a="http://schemas.openxmlformats.org/drawingml/2006/main">
            <a:r>
              <a:rPr lang="en-US" sz="1300" b="0">
                <a:solidFill>
                  <a:srgbClr val="FFFFFF"/>
                </a:solidFill>
                <a:latin typeface="Calibri"/>
                <a:ea typeface="Calibri"/>
              </a:rPr>
              <a:t>granite-13b-instruct-v2</a:t>
            </a:r>
          </a:p>
          <a:p xmlns:a="http://schemas.openxmlformats.org/drawingml/2006/main">
            <a:r>
              <a:rPr lang="en-US" sz="1300" b="0">
                <a:solidFill>
                  <a:srgbClr val="FFFFFF"/>
                </a:solidFill>
                <a:latin typeface="Calibri"/>
                <a:ea typeface="Calibri"/>
              </a:rPr>
              <a:t>watsonx.ai</a:t>
            </a:r>
          </a:p>
        </p:txBody>
      </p:sp>
      <p:sp>
        <p:nvSpPr>
          <p:cNvPr id="100033" name="Plans"/>
          <p:cNvSpPr txBox="1"/>
          <p:nvPr/>
        </p:nvSpPr>
        <p:spPr>
          <a:xfrm xmlns:a="http://schemas.openxmlformats.org/drawingml/2006/main">
            <a:off x="4320000" y="2592000"/>
            <a:ext cx="2880000" cy="108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3D62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300" b="0">
                <a:solidFill>
                  <a:srgbClr val="FFFFFF"/>
                </a:solidFill>
                <a:latin typeface="Calibri"/>
                <a:ea typeface="Calibri"/>
              </a:rPr>
              <a:t>Nutrition Plans</a:t>
            </a:r>
          </a:p>
          <a:p xmlns:a="http://schemas.openxmlformats.org/drawingml/2006/main">
            <a:r>
              <a:rPr lang="en-US" sz="1300" b="0">
                <a:solidFill>
                  <a:srgbClr val="FFFFFF"/>
                </a:solidFill>
                <a:latin typeface="Calibri"/>
                <a:ea typeface="Calibri"/>
              </a:rPr>
              <a:t>.md files</a:t>
            </a:r>
          </a:p>
          <a:p xmlns:a="http://schemas.openxmlformats.org/drawingml/2006/main">
            <a:r>
              <a:rPr lang="en-US" sz="1300" b="0">
                <a:solidFill>
                  <a:srgbClr val="FFFFFF"/>
                </a:solidFill>
                <a:latin typeface="Calibri"/>
                <a:ea typeface="Calibri"/>
              </a:rPr>
              <a:t>YAML + Markdown</a:t>
            </a:r>
          </a:p>
        </p:txBody>
      </p:sp>
      <p:sp>
        <p:nvSpPr>
          <p:cNvPr id="100034" name="QA"/>
          <p:cNvSpPr txBox="1"/>
          <p:nvPr/>
        </p:nvSpPr>
        <p:spPr>
          <a:xfrm xmlns:a="http://schemas.openxmlformats.org/drawingml/2006/main">
            <a:off x="8100000" y="2592000"/>
            <a:ext cx="2520000" cy="108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7A65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300" b="0">
                <a:solidFill>
                  <a:srgbClr val="FFFFFF"/>
                </a:solidFill>
                <a:latin typeface="Calibri"/>
                <a:ea typeface="Calibri"/>
              </a:rPr>
              <a:t>Q&amp;A Agent</a:t>
            </a:r>
          </a:p>
          <a:p xmlns:a="http://schemas.openxmlformats.org/drawingml/2006/main">
            <a:r>
              <a:rPr lang="en-US" sz="1300" b="0">
                <a:solidFill>
                  <a:srgbClr val="FFFFFF"/>
                </a:solidFill>
                <a:latin typeface="Calibri"/>
                <a:ea typeface="Calibri"/>
              </a:rPr>
              <a:t>Context-aware</a:t>
            </a:r>
          </a:p>
          <a:p xmlns:a="http://schemas.openxmlformats.org/drawingml/2006/main">
            <a:r>
              <a:rPr lang="en-US" sz="1300" b="0">
                <a:solidFill>
                  <a:srgbClr val="FFFFFF"/>
                </a:solidFill>
                <a:latin typeface="Calibri"/>
                <a:ea typeface="Calibri"/>
              </a:rPr>
              <a:t>Nutrition Q&amp;A</a:t>
            </a:r>
          </a:p>
        </p:txBody>
      </p:sp>
      <p:sp>
        <p:nvSpPr>
          <p:cNvPr id="100035" name="GuardNote"/>
          <p:cNvSpPr txBox="1"/>
          <p:nvPr/>
        </p:nvSpPr>
        <p:spPr>
          <a:xfrm xmlns:a="http://schemas.openxmlformats.org/drawingml/2006/main">
            <a:off x="540000" y="3960000"/>
            <a:ext cx="10800000" cy="3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22B21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300" b="0">
                <a:solidFill>
                  <a:srgbClr val="FFFFFF"/>
                </a:solidFill>
                <a:latin typeface="Calibri"/>
                <a:ea typeface="Calibri"/>
              </a:rPr>
              <a:t>Guardrail Layer: Harmful keyword filtering on ALL inputs and outputs before processing</a:t>
            </a:r>
          </a:p>
        </p:txBody>
      </p:sp>
    </p:spTree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/>
      <p:sp>
        <p:nvSpPr>
          <p:cNvPr id="100036" name="TopBar"/>
          <p:cNvSpPr txBox="1"/>
          <p:nvPr/>
        </p:nvSpPr>
        <p:spPr>
          <a:xfrm xmlns:a="http://schemas.openxmlformats.org/drawingml/2006/main">
            <a:off x="0" y="0"/>
            <a:ext cx="12193200" cy="50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3D62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>
              <a:solidFill>
                <a:srgbClr val="0A3D62"/>
              </a:solidFill>
            </a:endParaRPr>
          </a:p>
        </p:txBody>
      </p:sp>
      <p:sp>
        <p:nvSpPr>
          <p:cNvPr id="100037" name="SlideTitle"/>
          <p:cNvSpPr txBox="1"/>
          <p:nvPr/>
        </p:nvSpPr>
        <p:spPr>
          <a:xfrm xmlns:a="http://schemas.openxmlformats.org/drawingml/2006/main">
            <a:off x="540000" y="72000"/>
            <a:ext cx="9000000" cy="36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2200" b="1">
                <a:solidFill>
                  <a:srgbClr val="FFFFFF"/>
                </a:solidFill>
                <a:latin typeface="Calibri"/>
                <a:ea typeface="Calibri"/>
              </a:rPr>
              <a:t>IBM Granite LLM Integration</a:t>
            </a:r>
          </a:p>
        </p:txBody>
      </p:sp>
      <p:sp>
        <p:nvSpPr>
          <p:cNvPr id="100038" name="SlideNum"/>
          <p:cNvSpPr txBox="1"/>
          <p:nvPr/>
        </p:nvSpPr>
        <p:spPr>
          <a:xfrm xmlns:a="http://schemas.openxmlformats.org/drawingml/2006/main">
            <a:off x="10800000" y="72000"/>
            <a:ext cx="1080000" cy="36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2000" b="1">
                <a:solidFill>
                  <a:srgbClr val="2ECC71"/>
                </a:solidFill>
                <a:latin typeface="Calibri"/>
                <a:ea typeface="Calibri"/>
              </a:rPr>
              <a:t>05</a:t>
            </a:r>
          </a:p>
        </p:txBody>
      </p:sp>
      <p:sp>
        <p:nvSpPr>
          <p:cNvPr id="100039" name="ModelBox"/>
          <p:cNvSpPr txBox="1"/>
          <p:nvPr/>
        </p:nvSpPr>
        <p:spPr>
          <a:xfrm xmlns:a="http://schemas.openxmlformats.org/drawingml/2006/main">
            <a:off x="540000" y="684000"/>
            <a:ext cx="5040000" cy="100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3D62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400" b="0">
                <a:solidFill>
                  <a:srgbClr val="FFFFFF"/>
                </a:solidFill>
                <a:latin typeface="Calibri"/>
                <a:ea typeface="Calibri"/>
              </a:rPr>
              <a:t>Model: ibm/granite-13b-instruct-v2</a:t>
            </a:r>
          </a:p>
          <a:p xmlns:a="http://schemas.openxmlformats.org/drawingml/2006/main">
            <a:r>
              <a:rPr lang="en-US" sz="1400" b="0">
                <a:solidFill>
                  <a:srgbClr val="FFFFFF"/>
                </a:solidFill>
                <a:latin typeface="Calibri"/>
                <a:ea typeface="Calibri"/>
              </a:rPr>
              <a:t>Platform: IBM watsonx.ai</a:t>
            </a:r>
          </a:p>
          <a:p xmlns:a="http://schemas.openxmlformats.org/drawingml/2006/main">
            <a:r>
              <a:rPr lang="en-US" sz="1400" b="0">
                <a:solidFill>
                  <a:srgbClr val="FFFFFF"/>
                </a:solidFill>
                <a:latin typeface="Calibri"/>
                <a:ea typeface="Calibri"/>
              </a:rPr>
              <a:t>Endpoint: us-south.ml.cloud.ibm.com</a:t>
            </a:r>
          </a:p>
        </p:txBody>
      </p:sp>
      <p:sp>
        <p:nvSpPr>
          <p:cNvPr id="100040" name="ParamsBox"/>
          <p:cNvSpPr txBox="1"/>
          <p:nvPr/>
        </p:nvSpPr>
        <p:spPr>
          <a:xfrm xmlns:a="http://schemas.openxmlformats.org/drawingml/2006/main">
            <a:off x="5940000" y="684000"/>
            <a:ext cx="5040000" cy="100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7A65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300" b="0">
                <a:solidFill>
                  <a:srgbClr val="FFFFFF"/>
                </a:solidFill>
                <a:latin typeface="Calibri"/>
                <a:ea typeface="Calibri"/>
              </a:rPr>
              <a:t>Parameters</a:t>
            </a:r>
          </a:p>
          <a:p xmlns:a="http://schemas.openxmlformats.org/drawingml/2006/main">
            <a:r>
              <a:rPr lang="en-US" sz="1300" b="0">
                <a:solidFill>
                  <a:srgbClr val="FFFFFF"/>
                </a:solidFill>
                <a:latin typeface="Calibri"/>
                <a:ea typeface="Calibri"/>
              </a:rPr>
              <a:t>Decoding: greedy</a:t>
            </a:r>
          </a:p>
          <a:p xmlns:a="http://schemas.openxmlformats.org/drawingml/2006/main">
            <a:r>
              <a:rPr lang="en-US" sz="1300" b="0">
                <a:solidFill>
                  <a:srgbClr val="FFFFFF"/>
                </a:solidFill>
                <a:latin typeface="Calibri"/>
                <a:ea typeface="Calibri"/>
              </a:rPr>
              <a:t>Max tokens: 2,000</a:t>
            </a:r>
          </a:p>
          <a:p xmlns:a="http://schemas.openxmlformats.org/drawingml/2006/main">
            <a:r>
              <a:rPr lang="en-US" sz="1300" b="0">
                <a:solidFill>
                  <a:srgbClr val="FFFFFF"/>
                </a:solidFill>
                <a:latin typeface="Calibri"/>
                <a:ea typeface="Calibri"/>
              </a:rPr>
              <a:t>Min tokens: 100</a:t>
            </a:r>
          </a:p>
          <a:p xmlns:a="http://schemas.openxmlformats.org/drawingml/2006/main">
            <a:r>
              <a:rPr lang="en-US" sz="1300" b="0">
                <a:solidFill>
                  <a:srgbClr val="FFFFFF"/>
                </a:solidFill>
                <a:latin typeface="Calibri"/>
                <a:ea typeface="Calibri"/>
              </a:rPr>
              <a:t>Repetition penalty: 1.1</a:t>
            </a:r>
          </a:p>
          <a:p xmlns:a="http://schemas.openxmlformats.org/drawingml/2006/main">
            <a:r>
              <a:rPr lang="en-US" sz="1300" b="0">
                <a:solidFill>
                  <a:srgbClr val="FFFFFF"/>
                </a:solidFill>
                <a:latin typeface="Calibri"/>
                <a:ea typeface="Calibri"/>
              </a:rPr>
              <a:t>Temperature: 0.7</a:t>
            </a:r>
          </a:p>
        </p:txBody>
      </p:sp>
      <p:sp>
        <p:nvSpPr>
          <p:cNvPr id="100041" name="FlowTitle"/>
          <p:cNvSpPr txBox="1"/>
          <p:nvPr/>
        </p:nvSpPr>
        <p:spPr>
          <a:xfrm xmlns:a="http://schemas.openxmlformats.org/drawingml/2006/main">
            <a:off x="540000" y="1872000"/>
            <a:ext cx="10800000" cy="252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600" b="1">
                <a:solidFill>
                  <a:srgbClr val="0A3D62"/>
                </a:solidFill>
                <a:latin typeface="Calibri"/>
                <a:ea typeface="Calibri"/>
              </a:rPr>
              <a:t>API Call Flow</a:t>
            </a:r>
          </a:p>
        </p:txBody>
      </p:sp>
      <p:sp>
        <p:nvSpPr>
          <p:cNvPr id="100042" name="Step1"/>
          <p:cNvSpPr txBox="1"/>
          <p:nvPr/>
        </p:nvSpPr>
        <p:spPr>
          <a:xfrm xmlns:a="http://schemas.openxmlformats.org/drawingml/2006/main">
            <a:off x="540000" y="2232000"/>
            <a:ext cx="1980000" cy="79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5276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200" b="0">
                <a:solidFill>
                  <a:srgbClr val="FFFFFF"/>
                </a:solidFill>
                <a:latin typeface="Calibri"/>
                <a:ea typeface="Calibri"/>
              </a:rPr>
              <a:t>1. Validate API Key</a:t>
            </a:r>
          </a:p>
          <a:p xmlns:a="http://schemas.openxmlformats.org/drawingml/2006/main">
            <a:r>
              <a:rPr lang="en-US" sz="1200" b="0">
                <a:solidFill>
                  <a:srgbClr val="FFFFFF"/>
                </a:solidFill>
                <a:latin typeface="Calibri"/>
                <a:ea typeface="Calibri"/>
              </a:rPr>
              <a:t>(skip if placeholder)</a:t>
            </a:r>
          </a:p>
        </p:txBody>
      </p:sp>
      <p:sp>
        <p:nvSpPr>
          <p:cNvPr id="100043" name="Step2"/>
          <p:cNvSpPr txBox="1"/>
          <p:nvPr/>
        </p:nvSpPr>
        <p:spPr>
          <a:xfrm xmlns:a="http://schemas.openxmlformats.org/drawingml/2006/main">
            <a:off x="2808000" y="2232000"/>
            <a:ext cx="1980000" cy="79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5276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200" b="0">
                <a:solidFill>
                  <a:srgbClr val="FFFFFF"/>
                </a:solidFill>
                <a:latin typeface="Calibri"/>
                <a:ea typeface="Calibri"/>
              </a:rPr>
              <a:t>2. Get IAM Token</a:t>
            </a:r>
          </a:p>
          <a:p xmlns:a="http://schemas.openxmlformats.org/drawingml/2006/main">
            <a:r>
              <a:rPr lang="en-US" sz="1200" b="0">
                <a:solidFill>
                  <a:srgbClr val="FFFFFF"/>
                </a:solidFill>
                <a:latin typeface="Calibri"/>
                <a:ea typeface="Calibri"/>
              </a:rPr>
              <a:t>POST iam.cloud.ibm.com</a:t>
            </a:r>
          </a:p>
          <a:p xmlns:a="http://schemas.openxmlformats.org/drawingml/2006/main">
            <a:r>
              <a:rPr lang="en-US" sz="1200" b="0">
                <a:solidFill>
                  <a:srgbClr val="FFFFFF"/>
                </a:solidFill>
                <a:latin typeface="Calibri"/>
                <a:ea typeface="Calibri"/>
              </a:rPr>
              <a:t>/identity/token</a:t>
            </a:r>
          </a:p>
        </p:txBody>
      </p:sp>
      <p:sp>
        <p:nvSpPr>
          <p:cNvPr id="100044" name="Step3"/>
          <p:cNvSpPr txBox="1"/>
          <p:nvPr/>
        </p:nvSpPr>
        <p:spPr>
          <a:xfrm xmlns:a="http://schemas.openxmlformats.org/drawingml/2006/main">
            <a:off x="5076000" y="2232000"/>
            <a:ext cx="1980000" cy="79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7A65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200" b="0">
                <a:solidFill>
                  <a:srgbClr val="FFFFFF"/>
                </a:solidFill>
                <a:latin typeface="Calibri"/>
                <a:ea typeface="Calibri"/>
              </a:rPr>
              <a:t>3. POST to Granite</a:t>
            </a:r>
          </a:p>
          <a:p xmlns:a="http://schemas.openxmlformats.org/drawingml/2006/main">
            <a:r>
              <a:rPr lang="en-US" sz="1200" b="0">
                <a:solidFill>
                  <a:srgbClr val="FFFFFF"/>
                </a:solidFill>
                <a:latin typeface="Calibri"/>
                <a:ea typeface="Calibri"/>
              </a:rPr>
              <a:t>/ml/v1-beta/generation</a:t>
            </a:r>
          </a:p>
          <a:p xmlns:a="http://schemas.openxmlformats.org/drawingml/2006/main">
            <a:r>
              <a:rPr lang="en-US" sz="1200" b="0">
                <a:solidFill>
                  <a:srgbClr val="FFFFFF"/>
                </a:solidFill>
                <a:latin typeface="Calibri"/>
                <a:ea typeface="Calibri"/>
              </a:rPr>
              <a:t>/text</a:t>
            </a:r>
          </a:p>
        </p:txBody>
      </p:sp>
      <p:sp>
        <p:nvSpPr>
          <p:cNvPr id="100045" name="Step4"/>
          <p:cNvSpPr txBox="1"/>
          <p:nvPr/>
        </p:nvSpPr>
        <p:spPr>
          <a:xfrm xmlns:a="http://schemas.openxmlformats.org/drawingml/2006/main">
            <a:off x="7344000" y="2232000"/>
            <a:ext cx="1980000" cy="79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7A65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200" b="0">
                <a:solidFill>
                  <a:srgbClr val="FFFFFF"/>
                </a:solidFill>
                <a:latin typeface="Calibri"/>
                <a:ea typeface="Calibri"/>
              </a:rPr>
              <a:t>4. Extract Text</a:t>
            </a:r>
          </a:p>
          <a:p xmlns:a="http://schemas.openxmlformats.org/drawingml/2006/main">
            <a:r>
              <a:rPr lang="en-US" sz="1200" b="0">
                <a:solidFill>
                  <a:srgbClr val="FFFFFF"/>
                </a:solidFill>
                <a:latin typeface="Calibri"/>
                <a:ea typeface="Calibri"/>
              </a:rPr>
              <a:t>results[0]</a:t>
            </a:r>
          </a:p>
          <a:p xmlns:a="http://schemas.openxmlformats.org/drawingml/2006/main">
            <a:r>
              <a:rPr lang="en-US" sz="1200" b="0">
                <a:solidFill>
                  <a:srgbClr val="FFFFFF"/>
                </a:solidFill>
                <a:latin typeface="Calibri"/>
                <a:ea typeface="Calibri"/>
              </a:rPr>
              <a:t>.generated_text</a:t>
            </a:r>
          </a:p>
        </p:txBody>
      </p:sp>
      <p:sp>
        <p:nvSpPr>
          <p:cNvPr id="100046" name="Step5"/>
          <p:cNvSpPr txBox="1"/>
          <p:nvPr/>
        </p:nvSpPr>
        <p:spPr>
          <a:xfrm xmlns:a="http://schemas.openxmlformats.org/drawingml/2006/main">
            <a:off x="9612000" y="2232000"/>
            <a:ext cx="1692000" cy="79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84212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200" b="0">
                <a:solidFill>
                  <a:srgbClr val="FFFFFF"/>
                </a:solidFill>
                <a:latin typeface="Calibri"/>
                <a:ea typeface="Calibri"/>
              </a:rPr>
              <a:t>5. Fallback AI</a:t>
            </a:r>
          </a:p>
          <a:p xmlns:a="http://schemas.openxmlformats.org/drawingml/2006/main">
            <a:r>
              <a:rPr lang="en-US" sz="1200" b="0">
                <a:solidFill>
                  <a:srgbClr val="FFFFFF"/>
                </a:solidFill>
                <a:latin typeface="Calibri"/>
                <a:ea typeface="Calibri"/>
              </a:rPr>
              <a:t>Rule-based engine</a:t>
            </a:r>
          </a:p>
          <a:p xmlns:a="http://schemas.openxmlformats.org/drawingml/2006/main">
            <a:r>
              <a:rPr lang="en-US" sz="1200" b="0">
                <a:solidFill>
                  <a:srgbClr val="FFFFFF"/>
                </a:solidFill>
                <a:latin typeface="Calibri"/>
                <a:ea typeface="Calibri"/>
              </a:rPr>
              <a:t>if API unavailable</a:t>
            </a:r>
          </a:p>
        </p:txBody>
      </p:sp>
      <p:sp>
        <p:nvSpPr>
          <p:cNvPr id="100047" name="FallbackNote"/>
          <p:cNvSpPr txBox="1"/>
          <p:nvPr/>
        </p:nvSpPr>
        <p:spPr>
          <a:xfrm xmlns:a="http://schemas.openxmlformats.org/drawingml/2006/main">
            <a:off x="540000" y="3312000"/>
            <a:ext cx="10800000" cy="6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BF5FB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400" b="0">
                <a:solidFill>
                  <a:srgbClr val="2C3E50"/>
                </a:solidFill>
                <a:latin typeface="Calibri"/>
                <a:ea typeface="Calibri"/>
              </a:rPr>
              <a:t>Smart Fallback: When watsonx.ai API is unavailable, the application automatically uses the built-in rule-based AI engine — users always receive a complete, personalised 7-day plan.</a:t>
            </a:r>
          </a:p>
        </p:txBody>
      </p:sp>
    </p:spTree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/>
      <p:sp>
        <p:nvSpPr>
          <p:cNvPr id="100048" name="TopBar"/>
          <p:cNvSpPr txBox="1"/>
          <p:nvPr/>
        </p:nvSpPr>
        <p:spPr>
          <a:xfrm xmlns:a="http://schemas.openxmlformats.org/drawingml/2006/main">
            <a:off x="0" y="0"/>
            <a:ext cx="12193200" cy="50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3D62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>
              <a:solidFill>
                <a:srgbClr val="0A3D62"/>
              </a:solidFill>
            </a:endParaRPr>
          </a:p>
        </p:txBody>
      </p:sp>
      <p:sp>
        <p:nvSpPr>
          <p:cNvPr id="100049" name="SlideTitle"/>
          <p:cNvSpPr txBox="1"/>
          <p:nvPr/>
        </p:nvSpPr>
        <p:spPr>
          <a:xfrm xmlns:a="http://schemas.openxmlformats.org/drawingml/2006/main">
            <a:off x="540000" y="72000"/>
            <a:ext cx="9000000" cy="36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2200" b="1">
                <a:solidFill>
                  <a:srgbClr val="FFFFFF"/>
                </a:solidFill>
                <a:latin typeface="Calibri"/>
                <a:ea typeface="Calibri"/>
              </a:rPr>
              <a:t>Web UI — Screenshot: Generate Plan Tab</a:t>
            </a:r>
          </a:p>
        </p:txBody>
      </p:sp>
      <p:sp>
        <p:nvSpPr>
          <p:cNvPr id="100050" name="SlideNum"/>
          <p:cNvSpPr txBox="1"/>
          <p:nvPr/>
        </p:nvSpPr>
        <p:spPr>
          <a:xfrm xmlns:a="http://schemas.openxmlformats.org/drawingml/2006/main">
            <a:off x="10800000" y="72000"/>
            <a:ext cx="1080000" cy="36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2000" b="1">
                <a:solidFill>
                  <a:srgbClr val="2ECC71"/>
                </a:solidFill>
                <a:latin typeface="Calibri"/>
                <a:ea typeface="Calibri"/>
              </a:rPr>
              <a:t>06</a:t>
            </a:r>
          </a:p>
        </p:txBody>
      </p:sp>
      <p:sp>
        <p:nvSpPr>
          <p:cNvPr id="100051" name="MockupBg"/>
          <p:cNvSpPr txBox="1"/>
          <p:nvPr/>
        </p:nvSpPr>
        <p:spPr>
          <a:xfrm xmlns:a="http://schemas.openxmlformats.org/drawingml/2006/main">
            <a:off x="540000" y="612000"/>
            <a:ext cx="10980000" cy="378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3F4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>
              <a:solidFill>
                <a:srgbClr val="BDC3C7"/>
              </a:solidFill>
            </a:endParaRPr>
          </a:p>
        </p:txBody>
      </p:sp>
      <p:sp>
        <p:nvSpPr>
          <p:cNvPr id="100052" name="HeaderBar"/>
          <p:cNvSpPr txBox="1"/>
          <p:nvPr/>
        </p:nvSpPr>
        <p:spPr>
          <a:xfrm xmlns:a="http://schemas.openxmlformats.org/drawingml/2006/main">
            <a:off x="540000" y="612000"/>
            <a:ext cx="10980000" cy="39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3A5C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300" b="1">
                <a:solidFill>
                  <a:srgbClr val="FFFFFF"/>
                </a:solidFill>
                <a:latin typeface="Calibri"/>
                <a:ea typeface="Calibri"/>
              </a:rPr>
              <a:t>  Nutrition Agentic AI    Powered by IBM Granite &amp; watsonx.ai</a:t>
            </a:r>
          </a:p>
        </p:txBody>
      </p:sp>
      <p:sp>
        <p:nvSpPr>
          <p:cNvPr id="100053" name="NavTabs"/>
          <p:cNvSpPr txBox="1"/>
          <p:nvPr/>
        </p:nvSpPr>
        <p:spPr>
          <a:xfrm xmlns:a="http://schemas.openxmlformats.org/drawingml/2006/main">
            <a:off x="540000" y="1008000"/>
            <a:ext cx="10980000" cy="25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304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200" b="0">
                <a:solidFill>
                  <a:srgbClr val="CCCCCC"/>
                </a:solidFill>
                <a:latin typeface="Calibri"/>
                <a:ea typeface="Calibri"/>
              </a:rPr>
              <a:t>  Generate Plan      Ask AI      My Plans</a:t>
            </a:r>
          </a:p>
        </p:txBody>
      </p:sp>
      <p:sp>
        <p:nvSpPr>
          <p:cNvPr id="100054" name="FormPanel"/>
          <p:cNvSpPr txBox="1"/>
          <p:nvPr/>
        </p:nvSpPr>
        <p:spPr>
          <a:xfrm xmlns:a="http://schemas.openxmlformats.org/drawingml/2006/main">
            <a:off x="576000" y="1296000"/>
            <a:ext cx="4500000" cy="30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100" b="0">
                <a:solidFill>
                  <a:srgbClr val="2C3E50"/>
                </a:solidFill>
                <a:latin typeface="Calibri"/>
                <a:ea typeface="Calibri"/>
              </a:rPr>
              <a:t>Your Profile</a:t>
            </a:r>
          </a:p>
          <a:p xmlns:a="http://schemas.openxmlformats.org/drawingml/2006/main">
            <a:r>
              <a:rPr lang="en-US" sz="1100" b="0">
                <a:solidFill>
                  <a:srgbClr val="2C3E50"/>
                </a:solidFill>
                <a:latin typeface="Calibri"/>
                <a:ea typeface="Calibri"/>
              </a:rPr>
              <a:t/>
            </a:r>
          </a:p>
          <a:p xmlns:a="http://schemas.openxmlformats.org/drawingml/2006/main">
            <a:r>
              <a:rPr lang="en-US" sz="1100" b="0">
                <a:solidFill>
                  <a:srgbClr val="2C3E50"/>
                </a:solidFill>
                <a:latin typeface="Calibri"/>
                <a:ea typeface="Calibri"/>
              </a:rPr>
              <a:t>Full Name:  [Aisha Khan          ]</a:t>
            </a:r>
          </a:p>
          <a:p xmlns:a="http://schemas.openxmlformats.org/drawingml/2006/main">
            <a:r>
              <a:rPr lang="en-US" sz="1100" b="0">
                <a:solidFill>
                  <a:srgbClr val="2C3E50"/>
                </a:solidFill>
                <a:latin typeface="Calibri"/>
                <a:ea typeface="Calibri"/>
              </a:rPr>
              <a:t>Age:  [35]   Weight: [68 kg]   Height: [165 cm]</a:t>
            </a:r>
          </a:p>
          <a:p xmlns:a="http://schemas.openxmlformats.org/drawingml/2006/main">
            <a:r>
              <a:rPr lang="en-US" sz="1100" b="0">
                <a:solidFill>
                  <a:srgbClr val="2C3E50"/>
                </a:solidFill>
                <a:latin typeface="Calibri"/>
                <a:ea typeface="Calibri"/>
              </a:rPr>
              <a:t/>
            </a:r>
          </a:p>
          <a:p xmlns:a="http://schemas.openxmlformats.org/drawingml/2006/main">
            <a:r>
              <a:rPr lang="en-US" sz="1100" b="0">
                <a:solidFill>
                  <a:srgbClr val="2C3E50"/>
                </a:solidFill>
                <a:latin typeface="Calibri"/>
                <a:ea typeface="Calibri"/>
              </a:rPr>
              <a:t>Diet Preference:  [Vegetarian       ]</a:t>
            </a:r>
          </a:p>
          <a:p xmlns:a="http://schemas.openxmlformats.org/drawingml/2006/main">
            <a:r>
              <a:rPr lang="en-US" sz="1100" b="0">
                <a:solidFill>
                  <a:srgbClr val="2C3E50"/>
                </a:solidFill>
                <a:latin typeface="Calibri"/>
                <a:ea typeface="Calibri"/>
              </a:rPr>
              <a:t>Activity Level:  [Moderate           ]</a:t>
            </a:r>
          </a:p>
          <a:p xmlns:a="http://schemas.openxmlformats.org/drawingml/2006/main">
            <a:r>
              <a:rPr lang="en-US" sz="1100" b="0">
                <a:solidFill>
                  <a:srgbClr val="2C3E50"/>
                </a:solidFill>
                <a:latin typeface="Calibri"/>
                <a:ea typeface="Calibri"/>
              </a:rPr>
              <a:t>Goal:  [Manage diabetes           ]</a:t>
            </a:r>
          </a:p>
          <a:p xmlns:a="http://schemas.openxmlformats.org/drawingml/2006/main">
            <a:r>
              <a:rPr lang="en-US" sz="1100" b="0">
                <a:solidFill>
                  <a:srgbClr val="2C3E50"/>
                </a:solidFill>
                <a:latin typeface="Calibri"/>
                <a:ea typeface="Calibri"/>
              </a:rPr>
              <a:t/>
            </a:r>
          </a:p>
          <a:p xmlns:a="http://schemas.openxmlformats.org/drawingml/2006/main">
            <a:r>
              <a:rPr lang="en-US" sz="1100" b="0">
                <a:solidFill>
                  <a:srgbClr val="2C3E50"/>
                </a:solidFill>
                <a:latin typeface="Calibri"/>
                <a:ea typeface="Calibri"/>
              </a:rPr>
              <a:t>Medical History:</a:t>
            </a:r>
          </a:p>
          <a:p xmlns:a="http://schemas.openxmlformats.org/drawingml/2006/main">
            <a:r>
              <a:rPr lang="en-US" sz="1100" b="0">
                <a:solidFill>
                  <a:srgbClr val="2C3E50"/>
                </a:solidFill>
                <a:latin typeface="Calibri"/>
                <a:ea typeface="Calibri"/>
              </a:rPr>
              <a:t>[x] Diabetes   [x] Blood Pressure</a:t>
            </a:r>
          </a:p>
          <a:p xmlns:a="http://schemas.openxmlformats.org/drawingml/2006/main">
            <a:r>
              <a:rPr lang="en-US" sz="1100" b="0">
                <a:solidFill>
                  <a:srgbClr val="2C3E50"/>
                </a:solidFill>
                <a:latin typeface="Calibri"/>
                <a:ea typeface="Calibri"/>
              </a:rPr>
              <a:t>[ ] Thyroid    [ ] Heart Disease</a:t>
            </a:r>
          </a:p>
          <a:p xmlns:a="http://schemas.openxmlformats.org/drawingml/2006/main">
            <a:r>
              <a:rPr lang="en-US" sz="1100" b="0">
                <a:solidFill>
                  <a:srgbClr val="2C3E50"/>
                </a:solidFill>
                <a:latin typeface="Calibri"/>
                <a:ea typeface="Calibri"/>
              </a:rPr>
              <a:t/>
            </a:r>
          </a:p>
          <a:p xmlns:a="http://schemas.openxmlformats.org/drawingml/2006/main">
            <a:r>
              <a:rPr lang="en-US" sz="1100" b="0">
                <a:solidFill>
                  <a:srgbClr val="2C3E50"/>
                </a:solidFill>
                <a:latin typeface="Calibri"/>
                <a:ea typeface="Calibri"/>
              </a:rPr>
              <a:t>City: [Mumbai]   Country: [India]</a:t>
            </a:r>
          </a:p>
          <a:p xmlns:a="http://schemas.openxmlformats.org/drawingml/2006/main">
            <a:r>
              <a:rPr lang="en-US" sz="1100" b="0">
                <a:solidFill>
                  <a:srgbClr val="2C3E50"/>
                </a:solidFill>
                <a:latin typeface="Calibri"/>
                <a:ea typeface="Calibri"/>
              </a:rPr>
              <a:t/>
            </a:r>
          </a:p>
          <a:p xmlns:a="http://schemas.openxmlformats.org/drawingml/2006/main">
            <a:r>
              <a:rPr lang="en-US" sz="1100" b="0">
                <a:solidFill>
                  <a:srgbClr val="2C3E50"/>
                </a:solidFill>
                <a:latin typeface="Calibri"/>
                <a:ea typeface="Calibri"/>
              </a:rPr>
              <a:t>Allergies: [peanuts]</a:t>
            </a:r>
          </a:p>
          <a:p xmlns:a="http://schemas.openxmlformats.org/drawingml/2006/main">
            <a:r>
              <a:rPr lang="en-US" sz="1100" b="0">
                <a:solidFill>
                  <a:srgbClr val="2C3E50"/>
                </a:solidFill>
                <a:latin typeface="Calibri"/>
                <a:ea typeface="Calibri"/>
              </a:rPr>
              <a:t/>
            </a:r>
          </a:p>
          <a:p xmlns:a="http://schemas.openxmlformats.org/drawingml/2006/main">
            <a:r>
              <a:rPr lang="en-US" sz="1100" b="0">
                <a:solidFill>
                  <a:srgbClr val="2C3E50"/>
                </a:solidFill>
                <a:latin typeface="Calibri"/>
                <a:ea typeface="Calibri"/>
              </a:rPr>
              <a:t>[  Generate My Nutrition Plan  ]</a:t>
            </a:r>
          </a:p>
        </p:txBody>
      </p:sp>
      <p:sp>
        <p:nvSpPr>
          <p:cNvPr id="100055" name="OutputPanel"/>
          <p:cNvSpPr txBox="1"/>
          <p:nvPr/>
        </p:nvSpPr>
        <p:spPr>
          <a:xfrm xmlns:a="http://schemas.openxmlformats.org/drawingml/2006/main">
            <a:off x="5148000" y="1296000"/>
            <a:ext cx="6300000" cy="30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100" b="0">
                <a:solidFill>
                  <a:srgbClr val="2C3E50"/>
                </a:solidFill>
                <a:latin typeface="Calibri"/>
                <a:ea typeface="Calibri"/>
              </a:rPr>
              <a:t>Your Nutrition Plan</a:t>
            </a:r>
          </a:p>
          <a:p xmlns:a="http://schemas.openxmlformats.org/drawingml/2006/main">
            <a:r>
              <a:rPr lang="en-US" sz="1100" b="0">
                <a:solidFill>
                  <a:srgbClr val="2C3E50"/>
                </a:solidFill>
                <a:latin typeface="Calibri"/>
                <a:ea typeface="Calibri"/>
              </a:rPr>
              <a:t/>
            </a:r>
          </a:p>
          <a:p xmlns:a="http://schemas.openxmlformats.org/drawingml/2006/main">
            <a:r>
              <a:rPr lang="en-US" sz="1100" b="0">
                <a:solidFill>
                  <a:srgbClr val="2C3E50"/>
                </a:solidFill>
                <a:latin typeface="Calibri"/>
                <a:ea typeface="Calibri"/>
              </a:rPr>
              <a:t>Personalised 7-Day Nutrition Plan for Aisha Khan</a:t>
            </a:r>
          </a:p>
          <a:p xmlns:a="http://schemas.openxmlformats.org/drawingml/2006/main">
            <a:r>
              <a:rPr lang="en-US" sz="1100" b="0">
                <a:solidFill>
                  <a:srgbClr val="2C3E50"/>
                </a:solidFill>
                <a:latin typeface="Calibri"/>
                <a:ea typeface="Calibri"/>
              </a:rPr>
              <a:t/>
            </a:r>
          </a:p>
          <a:p xmlns:a="http://schemas.openxmlformats.org/drawingml/2006/main">
            <a:r>
              <a:rPr lang="en-US" sz="1100" b="0">
                <a:solidFill>
                  <a:srgbClr val="2C3E50"/>
                </a:solidFill>
                <a:latin typeface="Calibri"/>
                <a:ea typeface="Calibri"/>
              </a:rPr>
              <a:t>Day 1 — Energise &amp; Balance</a:t>
            </a:r>
          </a:p>
          <a:p xmlns:a="http://schemas.openxmlformats.org/drawingml/2006/main">
            <a:r>
              <a:rPr lang="en-US" sz="1100" b="0">
                <a:solidFill>
                  <a:srgbClr val="2C3E50"/>
                </a:solidFill>
                <a:latin typeface="Calibri"/>
                <a:ea typeface="Calibri"/>
              </a:rPr>
              <a:t>Breakfast (400-450 kcal)</a:t>
            </a:r>
          </a:p>
          <a:p xmlns:a="http://schemas.openxmlformats.org/drawingml/2006/main">
            <a:r>
              <a:rPr lang="en-US" sz="1100" b="0">
                <a:solidFill>
                  <a:srgbClr val="2C3E50"/>
                </a:solidFill>
                <a:latin typeface="Calibri"/>
                <a:ea typeface="Calibri"/>
              </a:rPr>
              <a:t>  Oatmeal with berries and chia seeds</a:t>
            </a:r>
          </a:p>
          <a:p xmlns:a="http://schemas.openxmlformats.org/drawingml/2006/main">
            <a:r>
              <a:rPr lang="en-US" sz="1100" b="0">
                <a:solidFill>
                  <a:srgbClr val="2C3E50"/>
                </a:solidFill>
                <a:latin typeface="Calibri"/>
                <a:ea typeface="Calibri"/>
              </a:rPr>
              <a:t>  Paneer scramble  |  Green tea</a:t>
            </a:r>
          </a:p>
          <a:p xmlns:a="http://schemas.openxmlformats.org/drawingml/2006/main">
            <a:r>
              <a:rPr lang="en-US" sz="1100" b="0">
                <a:solidFill>
                  <a:srgbClr val="2C3E50"/>
                </a:solidFill>
                <a:latin typeface="Calibri"/>
                <a:ea typeface="Calibri"/>
              </a:rPr>
              <a:t/>
            </a:r>
          </a:p>
          <a:p xmlns:a="http://schemas.openxmlformats.org/drawingml/2006/main">
            <a:r>
              <a:rPr lang="en-US" sz="1100" b="0">
                <a:solidFill>
                  <a:srgbClr val="2C3E50"/>
                </a:solidFill>
                <a:latin typeface="Calibri"/>
                <a:ea typeface="Calibri"/>
              </a:rPr>
              <a:t>Lunch (500-550 kcal)</a:t>
            </a:r>
          </a:p>
          <a:p xmlns:a="http://schemas.openxmlformats.org/drawingml/2006/main">
            <a:r>
              <a:rPr lang="en-US" sz="1100" b="0">
                <a:solidFill>
                  <a:srgbClr val="2C3E50"/>
                </a:solidFill>
                <a:latin typeface="Calibri"/>
                <a:ea typeface="Calibri"/>
              </a:rPr>
              <a:t>  Brown rice (low GI) with lentil curry</a:t>
            </a:r>
          </a:p>
          <a:p xmlns:a="http://schemas.openxmlformats.org/drawingml/2006/main">
            <a:r>
              <a:rPr lang="en-US" sz="1100" b="0">
                <a:solidFill>
                  <a:srgbClr val="2C3E50"/>
                </a:solidFill>
                <a:latin typeface="Calibri"/>
                <a:ea typeface="Calibri"/>
              </a:rPr>
              <a:t>  Mixed vegetable salad, olive oil</a:t>
            </a:r>
          </a:p>
          <a:p xmlns:a="http://schemas.openxmlformats.org/drawingml/2006/main">
            <a:r>
              <a:rPr lang="en-US" sz="1100" b="0">
                <a:solidFill>
                  <a:srgbClr val="2C3E50"/>
                </a:solidFill>
                <a:latin typeface="Calibri"/>
                <a:ea typeface="Calibri"/>
              </a:rPr>
              <a:t/>
            </a:r>
          </a:p>
          <a:p xmlns:a="http://schemas.openxmlformats.org/drawingml/2006/main">
            <a:r>
              <a:rPr lang="en-US" sz="1100" b="0">
                <a:solidFill>
                  <a:srgbClr val="2C3E50"/>
                </a:solidFill>
                <a:latin typeface="Calibri"/>
                <a:ea typeface="Calibri"/>
              </a:rPr>
              <a:t>Dinner (450-500 kcal)</a:t>
            </a:r>
          </a:p>
          <a:p xmlns:a="http://schemas.openxmlformats.org/drawingml/2006/main">
            <a:r>
              <a:rPr lang="en-US" sz="1100" b="0">
                <a:solidFill>
                  <a:srgbClr val="2C3E50"/>
                </a:solidFill>
                <a:latin typeface="Calibri"/>
                <a:ea typeface="Calibri"/>
              </a:rPr>
              <a:t>  Whole wheat roti (2) with tofu</a:t>
            </a:r>
          </a:p>
          <a:p xmlns:a="http://schemas.openxmlformats.org/drawingml/2006/main">
            <a:r>
              <a:rPr lang="en-US" sz="1100" b="0">
                <a:solidFill>
                  <a:srgbClr val="2C3E50"/>
                </a:solidFill>
                <a:latin typeface="Calibri"/>
                <a:ea typeface="Calibri"/>
              </a:rPr>
              <a:t>  Steamed broccoli  |  Clear soup</a:t>
            </a:r>
          </a:p>
          <a:p xmlns:a="http://schemas.openxmlformats.org/drawingml/2006/main">
            <a:r>
              <a:rPr lang="en-US" sz="1100" b="0">
                <a:solidFill>
                  <a:srgbClr val="2C3E50"/>
                </a:solidFill>
                <a:latin typeface="Calibri"/>
                <a:ea typeface="Calibri"/>
              </a:rPr>
              <a:t/>
            </a:r>
          </a:p>
          <a:p xmlns:a="http://schemas.openxmlformats.org/drawingml/2006/main">
            <a:r>
              <a:rPr lang="en-US" sz="1100" b="0">
                <a:solidFill>
                  <a:srgbClr val="2C3E50"/>
                </a:solidFill>
                <a:latin typeface="Calibri"/>
                <a:ea typeface="Calibri"/>
              </a:rPr>
              <a:t>Snacks: Apple + almond butter  |  Mixed nuts</a:t>
            </a:r>
          </a:p>
          <a:p xmlns:a="http://schemas.openxmlformats.org/drawingml/2006/main">
            <a:r>
              <a:rPr lang="en-US" sz="1100" b="0">
                <a:solidFill>
                  <a:srgbClr val="2C3E50"/>
                </a:solidFill>
                <a:latin typeface="Calibri"/>
                <a:ea typeface="Calibri"/>
              </a:rPr>
              <a:t/>
            </a:r>
          </a:p>
          <a:p xmlns:a="http://schemas.openxmlformats.org/drawingml/2006/main">
            <a:r>
              <a:rPr lang="en-US" sz="1100" b="0">
                <a:solidFill>
                  <a:srgbClr val="2C3E50"/>
                </a:solidFill>
                <a:latin typeface="Calibri"/>
                <a:ea typeface="Calibri"/>
              </a:rPr>
              <a:t>[Download .md]  [Print]  [Copy]</a:t>
            </a:r>
          </a:p>
        </p:txBody>
      </p:sp>
      <p:sp>
        <p:nvSpPr>
          <p:cNvPr id="100056" name="Caption"/>
          <p:cNvSpPr txBox="1"/>
          <p:nvPr/>
        </p:nvSpPr>
        <p:spPr>
          <a:xfrm xmlns:a="http://schemas.openxmlformats.org/drawingml/2006/main">
            <a:off x="540000" y="4500000"/>
            <a:ext cx="10980000" cy="252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100" b="0">
                <a:solidFill>
                  <a:srgbClr val="7F8C8D"/>
                </a:solidFill>
                <a:latin typeface="Calibri"/>
                <a:ea typeface="Calibri"/>
              </a:rPr>
              <a:t>Screenshot: 3-Tab Web UI — Left: Profile Form | Right: Generated Plan Output  |  URL: http://localhost:5000</a:t>
            </a:r>
          </a:p>
        </p:txBody>
      </p:sp>
    </p:spTree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/>
      <p:sp>
        <p:nvSpPr>
          <p:cNvPr id="100057" name="TopBar"/>
          <p:cNvSpPr txBox="1"/>
          <p:nvPr/>
        </p:nvSpPr>
        <p:spPr>
          <a:xfrm xmlns:a="http://schemas.openxmlformats.org/drawingml/2006/main">
            <a:off x="0" y="0"/>
            <a:ext cx="12193200" cy="50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3D62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>
              <a:solidFill>
                <a:srgbClr val="0A3D62"/>
              </a:solidFill>
            </a:endParaRPr>
          </a:p>
        </p:txBody>
      </p:sp>
      <p:sp>
        <p:nvSpPr>
          <p:cNvPr id="100058" name="SlideTitle"/>
          <p:cNvSpPr txBox="1"/>
          <p:nvPr/>
        </p:nvSpPr>
        <p:spPr>
          <a:xfrm xmlns:a="http://schemas.openxmlformats.org/drawingml/2006/main">
            <a:off x="540000" y="72000"/>
            <a:ext cx="9000000" cy="36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2200" b="1">
                <a:solidFill>
                  <a:srgbClr val="FFFFFF"/>
                </a:solidFill>
                <a:latin typeface="Calibri"/>
                <a:ea typeface="Calibri"/>
              </a:rPr>
              <a:t>Web UI — Screenshot: Ask AI (Q&amp;A) Tab</a:t>
            </a:r>
          </a:p>
        </p:txBody>
      </p:sp>
      <p:sp>
        <p:nvSpPr>
          <p:cNvPr id="100059" name="SlideNum"/>
          <p:cNvSpPr txBox="1"/>
          <p:nvPr/>
        </p:nvSpPr>
        <p:spPr>
          <a:xfrm xmlns:a="http://schemas.openxmlformats.org/drawingml/2006/main">
            <a:off x="10800000" y="72000"/>
            <a:ext cx="1080000" cy="36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2000" b="1">
                <a:solidFill>
                  <a:srgbClr val="2ECC71"/>
                </a:solidFill>
                <a:latin typeface="Calibri"/>
                <a:ea typeface="Calibri"/>
              </a:rPr>
              <a:t>07</a:t>
            </a:r>
          </a:p>
        </p:txBody>
      </p:sp>
      <p:sp>
        <p:nvSpPr>
          <p:cNvPr id="100060" name="ChatBg"/>
          <p:cNvSpPr txBox="1"/>
          <p:nvPr/>
        </p:nvSpPr>
        <p:spPr>
          <a:xfrm xmlns:a="http://schemas.openxmlformats.org/drawingml/2006/main">
            <a:off x="1440000" y="648000"/>
            <a:ext cx="9000000" cy="414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3F4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>
              <a:solidFill>
                <a:srgbClr val="BDC3C7"/>
              </a:solidFill>
            </a:endParaRPr>
          </a:p>
        </p:txBody>
      </p:sp>
      <p:sp>
        <p:nvSpPr>
          <p:cNvPr id="100061" name="ChatHeader"/>
          <p:cNvSpPr txBox="1"/>
          <p:nvPr/>
        </p:nvSpPr>
        <p:spPr>
          <a:xfrm xmlns:a="http://schemas.openxmlformats.org/drawingml/2006/main">
            <a:off x="1440000" y="648000"/>
            <a:ext cx="9000000" cy="3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3A5C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300" b="1">
                <a:solidFill>
                  <a:srgbClr val="FFFFFF"/>
                </a:solidFill>
                <a:latin typeface="Calibri"/>
                <a:ea typeface="Calibri"/>
              </a:rPr>
              <a:t>  Ask Nutrition AI       IBM Granite</a:t>
            </a:r>
          </a:p>
        </p:txBody>
      </p:sp>
      <p:sp>
        <p:nvSpPr>
          <p:cNvPr id="100062" name="QuickBtns"/>
          <p:cNvSpPr txBox="1"/>
          <p:nvPr/>
        </p:nvSpPr>
        <p:spPr>
          <a:xfrm xmlns:a="http://schemas.openxmlformats.org/drawingml/2006/main">
            <a:off x="1440000" y="1008000"/>
            <a:ext cx="9000000" cy="28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ECEE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100" b="0">
                <a:solidFill>
                  <a:srgbClr val="566573"/>
                </a:solidFill>
                <a:latin typeface="Calibri"/>
                <a:ea typeface="Calibri"/>
              </a:rPr>
              <a:t>Quick Questions:  [Protein needs]  [Blood sugar foods]  [Hydration guide]  [Vegetarian vitamins]</a:t>
            </a:r>
          </a:p>
        </p:txBody>
      </p:sp>
      <p:sp>
        <p:nvSpPr>
          <p:cNvPr id="100063" name="AiBubble1"/>
          <p:cNvSpPr txBox="1"/>
          <p:nvPr/>
        </p:nvSpPr>
        <p:spPr>
          <a:xfrm xmlns:a="http://schemas.openxmlformats.org/drawingml/2006/main">
            <a:off x="1620000" y="1368000"/>
            <a:ext cx="5760000" cy="6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200" b="0">
                <a:solidFill>
                  <a:srgbClr val="2C3E50"/>
                </a:solidFill>
                <a:latin typeface="Calibri"/>
                <a:ea typeface="Calibri"/>
              </a:rPr>
              <a:t>  Hello! I'm your IBM Granite-powered Nutrition AI. Ask me anything about</a:t>
            </a:r>
          </a:p>
          <a:p xmlns:a="http://schemas.openxmlformats.org/drawingml/2006/main">
            <a:r>
              <a:rPr lang="en-US" sz="1200" b="0">
                <a:solidFill>
                  <a:srgbClr val="2C3E50"/>
                </a:solidFill>
                <a:latin typeface="Calibri"/>
                <a:ea typeface="Calibri"/>
              </a:rPr>
              <a:t>  nutrition, diet, vitamins, or managing health conditions through food.</a:t>
            </a:r>
          </a:p>
        </p:txBody>
      </p:sp>
      <p:sp>
        <p:nvSpPr>
          <p:cNvPr id="100064" name="UserBubble"/>
          <p:cNvSpPr txBox="1"/>
          <p:nvPr/>
        </p:nvSpPr>
        <p:spPr>
          <a:xfrm xmlns:a="http://schemas.openxmlformats.org/drawingml/2006/main">
            <a:off x="5760000" y="2160000"/>
            <a:ext cx="4500000" cy="3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F5E3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200" b="0">
                <a:solidFill>
                  <a:srgbClr val="1A5C32"/>
                </a:solidFill>
                <a:latin typeface="Calibri"/>
                <a:ea typeface="Calibri"/>
              </a:rPr>
              <a:t>What foods help control blood sugar?</a:t>
            </a:r>
          </a:p>
        </p:txBody>
      </p:sp>
      <p:sp>
        <p:nvSpPr>
          <p:cNvPr id="100065" name="AiBubble2"/>
          <p:cNvSpPr txBox="1"/>
          <p:nvPr/>
        </p:nvSpPr>
        <p:spPr>
          <a:xfrm xmlns:a="http://schemas.openxmlformats.org/drawingml/2006/main">
            <a:off x="1620000" y="2592000"/>
            <a:ext cx="6840000" cy="108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200" b="0">
                <a:solidFill>
                  <a:srgbClr val="2C3E50"/>
                </a:solidFill>
                <a:latin typeface="Calibri"/>
                <a:ea typeface="Calibri"/>
              </a:rPr>
              <a:t>  Blood Sugar Control Foods:</a:t>
            </a:r>
          </a:p>
          <a:p xmlns:a="http://schemas.openxmlformats.org/drawingml/2006/main">
            <a:r>
              <a:rPr lang="en-US" sz="1200" b="0">
                <a:solidFill>
                  <a:srgbClr val="2C3E50"/>
                </a:solidFill>
                <a:latin typeface="Calibri"/>
                <a:ea typeface="Calibri"/>
              </a:rPr>
              <a:t>  Low GI choices: oats, lentils, chickpeas, most vegetables</a:t>
            </a:r>
          </a:p>
          <a:p xmlns:a="http://schemas.openxmlformats.org/drawingml/2006/main">
            <a:r>
              <a:rPr lang="en-US" sz="1200" b="0">
                <a:solidFill>
                  <a:srgbClr val="2C3E50"/>
                </a:solidFill>
                <a:latin typeface="Calibri"/>
                <a:ea typeface="Calibri"/>
              </a:rPr>
              <a:t>  Fibre helps slow glucose absorption</a:t>
            </a:r>
          </a:p>
          <a:p xmlns:a="http://schemas.openxmlformats.org/drawingml/2006/main">
            <a:r>
              <a:rPr lang="en-US" sz="1200" b="0">
                <a:solidFill>
                  <a:srgbClr val="2C3E50"/>
                </a:solidFill>
                <a:latin typeface="Calibri"/>
                <a:ea typeface="Calibri"/>
              </a:rPr>
              <a:t>  Avoid refined sugars and processed carbs</a:t>
            </a:r>
          </a:p>
          <a:p xmlns:a="http://schemas.openxmlformats.org/drawingml/2006/main">
            <a:r>
              <a:rPr lang="en-US" sz="1200" b="0">
                <a:solidFill>
                  <a:srgbClr val="2C3E50"/>
                </a:solidFill>
                <a:latin typeface="Calibri"/>
                <a:ea typeface="Calibri"/>
              </a:rPr>
              <a:t>  Cinnamon, fenugreek may help stabilise levels</a:t>
            </a:r>
          </a:p>
          <a:p xmlns:a="http://schemas.openxmlformats.org/drawingml/2006/main">
            <a:r>
              <a:rPr lang="en-US" sz="1200" b="0">
                <a:solidFill>
                  <a:srgbClr val="2C3E50"/>
                </a:solidFill>
                <a:latin typeface="Calibri"/>
                <a:ea typeface="Calibri"/>
              </a:rPr>
              <a:t>  Always follow your doctor's dietary recommendations</a:t>
            </a:r>
          </a:p>
        </p:txBody>
      </p:sp>
      <p:sp>
        <p:nvSpPr>
          <p:cNvPr id="100066" name="InputBar"/>
          <p:cNvSpPr txBox="1"/>
          <p:nvPr/>
        </p:nvSpPr>
        <p:spPr>
          <a:xfrm xmlns:a="http://schemas.openxmlformats.org/drawingml/2006/main">
            <a:off x="1440000" y="4428000"/>
            <a:ext cx="9000000" cy="28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ECEE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200" b="0">
                <a:solidFill>
                  <a:srgbClr val="566573"/>
                </a:solidFill>
                <a:latin typeface="Calibri"/>
                <a:ea typeface="Calibri"/>
              </a:rPr>
              <a:t>  Ask about nutrition, diet, vitamins, health conditions...                    [Send]</a:t>
            </a:r>
          </a:p>
        </p:txBody>
      </p:sp>
      <p:sp>
        <p:nvSpPr>
          <p:cNvPr id="100067" name="EthicsBar"/>
          <p:cNvSpPr txBox="1"/>
          <p:nvPr/>
        </p:nvSpPr>
        <p:spPr>
          <a:xfrm xmlns:a="http://schemas.openxmlformats.org/drawingml/2006/main">
            <a:off x="1440000" y="4752000"/>
            <a:ext cx="9000000" cy="18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F9F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000" b="0">
                <a:solidFill>
                  <a:srgbClr val="7F8C8D"/>
                </a:solidFill>
                <a:latin typeface="Calibri"/>
                <a:ea typeface="Calibri"/>
              </a:rPr>
              <a:t>Guardrails Active  |  HAM Principles Applied  |  Educational Use Only</a:t>
            </a:r>
          </a:p>
        </p:txBody>
      </p:sp>
    </p:spTree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/>
      <p:sp>
        <p:nvSpPr>
          <p:cNvPr id="100068" name="TopBar"/>
          <p:cNvSpPr txBox="1"/>
          <p:nvPr/>
        </p:nvSpPr>
        <p:spPr>
          <a:xfrm xmlns:a="http://schemas.openxmlformats.org/drawingml/2006/main">
            <a:off x="0" y="0"/>
            <a:ext cx="12193200" cy="50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3D62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>
              <a:solidFill>
                <a:srgbClr val="0A3D62"/>
              </a:solidFill>
            </a:endParaRPr>
          </a:p>
        </p:txBody>
      </p:sp>
      <p:sp>
        <p:nvSpPr>
          <p:cNvPr id="100069" name="SlideTitle"/>
          <p:cNvSpPr txBox="1"/>
          <p:nvPr/>
        </p:nvSpPr>
        <p:spPr>
          <a:xfrm xmlns:a="http://schemas.openxmlformats.org/drawingml/2006/main">
            <a:off x="540000" y="72000"/>
            <a:ext cx="9000000" cy="36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2200" b="1">
                <a:solidFill>
                  <a:srgbClr val="FFFFFF"/>
                </a:solidFill>
                <a:latin typeface="Calibri"/>
                <a:ea typeface="Calibri"/>
              </a:rPr>
              <a:t>Generated Nutrition Plan — .md File Output</a:t>
            </a:r>
          </a:p>
        </p:txBody>
      </p:sp>
      <p:sp>
        <p:nvSpPr>
          <p:cNvPr id="100070" name="SlideNum"/>
          <p:cNvSpPr txBox="1"/>
          <p:nvPr/>
        </p:nvSpPr>
        <p:spPr>
          <a:xfrm xmlns:a="http://schemas.openxmlformats.org/drawingml/2006/main">
            <a:off x="10800000" y="72000"/>
            <a:ext cx="1080000" cy="36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2000" b="1">
                <a:solidFill>
                  <a:srgbClr val="2ECC71"/>
                </a:solidFill>
                <a:latin typeface="Calibri"/>
                <a:ea typeface="Calibri"/>
              </a:rPr>
              <a:t>08</a:t>
            </a:r>
          </a:p>
        </p:txBody>
      </p:sp>
      <p:sp>
        <p:nvSpPr>
          <p:cNvPr id="100071" name="YAMLHeader"/>
          <p:cNvSpPr txBox="1"/>
          <p:nvPr/>
        </p:nvSpPr>
        <p:spPr>
          <a:xfrm xmlns:a="http://schemas.openxmlformats.org/drawingml/2006/main">
            <a:off x="540000" y="648000"/>
            <a:ext cx="5220000" cy="162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3A5C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100" b="0">
                <a:solidFill>
                  <a:srgbClr val="FFFFFF"/>
                </a:solidFill>
                <a:latin typeface="Courier New"/>
                <a:ea typeface="Courier New"/>
              </a:rPr>
              <a:t>--- YAML Front-Matter ---</a:t>
            </a:r>
          </a:p>
          <a:p xmlns:a="http://schemas.openxmlformats.org/drawingml/2006/main">
            <a:r>
              <a:rPr lang="en-US" sz="1100" b="0">
                <a:solidFill>
                  <a:srgbClr val="FFFFFF"/>
                </a:solidFill>
                <a:latin typeface="Courier New"/>
                <a:ea typeface="Courier New"/>
              </a:rPr>
              <a:t>title: "Personalised Nutrition Plan — Aisha Khan"</a:t>
            </a:r>
          </a:p>
          <a:p xmlns:a="http://schemas.openxmlformats.org/drawingml/2006/main">
            <a:r>
              <a:rPr lang="en-US" sz="1100" b="0">
                <a:solidFill>
                  <a:srgbClr val="FFFFFF"/>
                </a:solidFill>
                <a:latin typeface="Courier New"/>
                <a:ea typeface="Courier New"/>
              </a:rPr>
              <a:t>generated: "2026-10-13 14:05:00"</a:t>
            </a:r>
          </a:p>
          <a:p xmlns:a="http://schemas.openxmlformats.org/drawingml/2006/main">
            <a:r>
              <a:rPr lang="en-US" sz="1100" b="0">
                <a:solidFill>
                  <a:srgbClr val="FFFFFF"/>
                </a:solidFill>
                <a:latin typeface="Courier New"/>
                <a:ea typeface="Courier New"/>
              </a:rPr>
              <a:t>model: "IBM Granite (watsonx.ai)"</a:t>
            </a:r>
          </a:p>
          <a:p xmlns:a="http://schemas.openxmlformats.org/drawingml/2006/main">
            <a:r>
              <a:rPr lang="en-US" sz="1100" b="0">
                <a:solidFill>
                  <a:srgbClr val="FFFFFF"/>
                </a:solidFill>
                <a:latin typeface="Courier New"/>
                <a:ea typeface="Courier New"/>
              </a:rPr>
              <a:t>diet: "vegetarian"</a:t>
            </a:r>
          </a:p>
          <a:p xmlns:a="http://schemas.openxmlformats.org/drawingml/2006/main">
            <a:r>
              <a:rPr lang="en-US" sz="1100" b="0">
                <a:solidFill>
                  <a:srgbClr val="FFFFFF"/>
                </a:solidFill>
                <a:latin typeface="Courier New"/>
                <a:ea typeface="Courier New"/>
              </a:rPr>
              <a:t>age: 35</a:t>
            </a:r>
          </a:p>
          <a:p xmlns:a="http://schemas.openxmlformats.org/drawingml/2006/main">
            <a:r>
              <a:rPr lang="en-US" sz="1100" b="0">
                <a:solidFill>
                  <a:srgbClr val="FFFFFF"/>
                </a:solidFill>
                <a:latin typeface="Courier New"/>
                <a:ea typeface="Courier New"/>
              </a:rPr>
              <a:t>location: "Mumbai, India"</a:t>
            </a:r>
          </a:p>
          <a:p xmlns:a="http://schemas.openxmlformats.org/drawingml/2006/main">
            <a:r>
              <a:rPr lang="en-US" sz="1100" b="0">
                <a:solidFill>
                  <a:srgbClr val="FFFFFF"/>
                </a:solidFill>
                <a:latin typeface="Courier New"/>
                <a:ea typeface="Courier New"/>
              </a:rPr>
              <a:t>medical_history: "diabetes, blood pressure"</a:t>
            </a:r>
          </a:p>
          <a:p xmlns:a="http://schemas.openxmlformats.org/drawingml/2006/main">
            <a:r>
              <a:rPr lang="en-US" sz="1100" b="0">
                <a:solidFill>
                  <a:srgbClr val="FFFFFF"/>
                </a:solidFill>
                <a:latin typeface="Courier New"/>
                <a:ea typeface="Courier New"/>
              </a:rPr>
              <a:t>---</a:t>
            </a:r>
          </a:p>
        </p:txBody>
      </p:sp>
      <p:sp>
        <p:nvSpPr>
          <p:cNvPr id="100072" name="PlanContent"/>
          <p:cNvSpPr txBox="1"/>
          <p:nvPr/>
        </p:nvSpPr>
        <p:spPr>
          <a:xfrm xmlns:a="http://schemas.openxmlformats.org/drawingml/2006/main">
            <a:off x="5868000" y="648000"/>
            <a:ext cx="5472000" cy="162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6F7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100" b="0">
                <a:solidFill>
                  <a:srgbClr val="2C3E50"/>
                </a:solidFill>
                <a:latin typeface="Courier New"/>
                <a:ea typeface="Courier New"/>
              </a:rPr>
              <a:t># Personalised 7-Day Nutrition Plan for Aisha Khan</a:t>
            </a:r>
          </a:p>
          <a:p xmlns:a="http://schemas.openxmlformats.org/drawingml/2006/main">
            <a:r>
              <a:rPr lang="en-US" sz="1100" b="0">
                <a:solidFill>
                  <a:srgbClr val="2C3E50"/>
                </a:solidFill>
                <a:latin typeface="Courier New"/>
                <a:ea typeface="Courier New"/>
              </a:rPr>
              <a:t/>
            </a:r>
          </a:p>
          <a:p xmlns:a="http://schemas.openxmlformats.org/drawingml/2006/main">
            <a:r>
              <a:rPr lang="en-US" sz="1100" b="0">
                <a:solidFill>
                  <a:srgbClr val="2C3E50"/>
                </a:solidFill>
                <a:latin typeface="Courier New"/>
                <a:ea typeface="Courier New"/>
              </a:rPr>
              <a:t>## Day 1 — Energise &amp; Balance</a:t>
            </a:r>
          </a:p>
          <a:p xmlns:a="http://schemas.openxmlformats.org/drawingml/2006/main">
            <a:r>
              <a:rPr lang="en-US" sz="1100" b="0">
                <a:solidFill>
                  <a:srgbClr val="2C3E50"/>
                </a:solidFill>
                <a:latin typeface="Courier New"/>
                <a:ea typeface="Courier New"/>
              </a:rPr>
              <a:t>### Breakfast (400-450 kcal)</a:t>
            </a:r>
          </a:p>
          <a:p xmlns:a="http://schemas.openxmlformats.org/drawingml/2006/main">
            <a:r>
              <a:rPr lang="en-US" sz="1100" b="0">
                <a:solidFill>
                  <a:srgbClr val="2C3E50"/>
                </a:solidFill>
                <a:latin typeface="Courier New"/>
                <a:ea typeface="Courier New"/>
              </a:rPr>
              <a:t>- Oatmeal with berries and chia seeds</a:t>
            </a:r>
          </a:p>
          <a:p xmlns:a="http://schemas.openxmlformats.org/drawingml/2006/main">
            <a:r>
              <a:rPr lang="en-US" sz="1100" b="0">
                <a:solidFill>
                  <a:srgbClr val="2C3E50"/>
                </a:solidFill>
                <a:latin typeface="Courier New"/>
                <a:ea typeface="Courier New"/>
              </a:rPr>
              <a:t>- Paneer scramble | Green tea</a:t>
            </a:r>
          </a:p>
          <a:p xmlns:a="http://schemas.openxmlformats.org/drawingml/2006/main">
            <a:r>
              <a:rPr lang="en-US" sz="1100" b="0">
                <a:solidFill>
                  <a:srgbClr val="2C3E50"/>
                </a:solidFill>
                <a:latin typeface="Courier New"/>
                <a:ea typeface="Courier New"/>
              </a:rPr>
              <a:t/>
            </a:r>
          </a:p>
          <a:p xmlns:a="http://schemas.openxmlformats.org/drawingml/2006/main">
            <a:r>
              <a:rPr lang="en-US" sz="1100" b="0">
                <a:solidFill>
                  <a:srgbClr val="2C3E50"/>
                </a:solidFill>
                <a:latin typeface="Courier New"/>
                <a:ea typeface="Courier New"/>
              </a:rPr>
              <a:t>### Lunch (500-550 kcal)</a:t>
            </a:r>
          </a:p>
          <a:p xmlns:a="http://schemas.openxmlformats.org/drawingml/2006/main">
            <a:r>
              <a:rPr lang="en-US" sz="1100" b="0">
                <a:solidFill>
                  <a:srgbClr val="2C3E50"/>
                </a:solidFill>
                <a:latin typeface="Courier New"/>
                <a:ea typeface="Courier New"/>
              </a:rPr>
              <a:t>- Brown rice (low GI) with lentil curry</a:t>
            </a:r>
          </a:p>
          <a:p xmlns:a="http://schemas.openxmlformats.org/drawingml/2006/main">
            <a:r>
              <a:rPr lang="en-US" sz="1100" b="0">
                <a:solidFill>
                  <a:srgbClr val="2C3E50"/>
                </a:solidFill>
                <a:latin typeface="Courier New"/>
                <a:ea typeface="Courier New"/>
              </a:rPr>
              <a:t>- Mixed salad, olive oil | Buttermilk</a:t>
            </a:r>
          </a:p>
          <a:p xmlns:a="http://schemas.openxmlformats.org/drawingml/2006/main">
            <a:r>
              <a:rPr lang="en-US" sz="1100" b="0">
                <a:solidFill>
                  <a:srgbClr val="2C3E50"/>
                </a:solidFill>
                <a:latin typeface="Courier New"/>
                <a:ea typeface="Courier New"/>
              </a:rPr>
              <a:t/>
            </a:r>
          </a:p>
          <a:p xmlns:a="http://schemas.openxmlformats.org/drawingml/2006/main">
            <a:r>
              <a:rPr lang="en-US" sz="1100" b="0">
                <a:solidFill>
                  <a:srgbClr val="2C3E50"/>
                </a:solidFill>
                <a:latin typeface="Courier New"/>
                <a:ea typeface="Courier New"/>
              </a:rPr>
              <a:t>### Dinner (450-500 kcal)</a:t>
            </a:r>
          </a:p>
          <a:p xmlns:a="http://schemas.openxmlformats.org/drawingml/2006/main">
            <a:r>
              <a:rPr lang="en-US" sz="1100" b="0">
                <a:solidFill>
                  <a:srgbClr val="2C3E50"/>
                </a:solidFill>
                <a:latin typeface="Courier New"/>
                <a:ea typeface="Courier New"/>
              </a:rPr>
              <a:t>- Whole wheat roti (2) with tofu</a:t>
            </a:r>
          </a:p>
          <a:p xmlns:a="http://schemas.openxmlformats.org/drawingml/2006/main">
            <a:r>
              <a:rPr lang="en-US" sz="1100" b="0">
                <a:solidFill>
                  <a:srgbClr val="2C3E50"/>
                </a:solidFill>
                <a:latin typeface="Courier New"/>
                <a:ea typeface="Courier New"/>
              </a:rPr>
              <a:t>- Steamed broccoli | Clear vegetable soup</a:t>
            </a:r>
          </a:p>
        </p:txBody>
      </p:sp>
      <p:sp>
        <p:nvSpPr>
          <p:cNvPr id="100073" name="DisclaimerBox"/>
          <p:cNvSpPr txBox="1"/>
          <p:nvPr/>
        </p:nvSpPr>
        <p:spPr>
          <a:xfrm xmlns:a="http://schemas.openxmlformats.org/drawingml/2006/main">
            <a:off x="540000" y="2520000"/>
            <a:ext cx="10800000" cy="162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EDEC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200" b="0">
                <a:solidFill>
                  <a:srgbClr val="7B241C"/>
                </a:solidFill>
                <a:latin typeface="Calibri"/>
                <a:ea typeface="Calibri"/>
              </a:rPr>
              <a:t>Medical Disclaimer (Auto-appended to every plan)</a:t>
            </a:r>
          </a:p>
          <a:p xmlns:a="http://schemas.openxmlformats.org/drawingml/2006/main">
            <a:r>
              <a:rPr lang="en-US" sz="1200" b="0">
                <a:solidFill>
                  <a:srgbClr val="7B241C"/>
                </a:solidFill>
                <a:latin typeface="Calibri"/>
                <a:ea typeface="Calibri"/>
              </a:rPr>
              <a:t/>
            </a:r>
          </a:p>
          <a:p xmlns:a="http://schemas.openxmlformats.org/drawingml/2006/main">
            <a:r>
              <a:rPr lang="en-US" sz="1200" b="0">
                <a:solidFill>
                  <a:srgbClr val="7B241C"/>
                </a:solidFill>
                <a:latin typeface="Calibri"/>
                <a:ea typeface="Calibri"/>
              </a:rPr>
              <a:t>This nutrition plan is generated by an AI assistant for informational and</a:t>
            </a:r>
          </a:p>
          <a:p xmlns:a="http://schemas.openxmlformats.org/drawingml/2006/main">
            <a:r>
              <a:rPr lang="en-US" sz="1200" b="0">
                <a:solidFill>
                  <a:srgbClr val="7B241C"/>
                </a:solidFill>
                <a:latin typeface="Calibri"/>
                <a:ea typeface="Calibri"/>
              </a:rPr>
              <a:t>educational purposes only. It is NOT a substitute for professional medical</a:t>
            </a:r>
          </a:p>
          <a:p xmlns:a="http://schemas.openxmlformats.org/drawingml/2006/main">
            <a:r>
              <a:rPr lang="en-US" sz="1200" b="0">
                <a:solidFill>
                  <a:srgbClr val="7B241C"/>
                </a:solidFill>
                <a:latin typeface="Calibri"/>
                <a:ea typeface="Calibri"/>
              </a:rPr>
              <a:t>advice, diagnosis, or treatment.</a:t>
            </a:r>
          </a:p>
          <a:p xmlns:a="http://schemas.openxmlformats.org/drawingml/2006/main">
            <a:r>
              <a:rPr lang="en-US" sz="1200" b="0">
                <a:solidFill>
                  <a:srgbClr val="7B241C"/>
                </a:solidFill>
                <a:latin typeface="Calibri"/>
                <a:ea typeface="Calibri"/>
              </a:rPr>
              <a:t/>
            </a:r>
          </a:p>
          <a:p xmlns:a="http://schemas.openxmlformats.org/drawingml/2006/main">
            <a:r>
              <a:rPr lang="en-US" sz="1200" b="0">
                <a:solidFill>
                  <a:srgbClr val="7B241C"/>
                </a:solidFill>
                <a:latin typeface="Calibri"/>
                <a:ea typeface="Calibri"/>
              </a:rPr>
              <a:t>- Consult a qualified nutritionist, dietitian, or physician before changes.</a:t>
            </a:r>
          </a:p>
          <a:p xmlns:a="http://schemas.openxmlformats.org/drawingml/2006/main">
            <a:r>
              <a:rPr lang="en-US" sz="1200" b="0">
                <a:solidFill>
                  <a:srgbClr val="7B241C"/>
                </a:solidFill>
                <a:latin typeface="Calibri"/>
                <a:ea typeface="Calibri"/>
              </a:rPr>
              <a:t>- IBM Granite AI follows ethical AI principles — evidence-based nutrition only.</a:t>
            </a:r>
          </a:p>
          <a:p xmlns:a="http://schemas.openxmlformats.org/drawingml/2006/main">
            <a:r>
              <a:rPr lang="en-US" sz="1200" b="0">
                <a:solidFill>
                  <a:srgbClr val="7B241C"/>
                </a:solidFill>
                <a:latin typeface="Calibri"/>
                <a:ea typeface="Calibri"/>
              </a:rPr>
              <a:t>- Emergency? Contact your local healthcare professional immediately.</a:t>
            </a:r>
          </a:p>
          <a:p xmlns:a="http://schemas.openxmlformats.org/drawingml/2006/main">
            <a:r>
              <a:rPr lang="en-US" sz="1200" b="0">
                <a:solidFill>
                  <a:srgbClr val="7B241C"/>
                </a:solidFill>
                <a:latin typeface="Calibri"/>
                <a:ea typeface="Calibri"/>
              </a:rPr>
              <a:t/>
            </a:r>
          </a:p>
          <a:p xmlns:a="http://schemas.openxmlformats.org/drawingml/2006/main">
            <a:r>
              <a:rPr lang="en-US" sz="1200" b="0">
                <a:solidFill>
                  <a:srgbClr val="7B241C"/>
                </a:solidFill>
                <a:latin typeface="Calibri"/>
                <a:ea typeface="Calibri"/>
              </a:rPr>
              <a:t>Generated by Nutrition Agentic AI powered by IBM Granite | October 13, 2026</a:t>
            </a:r>
          </a:p>
        </p:txBody>
      </p:sp>
    </p:spTree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/>
      <p:sp>
        <p:nvSpPr>
          <p:cNvPr id="100074" name="TopBar"/>
          <p:cNvSpPr txBox="1"/>
          <p:nvPr/>
        </p:nvSpPr>
        <p:spPr>
          <a:xfrm xmlns:a="http://schemas.openxmlformats.org/drawingml/2006/main">
            <a:off x="0" y="0"/>
            <a:ext cx="12193200" cy="50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3D62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>
              <a:solidFill>
                <a:srgbClr val="0A3D62"/>
              </a:solidFill>
            </a:endParaRPr>
          </a:p>
        </p:txBody>
      </p:sp>
      <p:sp>
        <p:nvSpPr>
          <p:cNvPr id="100075" name="SlideTitle"/>
          <p:cNvSpPr txBox="1"/>
          <p:nvPr/>
        </p:nvSpPr>
        <p:spPr>
          <a:xfrm xmlns:a="http://schemas.openxmlformats.org/drawingml/2006/main">
            <a:off x="540000" y="72000"/>
            <a:ext cx="9000000" cy="36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2200" b="1">
                <a:solidFill>
                  <a:srgbClr val="FFFFFF"/>
                </a:solidFill>
                <a:latin typeface="Calibri"/>
                <a:ea typeface="Calibri"/>
              </a:rPr>
              <a:t>7-Day Nutrition Plan — Day-by-Day Content</a:t>
            </a:r>
          </a:p>
        </p:txBody>
      </p:sp>
      <p:sp>
        <p:nvSpPr>
          <p:cNvPr id="100076" name="SlideNum"/>
          <p:cNvSpPr txBox="1"/>
          <p:nvPr/>
        </p:nvSpPr>
        <p:spPr>
          <a:xfrm xmlns:a="http://schemas.openxmlformats.org/drawingml/2006/main">
            <a:off x="10800000" y="72000"/>
            <a:ext cx="1080000" cy="36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2000" b="1">
                <a:solidFill>
                  <a:srgbClr val="2ECC71"/>
                </a:solidFill>
                <a:latin typeface="Calibri"/>
                <a:ea typeface="Calibri"/>
              </a:rPr>
              <a:t>09</a:t>
            </a:r>
          </a:p>
        </p:txBody>
      </p:sp>
      <p:sp>
        <p:nvSpPr>
          <p:cNvPr id="100077" name="D1"/>
          <p:cNvSpPr txBox="1"/>
          <p:nvPr/>
        </p:nvSpPr>
        <p:spPr>
          <a:xfrm xmlns:a="http://schemas.openxmlformats.org/drawingml/2006/main">
            <a:off x="540000" y="684000"/>
            <a:ext cx="1476000" cy="198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5276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100" b="0">
                <a:solidFill>
                  <a:srgbClr val="FFFFFF"/>
                </a:solidFill>
                <a:latin typeface="Calibri"/>
                <a:ea typeface="Calibri"/>
              </a:rPr>
              <a:t>Day 1</a:t>
            </a:r>
          </a:p>
          <a:p xmlns:a="http://schemas.openxmlformats.org/drawingml/2006/main">
            <a:r>
              <a:rPr lang="en-US" sz="1100" b="0">
                <a:solidFill>
                  <a:srgbClr val="FFFFFF"/>
                </a:solidFill>
                <a:latin typeface="Calibri"/>
                <a:ea typeface="Calibri"/>
              </a:rPr>
              <a:t>Energise &amp;</a:t>
            </a:r>
          </a:p>
          <a:p xmlns:a="http://schemas.openxmlformats.org/drawingml/2006/main">
            <a:r>
              <a:rPr lang="en-US" sz="1100" b="0">
                <a:solidFill>
                  <a:srgbClr val="FFFFFF"/>
                </a:solidFill>
                <a:latin typeface="Calibri"/>
                <a:ea typeface="Calibri"/>
              </a:rPr>
              <a:t>Balance</a:t>
            </a:r>
          </a:p>
          <a:p xmlns:a="http://schemas.openxmlformats.org/drawingml/2006/main">
            <a:r>
              <a:rPr lang="en-US" sz="1100" b="0">
                <a:solidFill>
                  <a:srgbClr val="FFFFFF"/>
                </a:solidFill>
                <a:latin typeface="Calibri"/>
                <a:ea typeface="Calibri"/>
              </a:rPr>
              <a:t>Oatmeal + berries</a:t>
            </a:r>
          </a:p>
          <a:p xmlns:a="http://schemas.openxmlformats.org/drawingml/2006/main">
            <a:r>
              <a:rPr lang="en-US" sz="1100" b="0">
                <a:solidFill>
                  <a:srgbClr val="FFFFFF"/>
                </a:solidFill>
                <a:latin typeface="Calibri"/>
                <a:ea typeface="Calibri"/>
              </a:rPr>
              <a:t>Lentil curry</a:t>
            </a:r>
          </a:p>
          <a:p xmlns:a="http://schemas.openxmlformats.org/drawingml/2006/main">
            <a:r>
              <a:rPr lang="en-US" sz="1100" b="0">
                <a:solidFill>
                  <a:srgbClr val="FFFFFF"/>
                </a:solidFill>
                <a:latin typeface="Calibri"/>
                <a:ea typeface="Calibri"/>
              </a:rPr>
              <a:t>Veg soup</a:t>
            </a:r>
          </a:p>
          <a:p xmlns:a="http://schemas.openxmlformats.org/drawingml/2006/main">
            <a:r>
              <a:rPr lang="en-US" sz="1100" b="0">
                <a:solidFill>
                  <a:srgbClr val="FFFFFF"/>
                </a:solidFill>
                <a:latin typeface="Calibri"/>
                <a:ea typeface="Calibri"/>
              </a:rPr>
              <a:t>1,800 kcal</a:t>
            </a:r>
          </a:p>
        </p:txBody>
      </p:sp>
      <p:sp>
        <p:nvSpPr>
          <p:cNvPr id="100078" name="D2"/>
          <p:cNvSpPr txBox="1"/>
          <p:nvPr/>
        </p:nvSpPr>
        <p:spPr>
          <a:xfrm xmlns:a="http://schemas.openxmlformats.org/drawingml/2006/main">
            <a:off x="2088000" y="684000"/>
            <a:ext cx="1476000" cy="198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7A65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100" b="0">
                <a:solidFill>
                  <a:srgbClr val="FFFFFF"/>
                </a:solidFill>
                <a:latin typeface="Calibri"/>
                <a:ea typeface="Calibri"/>
              </a:rPr>
              <a:t>Day 2</a:t>
            </a:r>
          </a:p>
          <a:p xmlns:a="http://schemas.openxmlformats.org/drawingml/2006/main">
            <a:r>
              <a:rPr lang="en-US" sz="1100" b="0">
                <a:solidFill>
                  <a:srgbClr val="FFFFFF"/>
                </a:solidFill>
                <a:latin typeface="Calibri"/>
                <a:ea typeface="Calibri"/>
              </a:rPr>
              <a:t>Protein</a:t>
            </a:r>
          </a:p>
          <a:p xmlns:a="http://schemas.openxmlformats.org/drawingml/2006/main">
            <a:r>
              <a:rPr lang="en-US" sz="1100" b="0">
                <a:solidFill>
                  <a:srgbClr val="FFFFFF"/>
                </a:solidFill>
                <a:latin typeface="Calibri"/>
                <a:ea typeface="Calibri"/>
              </a:rPr>
              <a:t>Power</a:t>
            </a:r>
          </a:p>
          <a:p xmlns:a="http://schemas.openxmlformats.org/drawingml/2006/main">
            <a:r>
              <a:rPr lang="en-US" sz="1100" b="0">
                <a:solidFill>
                  <a:srgbClr val="FFFFFF"/>
                </a:solidFill>
                <a:latin typeface="Calibri"/>
                <a:ea typeface="Calibri"/>
              </a:rPr>
              <a:t>Toast + avocado</a:t>
            </a:r>
          </a:p>
          <a:p xmlns:a="http://schemas.openxmlformats.org/drawingml/2006/main">
            <a:r>
              <a:rPr lang="en-US" sz="1100" b="0">
                <a:solidFill>
                  <a:srgbClr val="FFFFFF"/>
                </a:solidFill>
                <a:latin typeface="Calibri"/>
                <a:ea typeface="Calibri"/>
              </a:rPr>
              <a:t>Quinoa bowl</a:t>
            </a:r>
          </a:p>
          <a:p xmlns:a="http://schemas.openxmlformats.org/drawingml/2006/main">
            <a:r>
              <a:rPr lang="en-US" sz="1100" b="0">
                <a:solidFill>
                  <a:srgbClr val="FFFFFF"/>
                </a:solidFill>
                <a:latin typeface="Calibri"/>
                <a:ea typeface="Calibri"/>
              </a:rPr>
              <a:t>Baked lentils</a:t>
            </a:r>
          </a:p>
          <a:p xmlns:a="http://schemas.openxmlformats.org/drawingml/2006/main">
            <a:r>
              <a:rPr lang="en-US" sz="1100" b="0">
                <a:solidFill>
                  <a:srgbClr val="FFFFFF"/>
                </a:solidFill>
                <a:latin typeface="Calibri"/>
                <a:ea typeface="Calibri"/>
              </a:rPr>
              <a:t>1,850 kcal</a:t>
            </a:r>
          </a:p>
        </p:txBody>
      </p:sp>
      <p:sp>
        <p:nvSpPr>
          <p:cNvPr id="100079" name="D3"/>
          <p:cNvSpPr txBox="1"/>
          <p:nvPr/>
        </p:nvSpPr>
        <p:spPr>
          <a:xfrm xmlns:a="http://schemas.openxmlformats.org/drawingml/2006/main">
            <a:off x="3636000" y="684000"/>
            <a:ext cx="1476000" cy="198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84212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100" b="0">
                <a:solidFill>
                  <a:srgbClr val="FFFFFF"/>
                </a:solidFill>
                <a:latin typeface="Calibri"/>
                <a:ea typeface="Calibri"/>
              </a:rPr>
              <a:t>Day 3</a:t>
            </a:r>
          </a:p>
          <a:p xmlns:a="http://schemas.openxmlformats.org/drawingml/2006/main">
            <a:r>
              <a:rPr lang="en-US" sz="1100" b="0">
                <a:solidFill>
                  <a:srgbClr val="FFFFFF"/>
                </a:solidFill>
                <a:latin typeface="Calibri"/>
                <a:ea typeface="Calibri"/>
              </a:rPr>
              <a:t>Heart</a:t>
            </a:r>
          </a:p>
          <a:p xmlns:a="http://schemas.openxmlformats.org/drawingml/2006/main">
            <a:r>
              <a:rPr lang="en-US" sz="1100" b="0">
                <a:solidFill>
                  <a:srgbClr val="FFFFFF"/>
                </a:solidFill>
                <a:latin typeface="Calibri"/>
                <a:ea typeface="Calibri"/>
              </a:rPr>
              <a:t>Healthy</a:t>
            </a:r>
          </a:p>
          <a:p xmlns:a="http://schemas.openxmlformats.org/drawingml/2006/main">
            <a:r>
              <a:rPr lang="en-US" sz="1100" b="0">
                <a:solidFill>
                  <a:srgbClr val="FFFFFF"/>
                </a:solidFill>
                <a:latin typeface="Calibri"/>
                <a:ea typeface="Calibri"/>
              </a:rPr>
              <a:t>Smoothie bowl</a:t>
            </a:r>
          </a:p>
          <a:p xmlns:a="http://schemas.openxmlformats.org/drawingml/2006/main">
            <a:r>
              <a:rPr lang="en-US" sz="1100" b="0">
                <a:solidFill>
                  <a:srgbClr val="FFFFFF"/>
                </a:solidFill>
                <a:latin typeface="Calibri"/>
                <a:ea typeface="Calibri"/>
              </a:rPr>
              <a:t>Fish + sweet potato</a:t>
            </a:r>
          </a:p>
          <a:p xmlns:a="http://schemas.openxmlformats.org/drawingml/2006/main">
            <a:r>
              <a:rPr lang="en-US" sz="1100" b="0">
                <a:solidFill>
                  <a:srgbClr val="FFFFFF"/>
                </a:solidFill>
                <a:latin typeface="Calibri"/>
                <a:ea typeface="Calibri"/>
              </a:rPr>
              <a:t>Lentil soup</a:t>
            </a:r>
          </a:p>
          <a:p xmlns:a="http://schemas.openxmlformats.org/drawingml/2006/main">
            <a:r>
              <a:rPr lang="en-US" sz="1100" b="0">
                <a:solidFill>
                  <a:srgbClr val="FFFFFF"/>
                </a:solidFill>
                <a:latin typeface="Calibri"/>
                <a:ea typeface="Calibri"/>
              </a:rPr>
              <a:t>1,820 kcal</a:t>
            </a:r>
          </a:p>
        </p:txBody>
      </p:sp>
      <p:sp>
        <p:nvSpPr>
          <p:cNvPr id="100080" name="D4"/>
          <p:cNvSpPr txBox="1"/>
          <p:nvPr/>
        </p:nvSpPr>
        <p:spPr>
          <a:xfrm xmlns:a="http://schemas.openxmlformats.org/drawingml/2006/main">
            <a:off x="5184000" y="684000"/>
            <a:ext cx="1476000" cy="198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12E5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100" b="0">
                <a:solidFill>
                  <a:srgbClr val="FFFFFF"/>
                </a:solidFill>
                <a:latin typeface="Calibri"/>
                <a:ea typeface="Calibri"/>
              </a:rPr>
              <a:t>Day 4</a:t>
            </a:r>
          </a:p>
          <a:p xmlns:a="http://schemas.openxmlformats.org/drawingml/2006/main">
            <a:r>
              <a:rPr lang="en-US" sz="1100" b="0">
                <a:solidFill>
                  <a:srgbClr val="FFFFFF"/>
                </a:solidFill>
                <a:latin typeface="Calibri"/>
                <a:ea typeface="Calibri"/>
              </a:rPr>
              <a:t>Midweek</a:t>
            </a:r>
          </a:p>
          <a:p xmlns:a="http://schemas.openxmlformats.org/drawingml/2006/main">
            <a:r>
              <a:rPr lang="en-US" sz="1100" b="0">
                <a:solidFill>
                  <a:srgbClr val="FFFFFF"/>
                </a:solidFill>
                <a:latin typeface="Calibri"/>
                <a:ea typeface="Calibri"/>
              </a:rPr>
              <a:t>Recharge</a:t>
            </a:r>
          </a:p>
          <a:p xmlns:a="http://schemas.openxmlformats.org/drawingml/2006/main">
            <a:r>
              <a:rPr lang="en-US" sz="1100" b="0">
                <a:solidFill>
                  <a:srgbClr val="FFFFFF"/>
                </a:solidFill>
                <a:latin typeface="Calibri"/>
                <a:ea typeface="Calibri"/>
              </a:rPr>
              <a:t>Veg omelette</a:t>
            </a:r>
          </a:p>
          <a:p xmlns:a="http://schemas.openxmlformats.org/drawingml/2006/main">
            <a:r>
              <a:rPr lang="en-US" sz="1100" b="0">
                <a:solidFill>
                  <a:srgbClr val="FFFFFF"/>
                </a:solidFill>
                <a:latin typeface="Calibri"/>
                <a:ea typeface="Calibri"/>
              </a:rPr>
              <a:t>Stir-fry + rice</a:t>
            </a:r>
          </a:p>
          <a:p xmlns:a="http://schemas.openxmlformats.org/drawingml/2006/main">
            <a:r>
              <a:rPr lang="en-US" sz="1100" b="0">
                <a:solidFill>
                  <a:srgbClr val="FFFFFF"/>
                </a:solidFill>
                <a:latin typeface="Calibri"/>
                <a:ea typeface="Calibri"/>
              </a:rPr>
              <a:t>Baked protein</a:t>
            </a:r>
          </a:p>
          <a:p xmlns:a="http://schemas.openxmlformats.org/drawingml/2006/main">
            <a:r>
              <a:rPr lang="en-US" sz="1100" b="0">
                <a:solidFill>
                  <a:srgbClr val="FFFFFF"/>
                </a:solidFill>
                <a:latin typeface="Calibri"/>
                <a:ea typeface="Calibri"/>
              </a:rPr>
              <a:t>1,800 kcal</a:t>
            </a:r>
          </a:p>
        </p:txBody>
      </p:sp>
      <p:sp>
        <p:nvSpPr>
          <p:cNvPr id="100081" name="D5"/>
          <p:cNvSpPr txBox="1"/>
          <p:nvPr/>
        </p:nvSpPr>
        <p:spPr>
          <a:xfrm xmlns:a="http://schemas.openxmlformats.org/drawingml/2006/main">
            <a:off x="6732000" y="684000"/>
            <a:ext cx="1476000" cy="198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6655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100" b="0">
                <a:solidFill>
                  <a:srgbClr val="FFFFFF"/>
                </a:solidFill>
                <a:latin typeface="Calibri"/>
                <a:ea typeface="Calibri"/>
              </a:rPr>
              <a:t>Day 5</a:t>
            </a:r>
          </a:p>
          <a:p xmlns:a="http://schemas.openxmlformats.org/drawingml/2006/main">
            <a:r>
              <a:rPr lang="en-US" sz="1100" b="0">
                <a:solidFill>
                  <a:srgbClr val="FFFFFF"/>
                </a:solidFill>
                <a:latin typeface="Calibri"/>
                <a:ea typeface="Calibri"/>
              </a:rPr>
              <a:t>Fibre &amp;</a:t>
            </a:r>
          </a:p>
          <a:p xmlns:a="http://schemas.openxmlformats.org/drawingml/2006/main">
            <a:r>
              <a:rPr lang="en-US" sz="1100" b="0">
                <a:solidFill>
                  <a:srgbClr val="FFFFFF"/>
                </a:solidFill>
                <a:latin typeface="Calibri"/>
                <a:ea typeface="Calibri"/>
              </a:rPr>
              <a:t>Gut Health</a:t>
            </a:r>
          </a:p>
          <a:p xmlns:a="http://schemas.openxmlformats.org/drawingml/2006/main">
            <a:r>
              <a:rPr lang="en-US" sz="1100" b="0">
                <a:solidFill>
                  <a:srgbClr val="FFFFFF"/>
                </a:solidFill>
                <a:latin typeface="Calibri"/>
                <a:ea typeface="Calibri"/>
              </a:rPr>
              <a:t>Overnight oats</a:t>
            </a:r>
          </a:p>
          <a:p xmlns:a="http://schemas.openxmlformats.org/drawingml/2006/main">
            <a:r>
              <a:rPr lang="en-US" sz="1100" b="0">
                <a:solidFill>
                  <a:srgbClr val="FFFFFF"/>
                </a:solidFill>
                <a:latin typeface="Calibri"/>
                <a:ea typeface="Calibri"/>
              </a:rPr>
              <a:t>Chickpea soup</a:t>
            </a:r>
          </a:p>
          <a:p xmlns:a="http://schemas.openxmlformats.org/drawingml/2006/main">
            <a:r>
              <a:rPr lang="en-US" sz="1100" b="0">
                <a:solidFill>
                  <a:srgbClr val="FFFFFF"/>
                </a:solidFill>
                <a:latin typeface="Calibri"/>
                <a:ea typeface="Calibri"/>
              </a:rPr>
              <a:t>Cauliflower rice</a:t>
            </a:r>
          </a:p>
          <a:p xmlns:a="http://schemas.openxmlformats.org/drawingml/2006/main">
            <a:r>
              <a:rPr lang="en-US" sz="1100" b="0">
                <a:solidFill>
                  <a:srgbClr val="FFFFFF"/>
                </a:solidFill>
                <a:latin typeface="Calibri"/>
                <a:ea typeface="Calibri"/>
              </a:rPr>
              <a:t>1,780 kcal</a:t>
            </a:r>
          </a:p>
        </p:txBody>
      </p:sp>
      <p:sp>
        <p:nvSpPr>
          <p:cNvPr id="100082" name="D6"/>
          <p:cNvSpPr txBox="1"/>
          <p:nvPr/>
        </p:nvSpPr>
        <p:spPr>
          <a:xfrm xmlns:a="http://schemas.openxmlformats.org/drawingml/2006/main">
            <a:off x="8280000" y="684000"/>
            <a:ext cx="1476000" cy="198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22B21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100" b="0">
                <a:solidFill>
                  <a:srgbClr val="FFFFFF"/>
                </a:solidFill>
                <a:latin typeface="Calibri"/>
                <a:ea typeface="Calibri"/>
              </a:rPr>
              <a:t>Day 6</a:t>
            </a:r>
          </a:p>
          <a:p xmlns:a="http://schemas.openxmlformats.org/drawingml/2006/main">
            <a:r>
              <a:rPr lang="en-US" sz="1100" b="0">
                <a:solidFill>
                  <a:srgbClr val="FFFFFF"/>
                </a:solidFill>
                <a:latin typeface="Calibri"/>
                <a:ea typeface="Calibri"/>
              </a:rPr>
              <a:t>Weekend</a:t>
            </a:r>
          </a:p>
          <a:p xmlns:a="http://schemas.openxmlformats.org/drawingml/2006/main">
            <a:r>
              <a:rPr lang="en-US" sz="1100" b="0">
                <a:solidFill>
                  <a:srgbClr val="FFFFFF"/>
                </a:solidFill>
                <a:latin typeface="Calibri"/>
                <a:ea typeface="Calibri"/>
              </a:rPr>
              <a:t>Wellness</a:t>
            </a:r>
          </a:p>
          <a:p xmlns:a="http://schemas.openxmlformats.org/drawingml/2006/main">
            <a:r>
              <a:rPr lang="en-US" sz="1100" b="0">
                <a:solidFill>
                  <a:srgbClr val="FFFFFF"/>
                </a:solidFill>
                <a:latin typeface="Calibri"/>
                <a:ea typeface="Calibri"/>
              </a:rPr>
              <a:t>Whole grain</a:t>
            </a:r>
          </a:p>
          <a:p xmlns:a="http://schemas.openxmlformats.org/drawingml/2006/main">
            <a:r>
              <a:rPr lang="en-US" sz="1100" b="0">
                <a:solidFill>
                  <a:srgbClr val="FFFFFF"/>
                </a:solidFill>
                <a:latin typeface="Calibri"/>
                <a:ea typeface="Calibri"/>
              </a:rPr>
              <a:t>pancakes</a:t>
            </a:r>
          </a:p>
          <a:p xmlns:a="http://schemas.openxmlformats.org/drawingml/2006/main">
            <a:r>
              <a:rPr lang="en-US" sz="1100" b="0">
                <a:solidFill>
                  <a:srgbClr val="FFFFFF"/>
                </a:solidFill>
                <a:latin typeface="Calibri"/>
                <a:ea typeface="Calibri"/>
              </a:rPr>
              <a:t>Buddha bowl</a:t>
            </a:r>
          </a:p>
          <a:p xmlns:a="http://schemas.openxmlformats.org/drawingml/2006/main">
            <a:r>
              <a:rPr lang="en-US" sz="1100" b="0">
                <a:solidFill>
                  <a:srgbClr val="FFFFFF"/>
                </a:solidFill>
                <a:latin typeface="Calibri"/>
                <a:ea typeface="Calibri"/>
              </a:rPr>
              <a:t>1,900 kcal</a:t>
            </a:r>
          </a:p>
        </p:txBody>
      </p:sp>
      <p:sp>
        <p:nvSpPr>
          <p:cNvPr id="100083" name="D7"/>
          <p:cNvSpPr txBox="1"/>
          <p:nvPr/>
        </p:nvSpPr>
        <p:spPr>
          <a:xfrm xmlns:a="http://schemas.openxmlformats.org/drawingml/2006/main">
            <a:off x="9828000" y="684000"/>
            <a:ext cx="1512000" cy="198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3A5C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100" b="0">
                <a:solidFill>
                  <a:srgbClr val="FFFFFF"/>
                </a:solidFill>
                <a:latin typeface="Calibri"/>
                <a:ea typeface="Calibri"/>
              </a:rPr>
              <a:t>Day 7</a:t>
            </a:r>
          </a:p>
          <a:p xmlns:a="http://schemas.openxmlformats.org/drawingml/2006/main">
            <a:r>
              <a:rPr lang="en-US" sz="1100" b="0">
                <a:solidFill>
                  <a:srgbClr val="FFFFFF"/>
                </a:solidFill>
                <a:latin typeface="Calibri"/>
                <a:ea typeface="Calibri"/>
              </a:rPr>
              <a:t>Rest &amp;</a:t>
            </a:r>
          </a:p>
          <a:p xmlns:a="http://schemas.openxmlformats.org/drawingml/2006/main">
            <a:r>
              <a:rPr lang="en-US" sz="1100" b="0">
                <a:solidFill>
                  <a:srgbClr val="FFFFFF"/>
                </a:solidFill>
                <a:latin typeface="Calibri"/>
                <a:ea typeface="Calibri"/>
              </a:rPr>
              <a:t>Restore</a:t>
            </a:r>
          </a:p>
          <a:p xmlns:a="http://schemas.openxmlformats.org/drawingml/2006/main">
            <a:r>
              <a:rPr lang="en-US" sz="1100" b="0">
                <a:solidFill>
                  <a:srgbClr val="FFFFFF"/>
                </a:solidFill>
                <a:latin typeface="Calibri"/>
                <a:ea typeface="Calibri"/>
              </a:rPr>
              <a:t>Warm porridge</a:t>
            </a:r>
          </a:p>
          <a:p xmlns:a="http://schemas.openxmlformats.org/drawingml/2006/main">
            <a:r>
              <a:rPr lang="en-US" sz="1100" b="0">
                <a:solidFill>
                  <a:srgbClr val="FFFFFF"/>
                </a:solidFill>
                <a:latin typeface="Calibri"/>
                <a:ea typeface="Calibri"/>
              </a:rPr>
              <a:t>Veg minestrone</a:t>
            </a:r>
          </a:p>
          <a:p xmlns:a="http://schemas.openxmlformats.org/drawingml/2006/main">
            <a:r>
              <a:rPr lang="en-US" sz="1100" b="0">
                <a:solidFill>
                  <a:srgbClr val="FFFFFF"/>
                </a:solidFill>
                <a:latin typeface="Calibri"/>
                <a:ea typeface="Calibri"/>
              </a:rPr>
              <a:t>Casserole</a:t>
            </a:r>
          </a:p>
          <a:p xmlns:a="http://schemas.openxmlformats.org/drawingml/2006/main">
            <a:r>
              <a:rPr lang="en-US" sz="1100" b="0">
                <a:solidFill>
                  <a:srgbClr val="FFFFFF"/>
                </a:solidFill>
                <a:latin typeface="Calibri"/>
                <a:ea typeface="Calibri"/>
              </a:rPr>
              <a:t>1,750 kcal</a:t>
            </a:r>
          </a:p>
        </p:txBody>
      </p:sp>
      <p:sp>
        <p:nvSpPr>
          <p:cNvPr id="100084" name="MacroTable"/>
          <p:cNvSpPr txBox="1"/>
          <p:nvPr/>
        </p:nvSpPr>
        <p:spPr>
          <a:xfrm xmlns:a="http://schemas.openxmlformats.org/drawingml/2006/main">
            <a:off x="540000" y="2808000"/>
            <a:ext cx="10800000" cy="136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BF5FB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200" b="0">
                <a:solidFill>
                  <a:srgbClr val="2C3E50"/>
                </a:solidFill>
                <a:latin typeface="Calibri"/>
                <a:ea typeface="Calibri"/>
              </a:rPr>
              <a:t>Nutrient  |  Daily Target  |  Note</a:t>
            </a:r>
          </a:p>
          <a:p xmlns:a="http://schemas.openxmlformats.org/drawingml/2006/main">
            <a:r>
              <a:rPr lang="en-US" sz="1200" b="0">
                <a:solidFill>
                  <a:srgbClr val="2C3E50"/>
                </a:solidFill>
                <a:latin typeface="Calibri"/>
                <a:ea typeface="Calibri"/>
              </a:rPr>
              <a:t>Calories  |  1,600-1,800 kcal  |  Adjusted for diabetes</a:t>
            </a:r>
          </a:p>
          <a:p xmlns:a="http://schemas.openxmlformats.org/drawingml/2006/main">
            <a:r>
              <a:rPr lang="en-US" sz="1200" b="0">
                <a:solidFill>
                  <a:srgbClr val="2C3E50"/>
                </a:solidFill>
                <a:latin typeface="Calibri"/>
                <a:ea typeface="Calibri"/>
              </a:rPr>
              <a:t>Protein  |  60-80g  |  Plant-based sources</a:t>
            </a:r>
          </a:p>
          <a:p xmlns:a="http://schemas.openxmlformats.org/drawingml/2006/main">
            <a:r>
              <a:rPr lang="en-US" sz="1200" b="0">
                <a:solidFill>
                  <a:srgbClr val="2C3E50"/>
                </a:solidFill>
                <a:latin typeface="Calibri"/>
                <a:ea typeface="Calibri"/>
              </a:rPr>
              <a:t>Carbs  |  150-180g (Low GI)  |  No refined sugars</a:t>
            </a:r>
          </a:p>
          <a:p xmlns:a="http://schemas.openxmlformats.org/drawingml/2006/main">
            <a:r>
              <a:rPr lang="en-US" sz="1200" b="0">
                <a:solidFill>
                  <a:srgbClr val="2C3E50"/>
                </a:solidFill>
                <a:latin typeface="Calibri"/>
                <a:ea typeface="Calibri"/>
              </a:rPr>
              <a:t>Fats  |  40-50g  |  Healthy fats only</a:t>
            </a:r>
          </a:p>
          <a:p xmlns:a="http://schemas.openxmlformats.org/drawingml/2006/main">
            <a:r>
              <a:rPr lang="en-US" sz="1200" b="0">
                <a:solidFill>
                  <a:srgbClr val="2C3E50"/>
                </a:solidFill>
                <a:latin typeface="Calibri"/>
                <a:ea typeface="Calibri"/>
              </a:rPr>
              <a:t>Fibre  |  25-35g  |  Supports digestion</a:t>
            </a:r>
          </a:p>
          <a:p xmlns:a="http://schemas.openxmlformats.org/drawingml/2006/main">
            <a:r>
              <a:rPr lang="en-US" sz="1200" b="0">
                <a:solidFill>
                  <a:srgbClr val="2C3E50"/>
                </a:solidFill>
                <a:latin typeface="Calibri"/>
                <a:ea typeface="Calibri"/>
              </a:rPr>
              <a:t>Sodium  |  &lt;1,500mg  |  Low sodium (BP)</a:t>
            </a:r>
          </a:p>
          <a:p xmlns:a="http://schemas.openxmlformats.org/drawingml/2006/main">
            <a:r>
              <a:rPr lang="en-US" sz="1200" b="0">
                <a:solidFill>
                  <a:srgbClr val="2C3E50"/>
                </a:solidFill>
                <a:latin typeface="Calibri"/>
                <a:ea typeface="Calibri"/>
              </a:rPr>
              <a:t>Water  |  8-10 glasses  |  2-2.5 litres daily</a:t>
            </a:r>
          </a:p>
        </p:txBody>
      </p:sp>
    </p:spTree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/>
      <p:sp>
        <p:nvSpPr>
          <p:cNvPr id="100085" name="TopBar"/>
          <p:cNvSpPr txBox="1"/>
          <p:nvPr/>
        </p:nvSpPr>
        <p:spPr>
          <a:xfrm xmlns:a="http://schemas.openxmlformats.org/drawingml/2006/main">
            <a:off x="0" y="0"/>
            <a:ext cx="12193200" cy="50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3D62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>
              <a:solidFill>
                <a:srgbClr val="0A3D62"/>
              </a:solidFill>
            </a:endParaRPr>
          </a:p>
        </p:txBody>
      </p:sp>
      <p:sp>
        <p:nvSpPr>
          <p:cNvPr id="100086" name="SlideTitle"/>
          <p:cNvSpPr txBox="1"/>
          <p:nvPr/>
        </p:nvSpPr>
        <p:spPr>
          <a:xfrm xmlns:a="http://schemas.openxmlformats.org/drawingml/2006/main">
            <a:off x="540000" y="72000"/>
            <a:ext cx="9000000" cy="36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2200" b="1">
                <a:solidFill>
                  <a:srgbClr val="FFFFFF"/>
                </a:solidFill>
                <a:latin typeface="Calibri"/>
                <a:ea typeface="Calibri"/>
              </a:rPr>
              <a:t>Ethical AI &amp; Guardrails — HAM Principles</a:t>
            </a:r>
          </a:p>
        </p:txBody>
      </p:sp>
      <p:sp>
        <p:nvSpPr>
          <p:cNvPr id="100087" name="SlideNum"/>
          <p:cNvSpPr txBox="1"/>
          <p:nvPr/>
        </p:nvSpPr>
        <p:spPr>
          <a:xfrm xmlns:a="http://schemas.openxmlformats.org/drawingml/2006/main">
            <a:off x="10800000" y="72000"/>
            <a:ext cx="1080000" cy="36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2000" b="1">
                <a:solidFill>
                  <a:srgbClr val="2ECC71"/>
                </a:solidFill>
                <a:latin typeface="Calibri"/>
                <a:ea typeface="Calibri"/>
              </a:rPr>
              <a:t>10</a:t>
            </a:r>
          </a:p>
        </p:txBody>
      </p:sp>
      <p:sp>
        <p:nvSpPr>
          <p:cNvPr id="100088" name="HelpfulBox"/>
          <p:cNvSpPr txBox="1"/>
          <p:nvPr/>
        </p:nvSpPr>
        <p:spPr>
          <a:xfrm xmlns:a="http://schemas.openxmlformats.org/drawingml/2006/main">
            <a:off x="540000" y="720000"/>
            <a:ext cx="3240000" cy="144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7A65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300" b="0">
                <a:solidFill>
                  <a:srgbClr val="FFFFFF"/>
                </a:solidFill>
                <a:latin typeface="Calibri"/>
                <a:ea typeface="Calibri"/>
              </a:rPr>
              <a:t>H — Helpful</a:t>
            </a:r>
          </a:p>
          <a:p xmlns:a="http://schemas.openxmlformats.org/drawingml/2006/main">
            <a:r>
              <a:rPr lang="en-US" sz="1300" b="0">
                <a:solidFill>
                  <a:srgbClr val="FFFFFF"/>
                </a:solidFill>
                <a:latin typeface="Calibri"/>
                <a:ea typeface="Calibri"/>
              </a:rPr>
              <a:t/>
            </a:r>
          </a:p>
          <a:p xmlns:a="http://schemas.openxmlformats.org/drawingml/2006/main">
            <a:r>
              <a:rPr lang="en-US" sz="1300" b="0">
                <a:solidFill>
                  <a:srgbClr val="FFFFFF"/>
                </a:solidFill>
                <a:latin typeface="Calibri"/>
                <a:ea typeface="Calibri"/>
              </a:rPr>
              <a:t>Provides evidence-based, personalised nutrition guidance tailored to each user's profile, medical history, and cultural context.</a:t>
            </a:r>
          </a:p>
        </p:txBody>
      </p:sp>
      <p:sp>
        <p:nvSpPr>
          <p:cNvPr id="100089" name="AccurateBox"/>
          <p:cNvSpPr txBox="1"/>
          <p:nvPr/>
        </p:nvSpPr>
        <p:spPr>
          <a:xfrm xmlns:a="http://schemas.openxmlformats.org/drawingml/2006/main">
            <a:off x="4140000" y="720000"/>
            <a:ext cx="3240000" cy="144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5276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300" b="0">
                <a:solidFill>
                  <a:srgbClr val="FFFFFF"/>
                </a:solidFill>
                <a:latin typeface="Calibri"/>
                <a:ea typeface="Calibri"/>
              </a:rPr>
              <a:t>A — Accurate &amp; Honest</a:t>
            </a:r>
          </a:p>
          <a:p xmlns:a="http://schemas.openxmlformats.org/drawingml/2006/main">
            <a:r>
              <a:rPr lang="en-US" sz="1300" b="0">
                <a:solidFill>
                  <a:srgbClr val="FFFFFF"/>
                </a:solidFill>
                <a:latin typeface="Calibri"/>
                <a:ea typeface="Calibri"/>
              </a:rPr>
              <a:t/>
            </a:r>
          </a:p>
          <a:p xmlns:a="http://schemas.openxmlformats.org/drawingml/2006/main">
            <a:r>
              <a:rPr lang="en-US" sz="1300" b="0">
                <a:solidFill>
                  <a:srgbClr val="FFFFFF"/>
                </a:solidFill>
                <a:latin typeface="Calibri"/>
                <a:ea typeface="Calibri"/>
              </a:rPr>
              <a:t>Transparent about AI-generated content and its limitations. Clear medical disclaimer on every plan. No false claims.</a:t>
            </a:r>
          </a:p>
        </p:txBody>
      </p:sp>
      <p:sp>
        <p:nvSpPr>
          <p:cNvPr id="100090" name="MindfulBox"/>
          <p:cNvSpPr txBox="1"/>
          <p:nvPr/>
        </p:nvSpPr>
        <p:spPr>
          <a:xfrm xmlns:a="http://schemas.openxmlformats.org/drawingml/2006/main">
            <a:off x="7740000" y="720000"/>
            <a:ext cx="3600000" cy="144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84212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300" b="0">
                <a:solidFill>
                  <a:srgbClr val="FFFFFF"/>
                </a:solidFill>
                <a:latin typeface="Calibri"/>
                <a:ea typeface="Calibri"/>
              </a:rPr>
              <a:t>M — Mindful</a:t>
            </a:r>
          </a:p>
          <a:p xmlns:a="http://schemas.openxmlformats.org/drawingml/2006/main">
            <a:r>
              <a:rPr lang="en-US" sz="1300" b="0">
                <a:solidFill>
                  <a:srgbClr val="FFFFFF"/>
                </a:solidFill>
                <a:latin typeface="Calibri"/>
                <a:ea typeface="Calibri"/>
              </a:rPr>
              <a:t/>
            </a:r>
          </a:p>
          <a:p xmlns:a="http://schemas.openxmlformats.org/drawingml/2006/main">
            <a:r>
              <a:rPr lang="en-US" sz="1300" b="0">
                <a:solidFill>
                  <a:srgbClr val="FFFFFF"/>
                </a:solidFill>
                <a:latin typeface="Calibri"/>
                <a:ea typeface="Calibri"/>
              </a:rPr>
              <a:t>Respects medical boundaries. Recommends professional consultation. Avoids harmful diet advice, extreme weight-loss methods, or unsupervised supplement use.</a:t>
            </a:r>
          </a:p>
        </p:txBody>
      </p:sp>
      <p:sp>
        <p:nvSpPr>
          <p:cNvPr id="100091" name="GuardTitle"/>
          <p:cNvSpPr txBox="1"/>
          <p:nvPr/>
        </p:nvSpPr>
        <p:spPr>
          <a:xfrm xmlns:a="http://schemas.openxmlformats.org/drawingml/2006/main">
            <a:off x="540000" y="2340000"/>
            <a:ext cx="10800000" cy="252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600" b="1">
                <a:solidFill>
                  <a:srgbClr val="0A3D62"/>
                </a:solidFill>
                <a:latin typeface="Calibri"/>
                <a:ea typeface="Calibri"/>
              </a:rPr>
              <a:t>Guardrail Protections</a:t>
            </a:r>
          </a:p>
        </p:txBody>
      </p:sp>
      <p:sp>
        <p:nvSpPr>
          <p:cNvPr id="100092" name="G1"/>
          <p:cNvSpPr txBox="1"/>
          <p:nvPr/>
        </p:nvSpPr>
        <p:spPr>
          <a:xfrm xmlns:a="http://schemas.openxmlformats.org/drawingml/2006/main">
            <a:off x="540000" y="2664000"/>
            <a:ext cx="5220000" cy="100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EDEC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200" b="0">
                <a:solidFill>
                  <a:srgbClr val="2C3E50"/>
                </a:solidFill>
                <a:latin typeface="Calibri"/>
                <a:ea typeface="Calibri"/>
              </a:rPr>
              <a:t>Input Screening</a:t>
            </a:r>
          </a:p>
          <a:p xmlns:a="http://schemas.openxmlformats.org/drawingml/2006/main">
            <a:r>
              <a:rPr lang="en-US" sz="1200" b="0">
                <a:solidFill>
                  <a:srgbClr val="2C3E50"/>
                </a:solidFill>
                <a:latin typeface="Calibri"/>
                <a:ea typeface="Calibri"/>
              </a:rPr>
              <a:t>Harmful keywords blocked before reaching LLM:</a:t>
            </a:r>
          </a:p>
          <a:p xmlns:a="http://schemas.openxmlformats.org/drawingml/2006/main">
            <a:r>
              <a:rPr lang="en-US" sz="1200" b="0">
                <a:solidFill>
                  <a:srgbClr val="2C3E50"/>
                </a:solidFill>
                <a:latin typeface="Calibri"/>
                <a:ea typeface="Calibri"/>
              </a:rPr>
              <a:t>starve, crash diet, overdose, extreme diet, no food, laxative abuse, suicide, self-harm</a:t>
            </a:r>
          </a:p>
        </p:txBody>
      </p:sp>
      <p:sp>
        <p:nvSpPr>
          <p:cNvPr id="100093" name="G2"/>
          <p:cNvSpPr txBox="1"/>
          <p:nvPr/>
        </p:nvSpPr>
        <p:spPr>
          <a:xfrm xmlns:a="http://schemas.openxmlformats.org/drawingml/2006/main">
            <a:off x="6120000" y="2664000"/>
            <a:ext cx="5220000" cy="100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BF5FB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200" b="0">
                <a:solidFill>
                  <a:srgbClr val="2C3E50"/>
                </a:solidFill>
                <a:latin typeface="Calibri"/>
                <a:ea typeface="Calibri"/>
              </a:rPr>
              <a:t>Output Screening</a:t>
            </a:r>
          </a:p>
          <a:p xmlns:a="http://schemas.openxmlformats.org/drawingml/2006/main">
            <a:r>
              <a:rPr lang="en-US" sz="1200" b="0">
                <a:solidFill>
                  <a:srgbClr val="2C3E50"/>
                </a:solidFill>
                <a:latin typeface="Calibri"/>
                <a:ea typeface="Calibri"/>
              </a:rPr>
              <a:t>All AI-generated content screened before delivery. If harmful content detected, fallback engine is used. Output is never served unfiltered.</a:t>
            </a:r>
          </a:p>
        </p:txBody>
      </p:sp>
      <p:sp>
        <p:nvSpPr>
          <p:cNvPr id="100094" name="MedNote"/>
          <p:cNvSpPr txBox="1"/>
          <p:nvPr/>
        </p:nvSpPr>
        <p:spPr>
          <a:xfrm xmlns:a="http://schemas.openxmlformats.org/drawingml/2006/main">
            <a:off x="540000" y="3816000"/>
            <a:ext cx="10800000" cy="3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22B21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300" b="0">
                <a:solidFill>
                  <a:srgbClr val="FFFFFF"/>
                </a:solidFill>
                <a:latin typeface="Calibri"/>
                <a:ea typeface="Calibri"/>
              </a:rPr>
              <a:t>Medical Awareness: Plans automatically adjust for diabetes (low GI), hypertension (low sodium), allergies (excluded foods), and other conditions.</a:t>
            </a:r>
          </a:p>
        </p:txBody>
      </p:sp>
    </p:spTree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/>
      <p:sp>
        <p:nvSpPr>
          <p:cNvPr id="100095" name="TopBar"/>
          <p:cNvSpPr txBox="1"/>
          <p:nvPr/>
        </p:nvSpPr>
        <p:spPr>
          <a:xfrm xmlns:a="http://schemas.openxmlformats.org/drawingml/2006/main">
            <a:off x="0" y="0"/>
            <a:ext cx="12193200" cy="50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3D62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>
              <a:solidFill>
                <a:srgbClr val="0A3D62"/>
              </a:solidFill>
            </a:endParaRPr>
          </a:p>
        </p:txBody>
      </p:sp>
      <p:sp>
        <p:nvSpPr>
          <p:cNvPr id="100096" name="SlideTitle"/>
          <p:cNvSpPr txBox="1"/>
          <p:nvPr/>
        </p:nvSpPr>
        <p:spPr>
          <a:xfrm xmlns:a="http://schemas.openxmlformats.org/drawingml/2006/main">
            <a:off x="540000" y="72000"/>
            <a:ext cx="9000000" cy="36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2200" b="1">
                <a:solidFill>
                  <a:srgbClr val="FFFFFF"/>
                </a:solidFill>
                <a:latin typeface="Calibri"/>
                <a:ea typeface="Calibri"/>
              </a:rPr>
              <a:t>REST API Reference</a:t>
            </a:r>
          </a:p>
        </p:txBody>
      </p:sp>
      <p:sp>
        <p:nvSpPr>
          <p:cNvPr id="100097" name="SlideNum"/>
          <p:cNvSpPr txBox="1"/>
          <p:nvPr/>
        </p:nvSpPr>
        <p:spPr>
          <a:xfrm xmlns:a="http://schemas.openxmlformats.org/drawingml/2006/main">
            <a:off x="10800000" y="72000"/>
            <a:ext cx="1080000" cy="36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2000" b="1">
                <a:solidFill>
                  <a:srgbClr val="2ECC71"/>
                </a:solidFill>
                <a:latin typeface="Calibri"/>
                <a:ea typeface="Calibri"/>
              </a:rPr>
              <a:t>11</a:t>
            </a:r>
          </a:p>
        </p:txBody>
      </p:sp>
      <p:sp>
        <p:nvSpPr>
          <p:cNvPr id="100098" name="ApiHeader"/>
          <p:cNvSpPr txBox="1"/>
          <p:nvPr/>
        </p:nvSpPr>
        <p:spPr>
          <a:xfrm xmlns:a="http://schemas.openxmlformats.org/drawingml/2006/main">
            <a:off x="540000" y="684000"/>
            <a:ext cx="10800000" cy="25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3A5C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300" b="1">
                <a:solidFill>
                  <a:srgbClr val="FFFFFF"/>
                </a:solidFill>
                <a:latin typeface="Calibri"/>
                <a:ea typeface="Calibri"/>
              </a:rPr>
              <a:t>Method    Endpoint                           Description</a:t>
            </a:r>
          </a:p>
        </p:txBody>
      </p:sp>
      <p:sp>
        <p:nvSpPr>
          <p:cNvPr id="100099" name="Api1"/>
          <p:cNvSpPr txBox="1"/>
          <p:nvPr/>
        </p:nvSpPr>
        <p:spPr>
          <a:xfrm xmlns:a="http://schemas.openxmlformats.org/drawingml/2006/main">
            <a:off x="540000" y="972000"/>
            <a:ext cx="10800000" cy="25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BF5FB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200" b="0">
                <a:solidFill>
                  <a:srgbClr val="2C3E50"/>
                </a:solidFill>
                <a:latin typeface="Courier New"/>
                <a:ea typeface="Courier New"/>
              </a:rPr>
              <a:t>GET       /                                  Web application homepage (3-tab UI)</a:t>
            </a:r>
          </a:p>
        </p:txBody>
      </p:sp>
      <p:sp>
        <p:nvSpPr>
          <p:cNvPr id="100100" name="Api2"/>
          <p:cNvSpPr txBox="1"/>
          <p:nvPr/>
        </p:nvSpPr>
        <p:spPr>
          <a:xfrm xmlns:a="http://schemas.openxmlformats.org/drawingml/2006/main">
            <a:off x="540000" y="1260000"/>
            <a:ext cx="10800000" cy="25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F5E3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200" b="0">
                <a:solidFill>
                  <a:srgbClr val="2C3E50"/>
                </a:solidFill>
                <a:latin typeface="Courier New"/>
                <a:ea typeface="Courier New"/>
              </a:rPr>
              <a:t>POST      /api/generate-plan                 Generate personalised 7-day nutrition plan</a:t>
            </a:r>
          </a:p>
        </p:txBody>
      </p:sp>
      <p:sp>
        <p:nvSpPr>
          <p:cNvPr id="100101" name="Api3"/>
          <p:cNvSpPr txBox="1"/>
          <p:nvPr/>
        </p:nvSpPr>
        <p:spPr>
          <a:xfrm xmlns:a="http://schemas.openxmlformats.org/drawingml/2006/main">
            <a:off x="540000" y="1548000"/>
            <a:ext cx="10800000" cy="25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F5E3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200" b="0">
                <a:solidFill>
                  <a:srgbClr val="2C3E50"/>
                </a:solidFill>
                <a:latin typeface="Courier New"/>
                <a:ea typeface="Courier New"/>
              </a:rPr>
              <a:t>POST      /api/query                         Ask nutrition Q&amp;A — IBM Granite powered</a:t>
            </a:r>
          </a:p>
        </p:txBody>
      </p:sp>
      <p:sp>
        <p:nvSpPr>
          <p:cNvPr id="100102" name="Api4"/>
          <p:cNvSpPr txBox="1"/>
          <p:nvPr/>
        </p:nvSpPr>
        <p:spPr>
          <a:xfrm xmlns:a="http://schemas.openxmlformats.org/drawingml/2006/main">
            <a:off x="540000" y="1836000"/>
            <a:ext cx="10800000" cy="25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BF5FB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200" b="0">
                <a:solidFill>
                  <a:srgbClr val="2C3E50"/>
                </a:solidFill>
                <a:latin typeface="Courier New"/>
                <a:ea typeface="Courier New"/>
              </a:rPr>
              <a:t>GET       /api/download-plan/&lt;filename&gt;      Download saved .md nutrition plan file</a:t>
            </a:r>
          </a:p>
        </p:txBody>
      </p:sp>
      <p:sp>
        <p:nvSpPr>
          <p:cNvPr id="100103" name="Api5"/>
          <p:cNvSpPr txBox="1"/>
          <p:nvPr/>
        </p:nvSpPr>
        <p:spPr>
          <a:xfrm xmlns:a="http://schemas.openxmlformats.org/drawingml/2006/main">
            <a:off x="540000" y="2124000"/>
            <a:ext cx="10800000" cy="25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BF5FB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200" b="0">
                <a:solidFill>
                  <a:srgbClr val="2C3E50"/>
                </a:solidFill>
                <a:latin typeface="Courier New"/>
                <a:ea typeface="Courier New"/>
              </a:rPr>
              <a:t>GET       /api/list-plans                    List all saved nutrition plan files</a:t>
            </a:r>
          </a:p>
        </p:txBody>
      </p:sp>
      <p:sp>
        <p:nvSpPr>
          <p:cNvPr id="100104" name="Api6"/>
          <p:cNvSpPr txBox="1"/>
          <p:nvPr/>
        </p:nvSpPr>
        <p:spPr>
          <a:xfrm xmlns:a="http://schemas.openxmlformats.org/drawingml/2006/main">
            <a:off x="540000" y="2412000"/>
            <a:ext cx="10800000" cy="25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EBD0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200" b="0">
                <a:solidFill>
                  <a:srgbClr val="2C3E50"/>
                </a:solidFill>
                <a:latin typeface="Courier New"/>
                <a:ea typeface="Courier New"/>
              </a:rPr>
              <a:t>GET       /api/health                        Health check — service status &amp; model info</a:t>
            </a:r>
          </a:p>
        </p:txBody>
      </p:sp>
      <p:sp>
        <p:nvSpPr>
          <p:cNvPr id="100105" name="SampleTitle"/>
          <p:cNvSpPr txBox="1"/>
          <p:nvPr/>
        </p:nvSpPr>
        <p:spPr>
          <a:xfrm xmlns:a="http://schemas.openxmlformats.org/drawingml/2006/main">
            <a:off x="540000" y="2808000"/>
            <a:ext cx="5220000" cy="25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7A65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300" b="1">
                <a:solidFill>
                  <a:srgbClr val="FFFFFF"/>
                </a:solidFill>
                <a:latin typeface="Calibri"/>
                <a:ea typeface="Calibri"/>
              </a:rPr>
              <a:t>Sample Request  POST /api/generate-plan</a:t>
            </a:r>
          </a:p>
        </p:txBody>
      </p:sp>
      <p:sp>
        <p:nvSpPr>
          <p:cNvPr id="100106" name="SampleReq"/>
          <p:cNvSpPr txBox="1"/>
          <p:nvPr/>
        </p:nvSpPr>
        <p:spPr>
          <a:xfrm xmlns:a="http://schemas.openxmlformats.org/drawingml/2006/main">
            <a:off x="540000" y="3096000"/>
            <a:ext cx="5220000" cy="108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3A5C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100" b="0">
                <a:solidFill>
                  <a:srgbClr val="2ECC71"/>
                </a:solidFill>
                <a:latin typeface="Courier New"/>
                <a:ea typeface="Courier New"/>
              </a:rPr>
              <a:t>{</a:t>
            </a:r>
          </a:p>
          <a:p xmlns:a="http://schemas.openxmlformats.org/drawingml/2006/main">
            <a:r>
              <a:rPr lang="en-US" sz="1100" b="0">
                <a:solidFill>
                  <a:srgbClr val="2ECC71"/>
                </a:solidFill>
                <a:latin typeface="Courier New"/>
                <a:ea typeface="Courier New"/>
              </a:rPr>
              <a:t>  "name": "Aisha Khan",</a:t>
            </a:r>
          </a:p>
          <a:p xmlns:a="http://schemas.openxmlformats.org/drawingml/2006/main">
            <a:r>
              <a:rPr lang="en-US" sz="1100" b="0">
                <a:solidFill>
                  <a:srgbClr val="2ECC71"/>
                </a:solidFill>
                <a:latin typeface="Courier New"/>
                <a:ea typeface="Courier New"/>
              </a:rPr>
              <a:t>  "age": 35,</a:t>
            </a:r>
          </a:p>
          <a:p xmlns:a="http://schemas.openxmlformats.org/drawingml/2006/main">
            <a:r>
              <a:rPr lang="en-US" sz="1100" b="0">
                <a:solidFill>
                  <a:srgbClr val="2ECC71"/>
                </a:solidFill>
                <a:latin typeface="Courier New"/>
                <a:ea typeface="Courier New"/>
              </a:rPr>
              <a:t>  "diet_preference": "vegetarian",</a:t>
            </a:r>
          </a:p>
          <a:p xmlns:a="http://schemas.openxmlformats.org/drawingml/2006/main">
            <a:r>
              <a:rPr lang="en-US" sz="1100" b="0">
                <a:solidFill>
                  <a:srgbClr val="2ECC71"/>
                </a:solidFill>
                <a:latin typeface="Courier New"/>
                <a:ea typeface="Courier New"/>
              </a:rPr>
              <a:t>  "medical_history": "diabetes, blood pressure",</a:t>
            </a:r>
          </a:p>
          <a:p xmlns:a="http://schemas.openxmlformats.org/drawingml/2006/main">
            <a:r>
              <a:rPr lang="en-US" sz="1100" b="0">
                <a:solidFill>
                  <a:srgbClr val="2ECC71"/>
                </a:solidFill>
                <a:latin typeface="Courier New"/>
                <a:ea typeface="Courier New"/>
              </a:rPr>
              <a:t>  "goal": "Manage diabetes",</a:t>
            </a:r>
          </a:p>
          <a:p xmlns:a="http://schemas.openxmlformats.org/drawingml/2006/main">
            <a:r>
              <a:rPr lang="en-US" sz="1100" b="0">
                <a:solidFill>
                  <a:srgbClr val="2ECC71"/>
                </a:solidFill>
                <a:latin typeface="Courier New"/>
                <a:ea typeface="Courier New"/>
              </a:rPr>
              <a:t>  "weight": 68,  "height": 165,</a:t>
            </a:r>
          </a:p>
          <a:p xmlns:a="http://schemas.openxmlformats.org/drawingml/2006/main">
            <a:r>
              <a:rPr lang="en-US" sz="1100" b="0">
                <a:solidFill>
                  <a:srgbClr val="2ECC71"/>
                </a:solidFill>
                <a:latin typeface="Courier New"/>
                <a:ea typeface="Courier New"/>
              </a:rPr>
              <a:t>  "activity_level": "Moderate",</a:t>
            </a:r>
          </a:p>
          <a:p xmlns:a="http://schemas.openxmlformats.org/drawingml/2006/main">
            <a:r>
              <a:rPr lang="en-US" sz="1100" b="0">
                <a:solidFill>
                  <a:srgbClr val="2ECC71"/>
                </a:solidFill>
                <a:latin typeface="Courier New"/>
                <a:ea typeface="Courier New"/>
              </a:rPr>
              <a:t>  "allergies": "peanuts",</a:t>
            </a:r>
          </a:p>
          <a:p xmlns:a="http://schemas.openxmlformats.org/drawingml/2006/main">
            <a:r>
              <a:rPr lang="en-US" sz="1100" b="0">
                <a:solidFill>
                  <a:srgbClr val="2ECC71"/>
                </a:solidFill>
                <a:latin typeface="Courier New"/>
                <a:ea typeface="Courier New"/>
              </a:rPr>
              <a:t>  "city": "Mumbai",  "country": "India"</a:t>
            </a:r>
          </a:p>
          <a:p xmlns:a="http://schemas.openxmlformats.org/drawingml/2006/main">
            <a:r>
              <a:rPr lang="en-US" sz="1100" b="0">
                <a:solidFill>
                  <a:srgbClr val="2ECC71"/>
                </a:solidFill>
                <a:latin typeface="Courier New"/>
                <a:ea typeface="Courier New"/>
              </a:rPr>
              <a:t>}</a:t>
            </a:r>
          </a:p>
        </p:txBody>
      </p:sp>
      <p:sp>
        <p:nvSpPr>
          <p:cNvPr id="100107" name="SampleRespTitle"/>
          <p:cNvSpPr txBox="1"/>
          <p:nvPr/>
        </p:nvSpPr>
        <p:spPr>
          <a:xfrm xmlns:a="http://schemas.openxmlformats.org/drawingml/2006/main">
            <a:off x="6120000" y="2808000"/>
            <a:ext cx="5220000" cy="25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84212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300" b="1">
                <a:solidFill>
                  <a:srgbClr val="FFFFFF"/>
                </a:solidFill>
                <a:latin typeface="Calibri"/>
                <a:ea typeface="Calibri"/>
              </a:rPr>
              <a:t>Sample Response</a:t>
            </a:r>
          </a:p>
        </p:txBody>
      </p:sp>
      <p:sp>
        <p:nvSpPr>
          <p:cNvPr id="100108" name="SampleResp"/>
          <p:cNvSpPr txBox="1"/>
          <p:nvPr/>
        </p:nvSpPr>
        <p:spPr>
          <a:xfrm xmlns:a="http://schemas.openxmlformats.org/drawingml/2006/main">
            <a:off x="6120000" y="3096000"/>
            <a:ext cx="5220000" cy="108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3A5C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100" b="0">
                <a:solidFill>
                  <a:srgbClr val="F0B27A"/>
                </a:solidFill>
                <a:latin typeface="Courier New"/>
                <a:ea typeface="Courier New"/>
              </a:rPr>
              <a:t>{</a:t>
            </a:r>
          </a:p>
          <a:p xmlns:a="http://schemas.openxmlformats.org/drawingml/2006/main">
            <a:r>
              <a:rPr lang="en-US" sz="1100" b="0">
                <a:solidFill>
                  <a:srgbClr val="F0B27A"/>
                </a:solidFill>
                <a:latin typeface="Courier New"/>
                <a:ea typeface="Courier New"/>
              </a:rPr>
              <a:t>  "success": true,</a:t>
            </a:r>
          </a:p>
          <a:p xmlns:a="http://schemas.openxmlformats.org/drawingml/2006/main">
            <a:r>
              <a:rPr lang="en-US" sz="1100" b="0">
                <a:solidFill>
                  <a:srgbClr val="F0B27A"/>
                </a:solidFill>
                <a:latin typeface="Courier New"/>
                <a:ea typeface="Courier New"/>
              </a:rPr>
              <a:t>  "plan": "# Personalised 7-Day...",</a:t>
            </a:r>
          </a:p>
          <a:p xmlns:a="http://schemas.openxmlformats.org/drawingml/2006/main">
            <a:r>
              <a:rPr lang="en-US" sz="1100" b="0">
                <a:solidFill>
                  <a:srgbClr val="F0B27A"/>
                </a:solidFill>
                <a:latin typeface="Courier New"/>
                <a:ea typeface="Courier New"/>
              </a:rPr>
              <a:t>  "source": "ibm-granite",</a:t>
            </a:r>
          </a:p>
          <a:p xmlns:a="http://schemas.openxmlformats.org/drawingml/2006/main">
            <a:r>
              <a:rPr lang="en-US" sz="1100" b="0">
                <a:solidFill>
                  <a:srgbClr val="F0B27A"/>
                </a:solidFill>
                <a:latin typeface="Courier New"/>
                <a:ea typeface="Courier New"/>
              </a:rPr>
              <a:t>  "filename": "Aisha_Khan_NutritionPlan_</a:t>
            </a:r>
          </a:p>
          <a:p xmlns:a="http://schemas.openxmlformats.org/drawingml/2006/main">
            <a:r>
              <a:rPr lang="en-US" sz="1100" b="0">
                <a:solidFill>
                  <a:srgbClr val="F0B27A"/>
                </a:solidFill>
                <a:latin typeface="Courier New"/>
                <a:ea typeface="Courier New"/>
              </a:rPr>
              <a:t>              20261013_140500.md",</a:t>
            </a:r>
          </a:p>
          <a:p xmlns:a="http://schemas.openxmlformats.org/drawingml/2006/main">
            <a:r>
              <a:rPr lang="en-US" sz="1100" b="0">
                <a:solidFill>
                  <a:srgbClr val="F0B27A"/>
                </a:solidFill>
                <a:latin typeface="Courier New"/>
                <a:ea typeface="Courier New"/>
              </a:rPr>
              <a:t>  "message": "Plan saved as ...",</a:t>
            </a:r>
          </a:p>
          <a:p xmlns:a="http://schemas.openxmlformats.org/drawingml/2006/main">
            <a:r>
              <a:rPr lang="en-US" sz="1100" b="0">
                <a:solidFill>
                  <a:srgbClr val="F0B27A"/>
                </a:solidFill>
                <a:latin typeface="Courier New"/>
                <a:ea typeface="Courier New"/>
              </a:rPr>
              <a:t>  "generated_at": "2026-10-13T14:05:00"</a:t>
            </a:r>
          </a:p>
          <a:p xmlns:a="http://schemas.openxmlformats.org/drawingml/2006/main">
            <a:r>
              <a:rPr lang="en-US" sz="1100" b="0">
                <a:solidFill>
                  <a:srgbClr val="F0B27A"/>
                </a:solidFill>
                <a:latin typeface="Courier New"/>
                <a:ea typeface="Courier New"/>
              </a:rPr>
              <a:t>}</a:t>
            </a:r>
          </a:p>
        </p:txBody>
      </p:sp>
    </p:spTree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/>
      <p:sp>
        <p:nvSpPr>
          <p:cNvPr id="100109" name="TopBar"/>
          <p:cNvSpPr txBox="1"/>
          <p:nvPr/>
        </p:nvSpPr>
        <p:spPr>
          <a:xfrm xmlns:a="http://schemas.openxmlformats.org/drawingml/2006/main">
            <a:off x="0" y="0"/>
            <a:ext cx="12193200" cy="50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3D62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>
              <a:solidFill>
                <a:srgbClr val="0A3D62"/>
              </a:solidFill>
            </a:endParaRPr>
          </a:p>
        </p:txBody>
      </p:sp>
      <p:sp>
        <p:nvSpPr>
          <p:cNvPr id="100110" name="SlideTitle"/>
          <p:cNvSpPr txBox="1"/>
          <p:nvPr/>
        </p:nvSpPr>
        <p:spPr>
          <a:xfrm xmlns:a="http://schemas.openxmlformats.org/drawingml/2006/main">
            <a:off x="540000" y="72000"/>
            <a:ext cx="9000000" cy="36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2200" b="1">
                <a:solidFill>
                  <a:srgbClr val="FFFFFF"/>
                </a:solidFill>
                <a:latin typeface="Calibri"/>
                <a:ea typeface="Calibri"/>
              </a:rPr>
              <a:t>Project File Structure</a:t>
            </a:r>
          </a:p>
        </p:txBody>
      </p:sp>
      <p:sp>
        <p:nvSpPr>
          <p:cNvPr id="100111" name="SlideNum"/>
          <p:cNvSpPr txBox="1"/>
          <p:nvPr/>
        </p:nvSpPr>
        <p:spPr>
          <a:xfrm xmlns:a="http://schemas.openxmlformats.org/drawingml/2006/main">
            <a:off x="10800000" y="72000"/>
            <a:ext cx="1080000" cy="36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2000" b="1">
                <a:solidFill>
                  <a:srgbClr val="2ECC71"/>
                </a:solidFill>
                <a:latin typeface="Calibri"/>
                <a:ea typeface="Calibri"/>
              </a:rPr>
              <a:t>12</a:t>
            </a:r>
          </a:p>
        </p:txBody>
      </p:sp>
      <p:sp>
        <p:nvSpPr>
          <p:cNvPr id="100112" name="Tree"/>
          <p:cNvSpPr txBox="1"/>
          <p:nvPr/>
        </p:nvSpPr>
        <p:spPr>
          <a:xfrm xmlns:a="http://schemas.openxmlformats.org/drawingml/2006/main">
            <a:off x="540000" y="684000"/>
            <a:ext cx="10800000" cy="352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6F7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200" b="0">
                <a:solidFill>
                  <a:srgbClr val="2C3E50"/>
                </a:solidFill>
                <a:latin typeface="Courier New"/>
                <a:ea typeface="Courier New"/>
              </a:rPr>
              <a:t>ibm/  (GitHub repo)</a:t>
            </a:r>
          </a:p>
          <a:p xmlns:a="http://schemas.openxmlformats.org/drawingml/2006/main">
            <a:r>
              <a:rPr lang="en-US" sz="1200" b="0">
                <a:solidFill>
                  <a:srgbClr val="2C3E50"/>
                </a:solidFill>
                <a:latin typeface="Courier New"/>
                <a:ea typeface="Courier New"/>
              </a:rPr>
              <a:t>|</a:t>
            </a:r>
          </a:p>
          <a:p xmlns:a="http://schemas.openxmlformats.org/drawingml/2006/main">
            <a:r>
              <a:rPr lang="en-US" sz="1200" b="0">
                <a:solidFill>
                  <a:srgbClr val="2C3E50"/>
                </a:solidFill>
                <a:latin typeface="Courier New"/>
                <a:ea typeface="Courier New"/>
              </a:rPr>
              <a:t>+-- NutritionAI/</a:t>
            </a:r>
          </a:p>
          <a:p xmlns:a="http://schemas.openxmlformats.org/drawingml/2006/main">
            <a:r>
              <a:rPr lang="en-US" sz="1200" b="0">
                <a:solidFill>
                  <a:srgbClr val="2C3E50"/>
                </a:solidFill>
                <a:latin typeface="Courier New"/>
                <a:ea typeface="Courier New"/>
              </a:rPr>
              <a:t>|   +-- app.py                   Flask application &amp; 6 REST API endpoints</a:t>
            </a:r>
          </a:p>
          <a:p xmlns:a="http://schemas.openxmlformats.org/drawingml/2006/main">
            <a:r>
              <a:rPr lang="en-US" sz="1200" b="0">
                <a:solidFill>
                  <a:srgbClr val="2C3E50"/>
                </a:solidFill>
                <a:latin typeface="Courier New"/>
                <a:ea typeface="Courier New"/>
              </a:rPr>
              <a:t>|   +-- requirements.txt         Python dependencies (Flask, IBM Watson SDK)</a:t>
            </a:r>
          </a:p>
          <a:p xmlns:a="http://schemas.openxmlformats.org/drawingml/2006/main">
            <a:r>
              <a:rPr lang="en-US" sz="1200" b="0">
                <a:solidFill>
                  <a:srgbClr val="2C3E50"/>
                </a:solidFill>
                <a:latin typeface="Courier New"/>
                <a:ea typeface="Courier New"/>
              </a:rPr>
              <a:t>|   +-- config.env               IBM watsonx.ai credentials configuration</a:t>
            </a:r>
          </a:p>
          <a:p xmlns:a="http://schemas.openxmlformats.org/drawingml/2006/main">
            <a:r>
              <a:rPr lang="en-US" sz="1200" b="0">
                <a:solidFill>
                  <a:srgbClr val="2C3E50"/>
                </a:solidFill>
                <a:latin typeface="Courier New"/>
                <a:ea typeface="Courier New"/>
              </a:rPr>
              <a:t>|   +-- agents/</a:t>
            </a:r>
          </a:p>
          <a:p xmlns:a="http://schemas.openxmlformats.org/drawingml/2006/main">
            <a:r>
              <a:rPr lang="en-US" sz="1200" b="0">
                <a:solidFill>
                  <a:srgbClr val="2C3E50"/>
                </a:solidFill>
                <a:latin typeface="Courier New"/>
                <a:ea typeface="Courier New"/>
              </a:rPr>
              <a:t>|   |   +-- __init__.py          Package init</a:t>
            </a:r>
          </a:p>
          <a:p xmlns:a="http://schemas.openxmlformats.org/drawingml/2006/main">
            <a:r>
              <a:rPr lang="en-US" sz="1200" b="0">
                <a:solidFill>
                  <a:srgbClr val="2C3E50"/>
                </a:solidFill>
                <a:latin typeface="Courier New"/>
                <a:ea typeface="Courier New"/>
              </a:rPr>
              <a:t>|   |   +-- granite_agent.py     IBM Granite agent + guardrails (657 lines)</a:t>
            </a:r>
          </a:p>
          <a:p xmlns:a="http://schemas.openxmlformats.org/drawingml/2006/main">
            <a:r>
              <a:rPr lang="en-US" sz="1200" b="0">
                <a:solidFill>
                  <a:srgbClr val="2C3E50"/>
                </a:solidFill>
                <a:latin typeface="Courier New"/>
                <a:ea typeface="Courier New"/>
              </a:rPr>
              <a:t>|   +-- templates/</a:t>
            </a:r>
          </a:p>
          <a:p xmlns:a="http://schemas.openxmlformats.org/drawingml/2006/main">
            <a:r>
              <a:rPr lang="en-US" sz="1200" b="0">
                <a:solidFill>
                  <a:srgbClr val="2C3E50"/>
                </a:solidFill>
                <a:latin typeface="Courier New"/>
                <a:ea typeface="Courier New"/>
              </a:rPr>
              <a:t>|   |   +-- index.html           3-tab responsive web UI (332 lines)</a:t>
            </a:r>
          </a:p>
          <a:p xmlns:a="http://schemas.openxmlformats.org/drawingml/2006/main">
            <a:r>
              <a:rPr lang="en-US" sz="1200" b="0">
                <a:solidFill>
                  <a:srgbClr val="2C3E50"/>
                </a:solidFill>
                <a:latin typeface="Courier New"/>
                <a:ea typeface="Courier New"/>
              </a:rPr>
              <a:t>|   +-- static/</a:t>
            </a:r>
          </a:p>
          <a:p xmlns:a="http://schemas.openxmlformats.org/drawingml/2006/main">
            <a:r>
              <a:rPr lang="en-US" sz="1200" b="0">
                <a:solidFill>
                  <a:srgbClr val="2C3E50"/>
                </a:solidFill>
                <a:latin typeface="Courier New"/>
                <a:ea typeface="Courier New"/>
              </a:rPr>
              <a:t>|   |   +-- css/style.css        Professional stylesheet (776 lines)</a:t>
            </a:r>
          </a:p>
          <a:p xmlns:a="http://schemas.openxmlformats.org/drawingml/2006/main">
            <a:r>
              <a:rPr lang="en-US" sz="1200" b="0">
                <a:solidFill>
                  <a:srgbClr val="2C3E50"/>
                </a:solidFill>
                <a:latin typeface="Courier New"/>
                <a:ea typeface="Courier New"/>
              </a:rPr>
              <a:t>|   |   +-- js/app.js            Frontend JS — markdown renderer (489 lines)</a:t>
            </a:r>
          </a:p>
          <a:p xmlns:a="http://schemas.openxmlformats.org/drawingml/2006/main">
            <a:r>
              <a:rPr lang="en-US" sz="1200" b="0">
                <a:solidFill>
                  <a:srgbClr val="2C3E50"/>
                </a:solidFill>
                <a:latin typeface="Courier New"/>
                <a:ea typeface="Courier New"/>
              </a:rPr>
              <a:t>|   +-- nutrition_plans/         Generated .md plans (auto-created at runtime)</a:t>
            </a:r>
          </a:p>
          <a:p xmlns:a="http://schemas.openxmlformats.org/drawingml/2006/main">
            <a:r>
              <a:rPr lang="en-US" sz="1200" b="0">
                <a:solidFill>
                  <a:srgbClr val="2C3E50"/>
                </a:solidFill>
                <a:latin typeface="Courier New"/>
                <a:ea typeface="Courier New"/>
              </a:rPr>
              <a:t>|       +-- .gitkeep             Ensures empty dir tracked by Git</a:t>
            </a:r>
          </a:p>
          <a:p xmlns:a="http://schemas.openxmlformats.org/drawingml/2006/main">
            <a:r>
              <a:rPr lang="en-US" sz="1200" b="0">
                <a:solidFill>
                  <a:srgbClr val="2C3E50"/>
                </a:solidFill>
                <a:latin typeface="Courier New"/>
                <a:ea typeface="Courier New"/>
              </a:rPr>
              <a:t>|</a:t>
            </a:r>
          </a:p>
          <a:p xmlns:a="http://schemas.openxmlformats.org/drawingml/2006/main">
            <a:r>
              <a:rPr lang="en-US" sz="1200" b="0">
                <a:solidFill>
                  <a:srgbClr val="2C3E50"/>
                </a:solidFill>
                <a:latin typeface="Courier New"/>
                <a:ea typeface="Courier New"/>
              </a:rPr>
              <a:t>+-- start_nutrition_ai.bat       One-click Windows launcher</a:t>
            </a:r>
          </a:p>
          <a:p xmlns:a="http://schemas.openxmlformats.org/drawingml/2006/main">
            <a:r>
              <a:rPr lang="en-US" sz="1200" b="0">
                <a:solidFill>
                  <a:srgbClr val="2C3E50"/>
                </a:solidFill>
                <a:latin typeface="Courier New"/>
                <a:ea typeface="Courier New"/>
              </a:rPr>
              <a:t>+-- README.md                    Full documentation (300 lines)</a:t>
            </a:r>
          </a:p>
          <a:p xmlns:a="http://schemas.openxmlformats.org/drawingml/2006/main">
            <a:r>
              <a:rPr lang="en-US" sz="1200" b="0">
                <a:solidFill>
                  <a:srgbClr val="2C3E50"/>
                </a:solidFill>
                <a:latin typeface="Courier New"/>
                <a:ea typeface="Courier New"/>
              </a:rPr>
              <a:t>+-- .gitignore                   Excludes secrets, cache, generated plans</a:t>
            </a:r>
          </a:p>
          <a:p xmlns:a="http://schemas.openxmlformats.org/drawingml/2006/main">
            <a:r>
              <a:rPr lang="en-US" sz="1200" b="0">
                <a:solidFill>
                  <a:srgbClr val="2C3E50"/>
                </a:solidFill>
                <a:latin typeface="Courier New"/>
                <a:ea typeface="Courier New"/>
              </a:rPr>
              <a:t>+-- requirements.txt             Root-level Python dependencies</a:t>
            </a:r>
          </a:p>
        </p:txBody>
      </p:sp>
      <p:sp>
        <p:nvSpPr>
          <p:cNvPr id="100113" name="Stats"/>
          <p:cNvSpPr txBox="1"/>
          <p:nvPr/>
        </p:nvSpPr>
        <p:spPr>
          <a:xfrm xmlns:a="http://schemas.openxmlformats.org/drawingml/2006/main">
            <a:off x="540000" y="4356000"/>
            <a:ext cx="10800000" cy="25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3D62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200" b="0">
                <a:solidFill>
                  <a:srgbClr val="FFFFFF"/>
                </a:solidFill>
                <a:latin typeface="Calibri"/>
                <a:ea typeface="Calibri"/>
              </a:rPr>
              <a:t>Total: 12 files committed  |  2,948 lines of code  |  GitHub: github.com/hardikraval-collab/ibm  |  Branch: main</a:t>
            </a:r>
          </a:p>
        </p:txBody>
      </p:sp>
    </p:spTree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/>
      <p:sp>
        <p:nvSpPr>
          <p:cNvPr id="100114" name="TopBar"/>
          <p:cNvSpPr txBox="1"/>
          <p:nvPr/>
        </p:nvSpPr>
        <p:spPr>
          <a:xfrm xmlns:a="http://schemas.openxmlformats.org/drawingml/2006/main">
            <a:off x="0" y="0"/>
            <a:ext cx="12193200" cy="50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3D62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>
              <a:solidFill>
                <a:srgbClr val="0A3D62"/>
              </a:solidFill>
            </a:endParaRPr>
          </a:p>
        </p:txBody>
      </p:sp>
      <p:sp>
        <p:nvSpPr>
          <p:cNvPr id="100115" name="SlideTitle"/>
          <p:cNvSpPr txBox="1"/>
          <p:nvPr/>
        </p:nvSpPr>
        <p:spPr>
          <a:xfrm xmlns:a="http://schemas.openxmlformats.org/drawingml/2006/main">
            <a:off x="540000" y="72000"/>
            <a:ext cx="9000000" cy="36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2200" b="1">
                <a:solidFill>
                  <a:srgbClr val="FFFFFF"/>
                </a:solidFill>
                <a:latin typeface="Calibri"/>
                <a:ea typeface="Calibri"/>
              </a:rPr>
              <a:t>Setup &amp; Deployment Guide</a:t>
            </a:r>
          </a:p>
        </p:txBody>
      </p:sp>
      <p:sp>
        <p:nvSpPr>
          <p:cNvPr id="100116" name="SlideNum"/>
          <p:cNvSpPr txBox="1"/>
          <p:nvPr/>
        </p:nvSpPr>
        <p:spPr>
          <a:xfrm xmlns:a="http://schemas.openxmlformats.org/drawingml/2006/main">
            <a:off x="10800000" y="72000"/>
            <a:ext cx="1080000" cy="36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2000" b="1">
                <a:solidFill>
                  <a:srgbClr val="2ECC71"/>
                </a:solidFill>
                <a:latin typeface="Calibri"/>
                <a:ea typeface="Calibri"/>
              </a:rPr>
              <a:t>13</a:t>
            </a:r>
          </a:p>
        </p:txBody>
      </p:sp>
      <p:sp>
        <p:nvSpPr>
          <p:cNvPr id="100117" name="Opt1Title"/>
          <p:cNvSpPr txBox="1"/>
          <p:nvPr/>
        </p:nvSpPr>
        <p:spPr>
          <a:xfrm xmlns:a="http://schemas.openxmlformats.org/drawingml/2006/main">
            <a:off x="540000" y="684000"/>
            <a:ext cx="10800000" cy="252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600" b="1">
                <a:solidFill>
                  <a:srgbClr val="0A3D62"/>
                </a:solidFill>
                <a:latin typeface="Calibri"/>
                <a:ea typeface="Calibri"/>
              </a:rPr>
              <a:t>Option 1 — One-Click Windows Launcher</a:t>
            </a:r>
          </a:p>
        </p:txBody>
      </p:sp>
      <p:sp>
        <p:nvSpPr>
          <p:cNvPr id="100118" name="Opt1"/>
          <p:cNvSpPr txBox="1"/>
          <p:nvPr/>
        </p:nvSpPr>
        <p:spPr>
          <a:xfrm xmlns:a="http://schemas.openxmlformats.org/drawingml/2006/main">
            <a:off x="540000" y="972000"/>
            <a:ext cx="10800000" cy="100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BF5FB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300" b="0">
                <a:solidFill>
                  <a:srgbClr val="2C3E50"/>
                </a:solidFill>
                <a:latin typeface="Calibri"/>
                <a:ea typeface="Calibri"/>
              </a:rPr>
              <a:t>Double-click:  start_nutrition_ai.bat</a:t>
            </a:r>
          </a:p>
          <a:p xmlns:a="http://schemas.openxmlformats.org/drawingml/2006/main">
            <a:r>
              <a:rPr lang="en-US" sz="1300" b="0">
                <a:solidFill>
                  <a:srgbClr val="2C3E50"/>
                </a:solidFill>
                <a:latin typeface="Calibri"/>
                <a:ea typeface="Calibri"/>
              </a:rPr>
              <a:t/>
            </a:r>
          </a:p>
          <a:p xmlns:a="http://schemas.openxmlformats.org/drawingml/2006/main">
            <a:r>
              <a:rPr lang="en-US" sz="1300" b="0">
                <a:solidFill>
                  <a:srgbClr val="2C3E50"/>
                </a:solidFill>
                <a:latin typeface="Calibri"/>
                <a:ea typeface="Calibri"/>
              </a:rPr>
              <a:t>The .bat file automatically:</a:t>
            </a:r>
          </a:p>
          <a:p xmlns:a="http://schemas.openxmlformats.org/drawingml/2006/main">
            <a:r>
              <a:rPr lang="en-US" sz="1300" b="0">
                <a:solidFill>
                  <a:srgbClr val="2C3E50"/>
                </a:solidFill>
                <a:latin typeface="Calibri"/>
                <a:ea typeface="Calibri"/>
              </a:rPr>
              <a:t>  Checks Python (Anaconda) is available</a:t>
            </a:r>
          </a:p>
          <a:p xmlns:a="http://schemas.openxmlformats.org/drawingml/2006/main">
            <a:r>
              <a:rPr lang="en-US" sz="1300" b="0">
                <a:solidFill>
                  <a:srgbClr val="2C3E50"/>
                </a:solidFill>
                <a:latin typeface="Calibri"/>
                <a:ea typeface="Calibri"/>
              </a:rPr>
              <a:t>  Installs all pip dependencies</a:t>
            </a:r>
          </a:p>
          <a:p xmlns:a="http://schemas.openxmlformats.org/drawingml/2006/main">
            <a:r>
              <a:rPr lang="en-US" sz="1300" b="0">
                <a:solidFill>
                  <a:srgbClr val="2C3E50"/>
                </a:solidFill>
                <a:latin typeface="Calibri"/>
                <a:ea typeface="Calibri"/>
              </a:rPr>
              <a:t>  Loads IBM watsonx.ai credentials from config.env</a:t>
            </a:r>
          </a:p>
          <a:p xmlns:a="http://schemas.openxmlformats.org/drawingml/2006/main">
            <a:r>
              <a:rPr lang="en-US" sz="1300" b="0">
                <a:solidFill>
                  <a:srgbClr val="2C3E50"/>
                </a:solidFill>
                <a:latin typeface="Calibri"/>
                <a:ea typeface="Calibri"/>
              </a:rPr>
              <a:t>  Starts the Flask server on port 5000</a:t>
            </a:r>
          </a:p>
          <a:p xmlns:a="http://schemas.openxmlformats.org/drawingml/2006/main">
            <a:r>
              <a:rPr lang="en-US" sz="1300" b="0">
                <a:solidFill>
                  <a:srgbClr val="2C3E50"/>
                </a:solidFill>
                <a:latin typeface="Calibri"/>
                <a:ea typeface="Calibri"/>
              </a:rPr>
              <a:t>  Opens http://localhost:5000 in your browser</a:t>
            </a:r>
          </a:p>
        </p:txBody>
      </p:sp>
      <p:sp>
        <p:nvSpPr>
          <p:cNvPr id="100119" name="Opt2Title"/>
          <p:cNvSpPr txBox="1"/>
          <p:nvPr/>
        </p:nvSpPr>
        <p:spPr>
          <a:xfrm xmlns:a="http://schemas.openxmlformats.org/drawingml/2006/main">
            <a:off x="540000" y="2160000"/>
            <a:ext cx="10800000" cy="252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600" b="1">
                <a:solidFill>
                  <a:srgbClr val="0A3D62"/>
                </a:solidFill>
                <a:latin typeface="Calibri"/>
                <a:ea typeface="Calibri"/>
              </a:rPr>
              <a:t>Option 2 — Manual (All Platforms)</a:t>
            </a:r>
          </a:p>
        </p:txBody>
      </p:sp>
      <p:sp>
        <p:nvSpPr>
          <p:cNvPr id="100120" name="Cmd1"/>
          <p:cNvSpPr txBox="1"/>
          <p:nvPr/>
        </p:nvSpPr>
        <p:spPr>
          <a:xfrm xmlns:a="http://schemas.openxmlformats.org/drawingml/2006/main">
            <a:off x="540000" y="2484000"/>
            <a:ext cx="10800000" cy="23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3A5C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300" b="0">
                <a:solidFill>
                  <a:srgbClr val="2ECC71"/>
                </a:solidFill>
                <a:latin typeface="Courier New"/>
                <a:ea typeface="Courier New"/>
              </a:rPr>
              <a:t>git clone https://github.com/hardikraval-collab/ibm.git</a:t>
            </a:r>
          </a:p>
        </p:txBody>
      </p:sp>
      <p:sp>
        <p:nvSpPr>
          <p:cNvPr id="100121" name="Cmd2"/>
          <p:cNvSpPr txBox="1"/>
          <p:nvPr/>
        </p:nvSpPr>
        <p:spPr>
          <a:xfrm xmlns:a="http://schemas.openxmlformats.org/drawingml/2006/main">
            <a:off x="540000" y="2754000"/>
            <a:ext cx="10800000" cy="23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3A5C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300" b="0">
                <a:solidFill>
                  <a:srgbClr val="2ECC71"/>
                </a:solidFill>
                <a:latin typeface="Courier New"/>
                <a:ea typeface="Courier New"/>
              </a:rPr>
              <a:t>pip install -r requirements.txt</a:t>
            </a:r>
          </a:p>
        </p:txBody>
      </p:sp>
      <p:sp>
        <p:nvSpPr>
          <p:cNvPr id="100122" name="Cmd3"/>
          <p:cNvSpPr txBox="1"/>
          <p:nvPr/>
        </p:nvSpPr>
        <p:spPr>
          <a:xfrm xmlns:a="http://schemas.openxmlformats.org/drawingml/2006/main">
            <a:off x="540000" y="3024000"/>
            <a:ext cx="10800000" cy="23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3A5C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300" b="0">
                <a:solidFill>
                  <a:srgbClr val="2ECC71"/>
                </a:solidFill>
                <a:latin typeface="Courier New"/>
                <a:ea typeface="Courier New"/>
              </a:rPr>
              <a:t>cd NutritionAI  &amp;&amp;  python app.py</a:t>
            </a:r>
          </a:p>
        </p:txBody>
      </p:sp>
      <p:sp>
        <p:nvSpPr>
          <p:cNvPr id="100123" name="Cmd4"/>
          <p:cNvSpPr txBox="1"/>
          <p:nvPr/>
        </p:nvSpPr>
        <p:spPr>
          <a:xfrm xmlns:a="http://schemas.openxmlformats.org/drawingml/2006/main">
            <a:off x="540000" y="3294000"/>
            <a:ext cx="10800000" cy="23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3A5C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300" b="0">
                <a:solidFill>
                  <a:srgbClr val="A9CCE3"/>
                </a:solidFill>
                <a:latin typeface="Courier New"/>
                <a:ea typeface="Courier New"/>
              </a:rPr>
              <a:t># Open browser:  http://localhost:5000</a:t>
            </a:r>
          </a:p>
        </p:txBody>
      </p:sp>
      <p:sp>
        <p:nvSpPr>
          <p:cNvPr id="100124" name="IBMNote"/>
          <p:cNvSpPr txBox="1"/>
          <p:nvPr/>
        </p:nvSpPr>
        <p:spPr>
          <a:xfrm xmlns:a="http://schemas.openxmlformats.org/drawingml/2006/main">
            <a:off x="540000" y="3672000"/>
            <a:ext cx="10800000" cy="54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EDEC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300" b="0">
                <a:solidFill>
                  <a:srgbClr val="7B241C"/>
                </a:solidFill>
                <a:latin typeface="Calibri"/>
                <a:ea typeface="Calibri"/>
              </a:rPr>
              <a:t>IBM watsonx.ai (Optional): Edit config.env with your API key and Project ID. Without credentials, the built-in AI engine generates complete plans automatically.</a:t>
            </a:r>
          </a:p>
        </p:txBody>
      </p:sp>
    </p:spTree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/>
      <p:sp>
        <p:nvSpPr>
          <p:cNvPr id="100125" name="TopBar"/>
          <p:cNvSpPr txBox="1"/>
          <p:nvPr/>
        </p:nvSpPr>
        <p:spPr>
          <a:xfrm xmlns:a="http://schemas.openxmlformats.org/drawingml/2006/main">
            <a:off x="0" y="0"/>
            <a:ext cx="12193200" cy="50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3D62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>
              <a:solidFill>
                <a:srgbClr val="0A3D62"/>
              </a:solidFill>
            </a:endParaRPr>
          </a:p>
        </p:txBody>
      </p:sp>
      <p:sp>
        <p:nvSpPr>
          <p:cNvPr id="100126" name="SlideTitle"/>
          <p:cNvSpPr txBox="1"/>
          <p:nvPr/>
        </p:nvSpPr>
        <p:spPr>
          <a:xfrm xmlns:a="http://schemas.openxmlformats.org/drawingml/2006/main">
            <a:off x="540000" y="72000"/>
            <a:ext cx="9000000" cy="36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2200" b="1">
                <a:solidFill>
                  <a:srgbClr val="FFFFFF"/>
                </a:solidFill>
                <a:latin typeface="Calibri"/>
                <a:ea typeface="Calibri"/>
              </a:rPr>
              <a:t>Key Features Summary</a:t>
            </a:r>
          </a:p>
        </p:txBody>
      </p:sp>
      <p:sp>
        <p:nvSpPr>
          <p:cNvPr id="100127" name="SlideNum"/>
          <p:cNvSpPr txBox="1"/>
          <p:nvPr/>
        </p:nvSpPr>
        <p:spPr>
          <a:xfrm xmlns:a="http://schemas.openxmlformats.org/drawingml/2006/main">
            <a:off x="10800000" y="72000"/>
            <a:ext cx="1080000" cy="36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2000" b="1">
                <a:solidFill>
                  <a:srgbClr val="2ECC71"/>
                </a:solidFill>
                <a:latin typeface="Calibri"/>
                <a:ea typeface="Calibri"/>
              </a:rPr>
              <a:t>14</a:t>
            </a:r>
          </a:p>
        </p:txBody>
      </p:sp>
      <p:sp>
        <p:nvSpPr>
          <p:cNvPr id="100128" name="F1"/>
          <p:cNvSpPr txBox="1"/>
          <p:nvPr/>
        </p:nvSpPr>
        <p:spPr>
          <a:xfrm xmlns:a="http://schemas.openxmlformats.org/drawingml/2006/main">
            <a:off x="540000" y="720000"/>
            <a:ext cx="3420000" cy="108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3D62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300" b="0">
                <a:solidFill>
                  <a:srgbClr val="FFFFFF"/>
                </a:solidFill>
                <a:latin typeface="Calibri"/>
                <a:ea typeface="Calibri"/>
              </a:rPr>
              <a:t>IBM Granite LLM</a:t>
            </a:r>
          </a:p>
          <a:p xmlns:a="http://schemas.openxmlformats.org/drawingml/2006/main">
            <a:r>
              <a:rPr lang="en-US" sz="1300" b="0">
                <a:solidFill>
                  <a:srgbClr val="FFFFFF"/>
                </a:solidFill>
                <a:latin typeface="Calibri"/>
                <a:ea typeface="Calibri"/>
              </a:rPr>
              <a:t>granite-13b-instruct-v2</a:t>
            </a:r>
          </a:p>
          <a:p xmlns:a="http://schemas.openxmlformats.org/drawingml/2006/main">
            <a:r>
              <a:rPr lang="en-US" sz="1300" b="0">
                <a:solidFill>
                  <a:srgbClr val="FFFFFF"/>
                </a:solidFill>
                <a:latin typeface="Calibri"/>
                <a:ea typeface="Calibri"/>
              </a:rPr>
              <a:t>watsonx.ai REST API</a:t>
            </a:r>
          </a:p>
        </p:txBody>
      </p:sp>
      <p:sp>
        <p:nvSpPr>
          <p:cNvPr id="100129" name="F2"/>
          <p:cNvSpPr txBox="1"/>
          <p:nvPr/>
        </p:nvSpPr>
        <p:spPr>
          <a:xfrm xmlns:a="http://schemas.openxmlformats.org/drawingml/2006/main">
            <a:off x="4248000" y="720000"/>
            <a:ext cx="3420000" cy="108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7A65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300" b="0">
                <a:solidFill>
                  <a:srgbClr val="FFFFFF"/>
                </a:solidFill>
                <a:latin typeface="Calibri"/>
                <a:ea typeface="Calibri"/>
              </a:rPr>
              <a:t>7-Day Nutrition Plans</a:t>
            </a:r>
          </a:p>
          <a:p xmlns:a="http://schemas.openxmlformats.org/drawingml/2006/main">
            <a:r>
              <a:rPr lang="en-US" sz="1300" b="0">
                <a:solidFill>
                  <a:srgbClr val="FFFFFF"/>
                </a:solidFill>
                <a:latin typeface="Calibri"/>
                <a:ea typeface="Calibri"/>
              </a:rPr>
              <a:t>Breakfast, Lunch, Dinner</a:t>
            </a:r>
          </a:p>
          <a:p xmlns:a="http://schemas.openxmlformats.org/drawingml/2006/main">
            <a:r>
              <a:rPr lang="en-US" sz="1300" b="0">
                <a:solidFill>
                  <a:srgbClr val="FFFFFF"/>
                </a:solidFill>
                <a:latin typeface="Calibri"/>
                <a:ea typeface="Calibri"/>
              </a:rPr>
              <a:t>+ 2 daily snacks</a:t>
            </a:r>
          </a:p>
        </p:txBody>
      </p:sp>
      <p:sp>
        <p:nvSpPr>
          <p:cNvPr id="100130" name="F3"/>
          <p:cNvSpPr txBox="1"/>
          <p:nvPr/>
        </p:nvSpPr>
        <p:spPr>
          <a:xfrm xmlns:a="http://schemas.openxmlformats.org/drawingml/2006/main">
            <a:off x="7956000" y="720000"/>
            <a:ext cx="3384000" cy="108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84212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300" b="0">
                <a:solidFill>
                  <a:srgbClr val="FFFFFF"/>
                </a:solidFill>
                <a:latin typeface="Calibri"/>
                <a:ea typeface="Calibri"/>
              </a:rPr>
              <a:t>Medical Awareness</a:t>
            </a:r>
          </a:p>
          <a:p xmlns:a="http://schemas.openxmlformats.org/drawingml/2006/main">
            <a:r>
              <a:rPr lang="en-US" sz="1300" b="0">
                <a:solidFill>
                  <a:srgbClr val="FFFFFF"/>
                </a:solidFill>
                <a:latin typeface="Calibri"/>
                <a:ea typeface="Calibri"/>
              </a:rPr>
              <a:t>Diabetes, Hypertension</a:t>
            </a:r>
          </a:p>
          <a:p xmlns:a="http://schemas.openxmlformats.org/drawingml/2006/main">
            <a:r>
              <a:rPr lang="en-US" sz="1300" b="0">
                <a:solidFill>
                  <a:srgbClr val="FFFFFF"/>
                </a:solidFill>
                <a:latin typeface="Calibri"/>
                <a:ea typeface="Calibri"/>
              </a:rPr>
              <a:t>Allergies, PCOS &amp; more</a:t>
            </a:r>
          </a:p>
        </p:txBody>
      </p:sp>
      <p:sp>
        <p:nvSpPr>
          <p:cNvPr id="100131" name="F4"/>
          <p:cNvSpPr txBox="1"/>
          <p:nvPr/>
        </p:nvSpPr>
        <p:spPr>
          <a:xfrm xmlns:a="http://schemas.openxmlformats.org/drawingml/2006/main">
            <a:off x="540000" y="1980000"/>
            <a:ext cx="3420000" cy="108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22B21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300" b="0">
                <a:solidFill>
                  <a:srgbClr val="FFFFFF"/>
                </a:solidFill>
                <a:latin typeface="Calibri"/>
                <a:ea typeface="Calibri"/>
              </a:rPr>
              <a:t>Ethical AI Guardrails</a:t>
            </a:r>
          </a:p>
          <a:p xmlns:a="http://schemas.openxmlformats.org/drawingml/2006/main">
            <a:r>
              <a:rPr lang="en-US" sz="1300" b="0">
                <a:solidFill>
                  <a:srgbClr val="FFFFFF"/>
                </a:solidFill>
                <a:latin typeface="Calibri"/>
                <a:ea typeface="Calibri"/>
              </a:rPr>
              <a:t>HAM Principles</a:t>
            </a:r>
          </a:p>
          <a:p xmlns:a="http://schemas.openxmlformats.org/drawingml/2006/main">
            <a:r>
              <a:rPr lang="en-US" sz="1300" b="0">
                <a:solidFill>
                  <a:srgbClr val="FFFFFF"/>
                </a:solidFill>
                <a:latin typeface="Calibri"/>
                <a:ea typeface="Calibri"/>
              </a:rPr>
              <a:t>Input + Output screening</a:t>
            </a:r>
          </a:p>
        </p:txBody>
      </p:sp>
      <p:sp>
        <p:nvSpPr>
          <p:cNvPr id="100132" name="F5"/>
          <p:cNvSpPr txBox="1"/>
          <p:nvPr/>
        </p:nvSpPr>
        <p:spPr>
          <a:xfrm xmlns:a="http://schemas.openxmlformats.org/drawingml/2006/main">
            <a:off x="4248000" y="1980000"/>
            <a:ext cx="3420000" cy="108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12E5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300" b="0">
                <a:solidFill>
                  <a:srgbClr val="FFFFFF"/>
                </a:solidFill>
                <a:latin typeface="Calibri"/>
                <a:ea typeface="Calibri"/>
              </a:rPr>
              <a:t>Markdown Export</a:t>
            </a:r>
          </a:p>
          <a:p xmlns:a="http://schemas.openxmlformats.org/drawingml/2006/main">
            <a:r>
              <a:rPr lang="en-US" sz="1300" b="0">
                <a:solidFill>
                  <a:srgbClr val="FFFFFF"/>
                </a:solidFill>
                <a:latin typeface="Calibri"/>
                <a:ea typeface="Calibri"/>
              </a:rPr>
              <a:t>.md files with</a:t>
            </a:r>
          </a:p>
          <a:p xmlns:a="http://schemas.openxmlformats.org/drawingml/2006/main">
            <a:r>
              <a:rPr lang="en-US" sz="1300" b="0">
                <a:solidFill>
                  <a:srgbClr val="FFFFFF"/>
                </a:solidFill>
                <a:latin typeface="Calibri"/>
                <a:ea typeface="Calibri"/>
              </a:rPr>
              <a:t>YAML front-matter</a:t>
            </a:r>
          </a:p>
        </p:txBody>
      </p:sp>
      <p:sp>
        <p:nvSpPr>
          <p:cNvPr id="100133" name="F6"/>
          <p:cNvSpPr txBox="1"/>
          <p:nvPr/>
        </p:nvSpPr>
        <p:spPr>
          <a:xfrm xmlns:a="http://schemas.openxmlformats.org/drawingml/2006/main">
            <a:off x="7956000" y="1980000"/>
            <a:ext cx="3384000" cy="108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6655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300" b="0">
                <a:solidFill>
                  <a:srgbClr val="FFFFFF"/>
                </a:solidFill>
                <a:latin typeface="Calibri"/>
                <a:ea typeface="Calibri"/>
              </a:rPr>
              <a:t>Smart Fallback AI</a:t>
            </a:r>
          </a:p>
          <a:p xmlns:a="http://schemas.openxmlformats.org/drawingml/2006/main">
            <a:r>
              <a:rPr lang="en-US" sz="1300" b="0">
                <a:solidFill>
                  <a:srgbClr val="FFFFFF"/>
                </a:solidFill>
                <a:latin typeface="Calibri"/>
                <a:ea typeface="Calibri"/>
              </a:rPr>
              <a:t>Rule-based engine</a:t>
            </a:r>
          </a:p>
          <a:p xmlns:a="http://schemas.openxmlformats.org/drawingml/2006/main">
            <a:r>
              <a:rPr lang="en-US" sz="1300" b="0">
                <a:solidFill>
                  <a:srgbClr val="FFFFFF"/>
                </a:solidFill>
                <a:latin typeface="Calibri"/>
                <a:ea typeface="Calibri"/>
              </a:rPr>
              <a:t>100% uptime guarantee</a:t>
            </a:r>
          </a:p>
        </p:txBody>
      </p:sp>
      <p:sp>
        <p:nvSpPr>
          <p:cNvPr id="100134" name="F7"/>
          <p:cNvSpPr txBox="1"/>
          <p:nvPr/>
        </p:nvSpPr>
        <p:spPr>
          <a:xfrm xmlns:a="http://schemas.openxmlformats.org/drawingml/2006/main">
            <a:off x="540000" y="3240000"/>
            <a:ext cx="3420000" cy="90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5276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300" b="0">
                <a:solidFill>
                  <a:srgbClr val="FFFFFF"/>
                </a:solidFill>
                <a:latin typeface="Calibri"/>
                <a:ea typeface="Calibri"/>
              </a:rPr>
              <a:t>Q&amp;A Chat Agent</a:t>
            </a:r>
          </a:p>
          <a:p xmlns:a="http://schemas.openxmlformats.org/drawingml/2006/main">
            <a:r>
              <a:rPr lang="en-US" sz="1300" b="0">
                <a:solidFill>
                  <a:srgbClr val="FFFFFF"/>
                </a:solidFill>
                <a:latin typeface="Calibri"/>
                <a:ea typeface="Calibri"/>
              </a:rPr>
              <a:t>Context-aware answers</a:t>
            </a:r>
          </a:p>
          <a:p xmlns:a="http://schemas.openxmlformats.org/drawingml/2006/main">
            <a:r>
              <a:rPr lang="en-US" sz="1300" b="0">
                <a:solidFill>
                  <a:srgbClr val="FFFFFF"/>
                </a:solidFill>
                <a:latin typeface="Calibri"/>
                <a:ea typeface="Calibri"/>
              </a:rPr>
              <a:t>Quick-question shortcuts</a:t>
            </a:r>
          </a:p>
        </p:txBody>
      </p:sp>
      <p:sp>
        <p:nvSpPr>
          <p:cNvPr id="100135" name="F8"/>
          <p:cNvSpPr txBox="1"/>
          <p:nvPr/>
        </p:nvSpPr>
        <p:spPr>
          <a:xfrm xmlns:a="http://schemas.openxmlformats.org/drawingml/2006/main">
            <a:off x="4248000" y="3240000"/>
            <a:ext cx="3420000" cy="90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7A65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300" b="0">
                <a:solidFill>
                  <a:srgbClr val="FFFFFF"/>
                </a:solidFill>
                <a:latin typeface="Calibri"/>
                <a:ea typeface="Calibri"/>
              </a:rPr>
              <a:t>Cultural Context</a:t>
            </a:r>
          </a:p>
          <a:p xmlns:a="http://schemas.openxmlformats.org/drawingml/2006/main">
            <a:r>
              <a:rPr lang="en-US" sz="1300" b="0">
                <a:solidFill>
                  <a:srgbClr val="FFFFFF"/>
                </a:solidFill>
                <a:latin typeface="Calibri"/>
                <a:ea typeface="Calibri"/>
              </a:rPr>
              <a:t>Local food suggestions</a:t>
            </a:r>
          </a:p>
          <a:p xmlns:a="http://schemas.openxmlformats.org/drawingml/2006/main">
            <a:r>
              <a:rPr lang="en-US" sz="1300" b="0">
                <a:solidFill>
                  <a:srgbClr val="FFFFFF"/>
                </a:solidFill>
                <a:latin typeface="Calibri"/>
                <a:ea typeface="Calibri"/>
              </a:rPr>
              <a:t>based on city/country</a:t>
            </a:r>
          </a:p>
        </p:txBody>
      </p:sp>
      <p:sp>
        <p:nvSpPr>
          <p:cNvPr id="100136" name="F9"/>
          <p:cNvSpPr txBox="1"/>
          <p:nvPr/>
        </p:nvSpPr>
        <p:spPr>
          <a:xfrm xmlns:a="http://schemas.openxmlformats.org/drawingml/2006/main">
            <a:off x="7956000" y="3240000"/>
            <a:ext cx="3384000" cy="90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3D62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300" b="0">
                <a:solidFill>
                  <a:srgbClr val="FFFFFF"/>
                </a:solidFill>
                <a:latin typeface="Calibri"/>
                <a:ea typeface="Calibri"/>
              </a:rPr>
              <a:t>Responsive Web UI</a:t>
            </a:r>
          </a:p>
          <a:p xmlns:a="http://schemas.openxmlformats.org/drawingml/2006/main">
            <a:r>
              <a:rPr lang="en-US" sz="1300" b="0">
                <a:solidFill>
                  <a:srgbClr val="FFFFFF"/>
                </a:solidFill>
                <a:latin typeface="Calibri"/>
                <a:ea typeface="Calibri"/>
              </a:rPr>
              <a:t>3 tabs, mobile-friendly</a:t>
            </a:r>
          </a:p>
          <a:p xmlns:a="http://schemas.openxmlformats.org/drawingml/2006/main">
            <a:r>
              <a:rPr lang="en-US" sz="1300" b="0">
                <a:solidFill>
                  <a:srgbClr val="FFFFFF"/>
                </a:solidFill>
                <a:latin typeface="Calibri"/>
                <a:ea typeface="Calibri"/>
              </a:rPr>
              <a:t>No framework required</a:t>
            </a:r>
          </a:p>
        </p:txBody>
      </p:sp>
    </p:spTree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/>
      <p:sp>
        <p:nvSpPr>
          <p:cNvPr id="100137" name="TopBar"/>
          <p:cNvSpPr txBox="1"/>
          <p:nvPr/>
        </p:nvSpPr>
        <p:spPr>
          <a:xfrm xmlns:a="http://schemas.openxmlformats.org/drawingml/2006/main">
            <a:off x="0" y="0"/>
            <a:ext cx="12193200" cy="50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3D62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>
              <a:solidFill>
                <a:srgbClr val="0A3D62"/>
              </a:solidFill>
            </a:endParaRPr>
          </a:p>
        </p:txBody>
      </p:sp>
      <p:sp>
        <p:nvSpPr>
          <p:cNvPr id="100138" name="SlideTitle"/>
          <p:cNvSpPr txBox="1"/>
          <p:nvPr/>
        </p:nvSpPr>
        <p:spPr>
          <a:xfrm xmlns:a="http://schemas.openxmlformats.org/drawingml/2006/main">
            <a:off x="540000" y="72000"/>
            <a:ext cx="9000000" cy="36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2200" b="1">
                <a:solidFill>
                  <a:srgbClr val="FFFFFF"/>
                </a:solidFill>
                <a:latin typeface="Calibri"/>
                <a:ea typeface="Calibri"/>
              </a:rPr>
              <a:t>GitHub Repository &amp; Project Delivery</a:t>
            </a:r>
          </a:p>
        </p:txBody>
      </p:sp>
      <p:sp>
        <p:nvSpPr>
          <p:cNvPr id="100139" name="SlideNum"/>
          <p:cNvSpPr txBox="1"/>
          <p:nvPr/>
        </p:nvSpPr>
        <p:spPr>
          <a:xfrm xmlns:a="http://schemas.openxmlformats.org/drawingml/2006/main">
            <a:off x="10800000" y="72000"/>
            <a:ext cx="1080000" cy="36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2000" b="1">
                <a:solidFill>
                  <a:srgbClr val="2ECC71"/>
                </a:solidFill>
                <a:latin typeface="Calibri"/>
                <a:ea typeface="Calibri"/>
              </a:rPr>
              <a:t>15</a:t>
            </a:r>
          </a:p>
        </p:txBody>
      </p:sp>
      <p:sp>
        <p:nvSpPr>
          <p:cNvPr id="100140" name="RepoBox"/>
          <p:cNvSpPr txBox="1"/>
          <p:nvPr/>
        </p:nvSpPr>
        <p:spPr>
          <a:xfrm xmlns:a="http://schemas.openxmlformats.org/drawingml/2006/main">
            <a:off x="540000" y="720000"/>
            <a:ext cx="5220000" cy="108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3A5C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600" b="0">
                <a:solidFill>
                  <a:srgbClr val="FFFFFF"/>
                </a:solidFill>
                <a:latin typeface="Calibri"/>
                <a:ea typeface="Calibri"/>
              </a:rPr>
              <a:t>GitHub Repository</a:t>
            </a:r>
          </a:p>
          <a:p xmlns:a="http://schemas.openxmlformats.org/drawingml/2006/main">
            <a:r>
              <a:rPr lang="en-US" sz="1600" b="0">
                <a:solidFill>
                  <a:srgbClr val="FFFFFF"/>
                </a:solidFill>
                <a:latin typeface="Calibri"/>
                <a:ea typeface="Calibri"/>
              </a:rPr>
              <a:t/>
            </a:r>
          </a:p>
          <a:p xmlns:a="http://schemas.openxmlformats.org/drawingml/2006/main">
            <a:r>
              <a:rPr lang="en-US" sz="1600" b="0">
                <a:solidFill>
                  <a:srgbClr val="FFFFFF"/>
                </a:solidFill>
                <a:latin typeface="Calibri"/>
                <a:ea typeface="Calibri"/>
              </a:rPr>
              <a:t>github.com/hardikraval-collab/ibm</a:t>
            </a:r>
          </a:p>
          <a:p xmlns:a="http://schemas.openxmlformats.org/drawingml/2006/main">
            <a:r>
              <a:rPr lang="en-US" sz="1600" b="0">
                <a:solidFill>
                  <a:srgbClr val="FFFFFF"/>
                </a:solidFill>
                <a:latin typeface="Calibri"/>
                <a:ea typeface="Calibri"/>
              </a:rPr>
              <a:t>Branch: main  |  Commit: 20eb2ae</a:t>
            </a:r>
          </a:p>
        </p:txBody>
      </p:sp>
      <p:sp>
        <p:nvSpPr>
          <p:cNvPr id="100141" name="CommitBox"/>
          <p:cNvSpPr txBox="1"/>
          <p:nvPr/>
        </p:nvSpPr>
        <p:spPr>
          <a:xfrm xmlns:a="http://schemas.openxmlformats.org/drawingml/2006/main">
            <a:off x="6120000" y="720000"/>
            <a:ext cx="5220000" cy="108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BF5FB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400" b="0">
                <a:solidFill>
                  <a:srgbClr val="2C3E50"/>
                </a:solidFill>
                <a:latin typeface="Calibri"/>
                <a:ea typeface="Calibri"/>
              </a:rPr>
              <a:t>Commit Summary</a:t>
            </a:r>
          </a:p>
          <a:p xmlns:a="http://schemas.openxmlformats.org/drawingml/2006/main">
            <a:r>
              <a:rPr lang="en-US" sz="1400" b="0">
                <a:solidFill>
                  <a:srgbClr val="2C3E50"/>
                </a:solidFill>
                <a:latin typeface="Calibri"/>
                <a:ea typeface="Calibri"/>
              </a:rPr>
              <a:t/>
            </a:r>
          </a:p>
          <a:p xmlns:a="http://schemas.openxmlformats.org/drawingml/2006/main">
            <a:r>
              <a:rPr lang="en-US" sz="1400" b="0">
                <a:solidFill>
                  <a:srgbClr val="2C3E50"/>
                </a:solidFill>
                <a:latin typeface="Calibri"/>
                <a:ea typeface="Calibri"/>
              </a:rPr>
              <a:t>feat: Nutrition Agentic AI powered by IBM Granite</a:t>
            </a:r>
          </a:p>
          <a:p xmlns:a="http://schemas.openxmlformats.org/drawingml/2006/main">
            <a:r>
              <a:rPr lang="en-US" sz="1400" b="0">
                <a:solidFill>
                  <a:srgbClr val="2C3E50"/>
                </a:solidFill>
                <a:latin typeface="Calibri"/>
                <a:ea typeface="Calibri"/>
              </a:rPr>
              <a:t>12 files changed  |  2,948 insertions</a:t>
            </a:r>
          </a:p>
          <a:p xmlns:a="http://schemas.openxmlformats.org/drawingml/2006/main">
            <a:r>
              <a:rPr lang="en-US" sz="1400" b="0">
                <a:solidFill>
                  <a:srgbClr val="2C3E50"/>
                </a:solidFill>
                <a:latin typeface="Calibri"/>
                <a:ea typeface="Calibri"/>
              </a:rPr>
              <a:t>Date: October 13, 2026</a:t>
            </a:r>
          </a:p>
        </p:txBody>
      </p:sp>
      <p:sp>
        <p:nvSpPr>
          <p:cNvPr id="100142" name="FilesTitle"/>
          <p:cNvSpPr txBox="1"/>
          <p:nvPr/>
        </p:nvSpPr>
        <p:spPr>
          <a:xfrm xmlns:a="http://schemas.openxmlformats.org/drawingml/2006/main">
            <a:off x="540000" y="1980000"/>
            <a:ext cx="10800000" cy="252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500" b="1">
                <a:solidFill>
                  <a:srgbClr val="0A3D62"/>
                </a:solidFill>
                <a:latin typeface="Calibri"/>
                <a:ea typeface="Calibri"/>
              </a:rPr>
              <a:t>Files Included in Repository</a:t>
            </a:r>
          </a:p>
        </p:txBody>
      </p:sp>
      <p:sp>
        <p:nvSpPr>
          <p:cNvPr id="100143" name="FileList"/>
          <p:cNvSpPr txBox="1"/>
          <p:nvPr/>
        </p:nvSpPr>
        <p:spPr>
          <a:xfrm xmlns:a="http://schemas.openxmlformats.org/drawingml/2006/main">
            <a:off x="540000" y="2304000"/>
            <a:ext cx="10800000" cy="162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6F7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200" b="0">
                <a:solidFill>
                  <a:srgbClr val="2C3E50"/>
                </a:solidFill>
                <a:latin typeface="Calibri"/>
                <a:ea typeface="Calibri"/>
              </a:rPr>
              <a:t>  README.md               Full documentation with architecture, API ref, setup guide</a:t>
            </a:r>
          </a:p>
          <a:p xmlns:a="http://schemas.openxmlformats.org/drawingml/2006/main">
            <a:r>
              <a:rPr lang="en-US" sz="1200" b="0">
                <a:solidFill>
                  <a:srgbClr val="2C3E50"/>
                </a:solidFill>
                <a:latin typeface="Calibri"/>
                <a:ea typeface="Calibri"/>
              </a:rPr>
              <a:t>  .gitignore              Excludes secrets, __pycache__, generated plans, IDE files</a:t>
            </a:r>
          </a:p>
          <a:p xmlns:a="http://schemas.openxmlformats.org/drawingml/2006/main">
            <a:r>
              <a:rPr lang="en-US" sz="1200" b="0">
                <a:solidFill>
                  <a:srgbClr val="2C3E50"/>
                </a:solidFill>
                <a:latin typeface="Calibri"/>
                <a:ea typeface="Calibri"/>
              </a:rPr>
              <a:t>  requirements.txt        Root-level Python dependencies</a:t>
            </a:r>
          </a:p>
          <a:p xmlns:a="http://schemas.openxmlformats.org/drawingml/2006/main">
            <a:r>
              <a:rPr lang="en-US" sz="1200" b="0">
                <a:solidFill>
                  <a:srgbClr val="2C3E50"/>
                </a:solidFill>
                <a:latin typeface="Calibri"/>
                <a:ea typeface="Calibri"/>
              </a:rPr>
              <a:t>  start_nutrition_ai.bat  Windows one-click launcher with auto-install</a:t>
            </a:r>
          </a:p>
          <a:p xmlns:a="http://schemas.openxmlformats.org/drawingml/2006/main">
            <a:r>
              <a:rPr lang="en-US" sz="1200" b="0">
                <a:solidFill>
                  <a:srgbClr val="2C3E50"/>
                </a:solidFill>
                <a:latin typeface="Calibri"/>
                <a:ea typeface="Calibri"/>
              </a:rPr>
              <a:t>  NutritionAI/app.py      Flask server — 6 REST endpoints</a:t>
            </a:r>
          </a:p>
          <a:p xmlns:a="http://schemas.openxmlformats.org/drawingml/2006/main">
            <a:r>
              <a:rPr lang="en-US" sz="1200" b="0">
                <a:solidFill>
                  <a:srgbClr val="2C3E50"/>
                </a:solidFill>
                <a:latin typeface="Calibri"/>
                <a:ea typeface="Calibri"/>
              </a:rPr>
              <a:t>  NutritionAI/agents/     IBM Granite agent + guardrails</a:t>
            </a:r>
          </a:p>
          <a:p xmlns:a="http://schemas.openxmlformats.org/drawingml/2006/main">
            <a:r>
              <a:rPr lang="en-US" sz="1200" b="0">
                <a:solidFill>
                  <a:srgbClr val="2C3E50"/>
                </a:solidFill>
                <a:latin typeface="Calibri"/>
                <a:ea typeface="Calibri"/>
              </a:rPr>
              <a:t>  NutritionAI/templates/  3-tab responsive HTML web UI</a:t>
            </a:r>
          </a:p>
          <a:p xmlns:a="http://schemas.openxmlformats.org/drawingml/2006/main">
            <a:r>
              <a:rPr lang="en-US" sz="1200" b="0">
                <a:solidFill>
                  <a:srgbClr val="2C3E50"/>
                </a:solidFill>
                <a:latin typeface="Calibri"/>
                <a:ea typeface="Calibri"/>
              </a:rPr>
              <a:t>  NutritionAI/static/     CSS stylesheet + JavaScript frontend</a:t>
            </a:r>
          </a:p>
          <a:p xmlns:a="http://schemas.openxmlformats.org/drawingml/2006/main">
            <a:r>
              <a:rPr lang="en-US" sz="1200" b="0">
                <a:solidFill>
                  <a:srgbClr val="2C3E50"/>
                </a:solidFill>
                <a:latin typeface="Calibri"/>
                <a:ea typeface="Calibri"/>
              </a:rPr>
              <a:t>  NutritionAI/requirements.txt  App-level dependencies</a:t>
            </a:r>
          </a:p>
        </p:txBody>
      </p:sp>
    </p:spTree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/>
      <p:sp>
        <p:nvSpPr>
          <p:cNvPr id="100144" name="TopBar"/>
          <p:cNvSpPr txBox="1"/>
          <p:nvPr/>
        </p:nvSpPr>
        <p:spPr>
          <a:xfrm xmlns:a="http://schemas.openxmlformats.org/drawingml/2006/main">
            <a:off x="0" y="0"/>
            <a:ext cx="12193200" cy="50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3D62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>
              <a:solidFill>
                <a:srgbClr val="0A3D62"/>
              </a:solidFill>
            </a:endParaRPr>
          </a:p>
        </p:txBody>
      </p:sp>
      <p:sp>
        <p:nvSpPr>
          <p:cNvPr id="100145" name="SlideTitle"/>
          <p:cNvSpPr txBox="1"/>
          <p:nvPr/>
        </p:nvSpPr>
        <p:spPr>
          <a:xfrm xmlns:a="http://schemas.openxmlformats.org/drawingml/2006/main">
            <a:off x="540000" y="72000"/>
            <a:ext cx="9000000" cy="36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2200" b="1">
                <a:solidFill>
                  <a:srgbClr val="FFFFFF"/>
                </a:solidFill>
                <a:latin typeface="Calibri"/>
                <a:ea typeface="Calibri"/>
              </a:rPr>
              <a:t>Medical Disclaimer &amp; AI Ethics Statement</a:t>
            </a:r>
          </a:p>
        </p:txBody>
      </p:sp>
      <p:sp>
        <p:nvSpPr>
          <p:cNvPr id="100146" name="SlideNum"/>
          <p:cNvSpPr txBox="1"/>
          <p:nvPr/>
        </p:nvSpPr>
        <p:spPr>
          <a:xfrm xmlns:a="http://schemas.openxmlformats.org/drawingml/2006/main">
            <a:off x="10800000" y="72000"/>
            <a:ext cx="1080000" cy="36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2000" b="1">
                <a:solidFill>
                  <a:srgbClr val="2ECC71"/>
                </a:solidFill>
                <a:latin typeface="Calibri"/>
                <a:ea typeface="Calibri"/>
              </a:rPr>
              <a:t>16</a:t>
            </a:r>
          </a:p>
        </p:txBody>
      </p:sp>
      <p:sp>
        <p:nvSpPr>
          <p:cNvPr id="100147" name="DisclaimerFull"/>
          <p:cNvSpPr txBox="1"/>
          <p:nvPr/>
        </p:nvSpPr>
        <p:spPr>
          <a:xfrm xmlns:a="http://schemas.openxmlformats.org/drawingml/2006/main">
            <a:off x="540000" y="720000"/>
            <a:ext cx="10800000" cy="270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EDEC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300" b="0">
                <a:solidFill>
                  <a:srgbClr val="7B241C"/>
                </a:solidFill>
                <a:latin typeface="Calibri"/>
                <a:ea typeface="Calibri"/>
              </a:rPr>
              <a:t>MEDICAL DISCLAIMER</a:t>
            </a:r>
          </a:p>
          <a:p xmlns:a="http://schemas.openxmlformats.org/drawingml/2006/main">
            <a:r>
              <a:rPr lang="en-US" sz="1300" b="0">
                <a:solidFill>
                  <a:srgbClr val="7B241C"/>
                </a:solidFill>
                <a:latin typeface="Calibri"/>
                <a:ea typeface="Calibri"/>
              </a:rPr>
              <a:t/>
            </a:r>
          </a:p>
          <a:p xmlns:a="http://schemas.openxmlformats.org/drawingml/2006/main">
            <a:r>
              <a:rPr lang="en-US" sz="1300" b="0">
                <a:solidFill>
                  <a:srgbClr val="7B241C"/>
                </a:solidFill>
                <a:latin typeface="Calibri"/>
                <a:ea typeface="Calibri"/>
              </a:rPr>
              <a:t>This nutrition plan is generated by an AI assistant for informational and educational</a:t>
            </a:r>
          </a:p>
          <a:p xmlns:a="http://schemas.openxmlformats.org/drawingml/2006/main">
            <a:r>
              <a:rPr lang="en-US" sz="1300" b="0">
                <a:solidFill>
                  <a:srgbClr val="7B241C"/>
                </a:solidFill>
                <a:latin typeface="Calibri"/>
                <a:ea typeface="Calibri"/>
              </a:rPr>
              <a:t>purposes only. It is NOT a substitute for professional medical advice, diagnosis,</a:t>
            </a:r>
          </a:p>
          <a:p xmlns:a="http://schemas.openxmlformats.org/drawingml/2006/main">
            <a:r>
              <a:rPr lang="en-US" sz="1300" b="0">
                <a:solidFill>
                  <a:srgbClr val="7B241C"/>
                </a:solidFill>
                <a:latin typeface="Calibri"/>
                <a:ea typeface="Calibri"/>
              </a:rPr>
              <a:t>or treatment.</a:t>
            </a:r>
          </a:p>
          <a:p xmlns:a="http://schemas.openxmlformats.org/drawingml/2006/main">
            <a:r>
              <a:rPr lang="en-US" sz="1300" b="0">
                <a:solidFill>
                  <a:srgbClr val="7B241C"/>
                </a:solidFill>
                <a:latin typeface="Calibri"/>
                <a:ea typeface="Calibri"/>
              </a:rPr>
              <a:t/>
            </a:r>
          </a:p>
          <a:p xmlns:a="http://schemas.openxmlformats.org/drawingml/2006/main">
            <a:r>
              <a:rPr lang="en-US" sz="1300" b="0">
                <a:solidFill>
                  <a:srgbClr val="7B241C"/>
                </a:solidFill>
                <a:latin typeface="Calibri"/>
                <a:ea typeface="Calibri"/>
              </a:rPr>
              <a:t>  Always consult a qualified nutritionist, dietitian, or physician before making</a:t>
            </a:r>
          </a:p>
          <a:p xmlns:a="http://schemas.openxmlformats.org/drawingml/2006/main">
            <a:r>
              <a:rPr lang="en-US" sz="1300" b="0">
                <a:solidFill>
                  <a:srgbClr val="7B241C"/>
                </a:solidFill>
                <a:latin typeface="Calibri"/>
                <a:ea typeface="Calibri"/>
              </a:rPr>
              <a:t>  significant dietary changes.</a:t>
            </a:r>
          </a:p>
          <a:p xmlns:a="http://schemas.openxmlformats.org/drawingml/2006/main">
            <a:r>
              <a:rPr lang="en-US" sz="1300" b="0">
                <a:solidFill>
                  <a:srgbClr val="7B241C"/>
                </a:solidFill>
                <a:latin typeface="Calibri"/>
                <a:ea typeface="Calibri"/>
              </a:rPr>
              <a:t/>
            </a:r>
          </a:p>
          <a:p xmlns:a="http://schemas.openxmlformats.org/drawingml/2006/main">
            <a:r>
              <a:rPr lang="en-US" sz="1300" b="0">
                <a:solidFill>
                  <a:srgbClr val="7B241C"/>
                </a:solidFill>
                <a:latin typeface="Calibri"/>
                <a:ea typeface="Calibri"/>
              </a:rPr>
              <a:t>  If you have a medical condition (e.g. diabetes, hypertension, kidney disease),</a:t>
            </a:r>
          </a:p>
          <a:p xmlns:a="http://schemas.openxmlformats.org/drawingml/2006/main">
            <a:r>
              <a:rPr lang="en-US" sz="1300" b="0">
                <a:solidFill>
                  <a:srgbClr val="7B241C"/>
                </a:solidFill>
                <a:latin typeface="Calibri"/>
                <a:ea typeface="Calibri"/>
              </a:rPr>
              <a:t>  seek personalised clinical guidance from a healthcare professional.</a:t>
            </a:r>
          </a:p>
          <a:p xmlns:a="http://schemas.openxmlformats.org/drawingml/2006/main">
            <a:r>
              <a:rPr lang="en-US" sz="1300" b="0">
                <a:solidFill>
                  <a:srgbClr val="7B241C"/>
                </a:solidFill>
                <a:latin typeface="Calibri"/>
                <a:ea typeface="Calibri"/>
              </a:rPr>
              <a:t/>
            </a:r>
          </a:p>
          <a:p xmlns:a="http://schemas.openxmlformats.org/drawingml/2006/main">
            <a:r>
              <a:rPr lang="en-US" sz="1300" b="0">
                <a:solidFill>
                  <a:srgbClr val="7B241C"/>
                </a:solidFill>
                <a:latin typeface="Calibri"/>
                <a:ea typeface="Calibri"/>
              </a:rPr>
              <a:t>  IBM Granite AI follows ethical AI principles — this plan avoids harmful advice</a:t>
            </a:r>
          </a:p>
          <a:p xmlns:a="http://schemas.openxmlformats.org/drawingml/2006/main">
            <a:r>
              <a:rPr lang="en-US" sz="1300" b="0">
                <a:solidFill>
                  <a:srgbClr val="7B241C"/>
                </a:solidFill>
                <a:latin typeface="Calibri"/>
                <a:ea typeface="Calibri"/>
              </a:rPr>
              <a:t>  and promotes balanced, evidence-based nutrition.</a:t>
            </a:r>
          </a:p>
          <a:p xmlns:a="http://schemas.openxmlformats.org/drawingml/2006/main">
            <a:r>
              <a:rPr lang="en-US" sz="1300" b="0">
                <a:solidFill>
                  <a:srgbClr val="7B241C"/>
                </a:solidFill>
                <a:latin typeface="Calibri"/>
                <a:ea typeface="Calibri"/>
              </a:rPr>
              <a:t/>
            </a:r>
          </a:p>
          <a:p xmlns:a="http://schemas.openxmlformats.org/drawingml/2006/main">
            <a:r>
              <a:rPr lang="en-US" sz="1300" b="0">
                <a:solidFill>
                  <a:srgbClr val="7B241C"/>
                </a:solidFill>
                <a:latin typeface="Calibri"/>
                <a:ea typeface="Calibri"/>
              </a:rPr>
              <a:t>  Emergency? Contact your local emergency services or a healthcare professional</a:t>
            </a:r>
          </a:p>
          <a:p xmlns:a="http://schemas.openxmlformats.org/drawingml/2006/main">
            <a:r>
              <a:rPr lang="en-US" sz="1300" b="0">
                <a:solidFill>
                  <a:srgbClr val="7B241C"/>
                </a:solidFill>
                <a:latin typeface="Calibri"/>
                <a:ea typeface="Calibri"/>
              </a:rPr>
              <a:t>  immediately.</a:t>
            </a:r>
          </a:p>
          <a:p xmlns:a="http://schemas.openxmlformats.org/drawingml/2006/main">
            <a:r>
              <a:rPr lang="en-US" sz="1300" b="0">
                <a:solidFill>
                  <a:srgbClr val="7B241C"/>
                </a:solidFill>
                <a:latin typeface="Calibri"/>
                <a:ea typeface="Calibri"/>
              </a:rPr>
              <a:t/>
            </a:r>
          </a:p>
          <a:p xmlns:a="http://schemas.openxmlformats.org/drawingml/2006/main">
            <a:r>
              <a:rPr lang="en-US" sz="1300" b="0">
                <a:solidFill>
                  <a:srgbClr val="7B241C"/>
                </a:solidFill>
                <a:latin typeface="Calibri"/>
                <a:ea typeface="Calibri"/>
              </a:rPr>
              <a:t>Generated by Nutrition Agentic AI powered by IBM Granite LLM | watsonx.ai</a:t>
            </a:r>
          </a:p>
        </p:txBody>
      </p:sp>
      <p:sp>
        <p:nvSpPr>
          <p:cNvPr id="100148" name="IBM_Ethics"/>
          <p:cNvSpPr txBox="1"/>
          <p:nvPr/>
        </p:nvSpPr>
        <p:spPr>
          <a:xfrm xmlns:a="http://schemas.openxmlformats.org/drawingml/2006/main">
            <a:off x="540000" y="3600000"/>
            <a:ext cx="10800000" cy="252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500" b="1">
                <a:solidFill>
                  <a:srgbClr val="0A3D62"/>
                </a:solidFill>
                <a:latin typeface="Calibri"/>
                <a:ea typeface="Calibri"/>
              </a:rPr>
              <a:t>IBM AI Ethics Principles Implemented in This Project</a:t>
            </a:r>
          </a:p>
        </p:txBody>
      </p:sp>
      <p:sp>
        <p:nvSpPr>
          <p:cNvPr id="100149" name="E1"/>
          <p:cNvSpPr txBox="1"/>
          <p:nvPr/>
        </p:nvSpPr>
        <p:spPr>
          <a:xfrm xmlns:a="http://schemas.openxmlformats.org/drawingml/2006/main">
            <a:off x="540000" y="3924000"/>
            <a:ext cx="3420000" cy="54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5276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100" b="0">
                <a:solidFill>
                  <a:srgbClr val="FFFFFF"/>
                </a:solidFill>
                <a:latin typeface="Calibri"/>
                <a:ea typeface="Calibri"/>
              </a:rPr>
              <a:t>Explainability</a:t>
            </a:r>
          </a:p>
          <a:p xmlns:a="http://schemas.openxmlformats.org/drawingml/2006/main">
            <a:r>
              <a:rPr lang="en-US" sz="1100" b="0">
                <a:solidFill>
                  <a:srgbClr val="FFFFFF"/>
                </a:solidFill>
                <a:latin typeface="Calibri"/>
                <a:ea typeface="Calibri"/>
              </a:rPr>
              <a:t>Transparent AI-generated content labelling and source attribution</a:t>
            </a:r>
          </a:p>
        </p:txBody>
      </p:sp>
      <p:sp>
        <p:nvSpPr>
          <p:cNvPr id="100150" name="E2"/>
          <p:cNvSpPr txBox="1"/>
          <p:nvPr/>
        </p:nvSpPr>
        <p:spPr>
          <a:xfrm xmlns:a="http://schemas.openxmlformats.org/drawingml/2006/main">
            <a:off x="4248000" y="3924000"/>
            <a:ext cx="3420000" cy="54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7A65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100" b="0">
                <a:solidFill>
                  <a:srgbClr val="FFFFFF"/>
                </a:solidFill>
                <a:latin typeface="Calibri"/>
                <a:ea typeface="Calibri"/>
              </a:rPr>
              <a:t>Fairness</a:t>
            </a:r>
          </a:p>
          <a:p xmlns:a="http://schemas.openxmlformats.org/drawingml/2006/main">
            <a:r>
              <a:rPr lang="en-US" sz="1100" b="0">
                <a:solidFill>
                  <a:srgbClr val="FFFFFF"/>
                </a:solidFill>
                <a:latin typeface="Calibri"/>
                <a:ea typeface="Calibri"/>
              </a:rPr>
              <a:t>No demographic bias; plans tailored only to provided health data</a:t>
            </a:r>
          </a:p>
        </p:txBody>
      </p:sp>
      <p:sp>
        <p:nvSpPr>
          <p:cNvPr id="100151" name="E3"/>
          <p:cNvSpPr txBox="1"/>
          <p:nvPr/>
        </p:nvSpPr>
        <p:spPr>
          <a:xfrm xmlns:a="http://schemas.openxmlformats.org/drawingml/2006/main">
            <a:off x="7956000" y="3924000"/>
            <a:ext cx="3384000" cy="54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22B21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100" b="0">
                <a:solidFill>
                  <a:srgbClr val="FFFFFF"/>
                </a:solidFill>
                <a:latin typeface="Calibri"/>
                <a:ea typeface="Calibri"/>
              </a:rPr>
              <a:t>Safety</a:t>
            </a:r>
          </a:p>
          <a:p xmlns:a="http://schemas.openxmlformats.org/drawingml/2006/main">
            <a:r>
              <a:rPr lang="en-US" sz="1100" b="0">
                <a:solidFill>
                  <a:srgbClr val="FFFFFF"/>
                </a:solidFill>
                <a:latin typeface="Calibri"/>
                <a:ea typeface="Calibri"/>
              </a:rPr>
              <a:t>Guardrails prevent harmful dietary recommendations at all times</a:t>
            </a:r>
          </a:p>
        </p:txBody>
      </p:sp>
    </p:spTree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0A3D62"/>
        </a:solidFill>
      </p:bgPr>
    </p:bg>
    <p:spTree>
      <p:nvGrpSpPr>
        <p:cNvPr id="1" name=""/>
        <p:cNvGrpSpPr/>
        <p:nvPr/>
      </p:nvGrpSpPr>
      <p:grpSpPr/>
      <p:sp>
        <p:nvSpPr>
          <p:cNvPr id="100152" name="TopAccent"/>
          <p:cNvSpPr txBox="1"/>
          <p:nvPr/>
        </p:nvSpPr>
        <p:spPr>
          <a:xfrm xmlns:a="http://schemas.openxmlformats.org/drawingml/2006/main">
            <a:off x="0" y="0"/>
            <a:ext cx="12193200" cy="14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CC71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>
              <a:solidFill>
                <a:srgbClr val="2ECC71"/>
              </a:solidFill>
            </a:endParaRPr>
          </a:p>
        </p:txBody>
      </p:sp>
      <p:sp>
        <p:nvSpPr>
          <p:cNvPr id="100153" name="ThankYou"/>
          <p:cNvSpPr txBox="1"/>
          <p:nvPr/>
        </p:nvSpPr>
        <p:spPr>
          <a:xfrm xmlns:a="http://schemas.openxmlformats.org/drawingml/2006/main">
            <a:off x="648000" y="900000"/>
            <a:ext cx="10800000" cy="108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4800" b="1">
                <a:solidFill>
                  <a:srgbClr val="FFFFFF"/>
                </a:solidFill>
                <a:latin typeface="Calibri"/>
                <a:ea typeface="Calibri"/>
              </a:rPr>
              <a:t>Thank You</a:t>
            </a:r>
          </a:p>
        </p:txBody>
      </p:sp>
      <p:sp>
        <p:nvSpPr>
          <p:cNvPr id="100154" name="ProjectName"/>
          <p:cNvSpPr txBox="1"/>
          <p:nvPr/>
        </p:nvSpPr>
        <p:spPr>
          <a:xfrm xmlns:a="http://schemas.openxmlformats.org/drawingml/2006/main">
            <a:off x="648000" y="2088000"/>
            <a:ext cx="10800000" cy="54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2200" b="0">
                <a:solidFill>
                  <a:srgbClr val="2ECC71"/>
                </a:solidFill>
                <a:latin typeface="Calibri"/>
                <a:ea typeface="Calibri"/>
              </a:rPr>
              <a:t>Nutrition Agentic AI — IBM Granite LLM</a:t>
            </a:r>
          </a:p>
        </p:txBody>
      </p:sp>
      <p:sp>
        <p:nvSpPr>
          <p:cNvPr id="100155" name="SummaryPoints"/>
          <p:cNvSpPr txBox="1"/>
          <p:nvPr/>
        </p:nvSpPr>
        <p:spPr>
          <a:xfrm xmlns:a="http://schemas.openxmlformats.org/drawingml/2006/main">
            <a:off x="648000" y="2700000"/>
            <a:ext cx="10800000" cy="126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400" b="0">
                <a:solidFill>
                  <a:srgbClr val="BDC3C7"/>
                </a:solidFill>
                <a:latin typeface="Calibri"/>
                <a:ea typeface="Calibri"/>
              </a:rPr>
              <a:t>7 Agentic AI SDLC Phases Completed    |    IBM Granite-13B LLM Integrated</a:t>
            </a:r>
          </a:p>
          <a:p xmlns:a="http://schemas.openxmlformats.org/drawingml/2006/main">
            <a:r>
              <a:rPr lang="en-US" sz="1400" b="0">
                <a:solidFill>
                  <a:srgbClr val="BDC3C7"/>
                </a:solidFill>
                <a:latin typeface="Calibri"/>
                <a:ea typeface="Calibri"/>
              </a:rPr>
              <a:t>12 Files, 2,948 Lines of Code           |    Full Ethical Guardrails Applied</a:t>
            </a:r>
          </a:p>
          <a:p xmlns:a="http://schemas.openxmlformats.org/drawingml/2006/main">
            <a:r>
              <a:rPr lang="en-US" sz="1400" b="0">
                <a:solidFill>
                  <a:srgbClr val="BDC3C7"/>
                </a:solidFill>
                <a:latin typeface="Calibri"/>
                <a:ea typeface="Calibri"/>
              </a:rPr>
              <a:t>Personalised 7-Day Nutrition Plans      |    Markdown .md File Export</a:t>
            </a:r>
          </a:p>
          <a:p xmlns:a="http://schemas.openxmlformats.org/drawingml/2006/main">
            <a:r>
              <a:rPr lang="en-US" sz="1400" b="0">
                <a:solidFill>
                  <a:srgbClr val="BDC3C7"/>
                </a:solidFill>
                <a:latin typeface="Calibri"/>
                <a:ea typeface="Calibri"/>
              </a:rPr>
              <a:t>3-Tab Responsive Web UI                 |    REST API with 6 Endpoints</a:t>
            </a:r>
          </a:p>
        </p:txBody>
      </p:sp>
      <p:sp>
        <p:nvSpPr>
          <p:cNvPr id="100156" name="GitHubLink"/>
          <p:cNvSpPr txBox="1"/>
          <p:nvPr/>
        </p:nvSpPr>
        <p:spPr>
          <a:xfrm xmlns:a="http://schemas.openxmlformats.org/drawingml/2006/main">
            <a:off x="648000" y="4068000"/>
            <a:ext cx="5760000" cy="324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600" b="1">
                <a:solidFill>
                  <a:srgbClr val="2ECC71"/>
                </a:solidFill>
                <a:latin typeface="Calibri"/>
                <a:ea typeface="Calibri"/>
              </a:rPr>
              <a:t>github.com/hardikraval-collab/ibm</a:t>
            </a:r>
          </a:p>
        </p:txBody>
      </p:sp>
      <p:sp>
        <p:nvSpPr>
          <p:cNvPr id="100157" name="RunCmd"/>
          <p:cNvSpPr txBox="1"/>
          <p:nvPr/>
        </p:nvSpPr>
        <p:spPr>
          <a:xfrm xmlns:a="http://schemas.openxmlformats.org/drawingml/2006/main">
            <a:off x="648000" y="4464000"/>
            <a:ext cx="10800000" cy="252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400" b="0">
                <a:solidFill>
                  <a:srgbClr val="A9CCE3"/>
                </a:solidFill>
                <a:latin typeface="Courier New"/>
                <a:ea typeface="Courier New"/>
              </a:rPr>
              <a:t>git clone https://github.com/hardikraval-collab/ibm.git</a:t>
            </a:r>
          </a:p>
        </p:txBody>
      </p:sp>
      <p:sp>
        <p:nvSpPr>
          <p:cNvPr id="100158" name="BottomBar"/>
          <p:cNvSpPr txBox="1"/>
          <p:nvPr/>
        </p:nvSpPr>
        <p:spPr>
          <a:xfrm xmlns:a="http://schemas.openxmlformats.org/drawingml/2006/main">
            <a:off x="0" y="6408000"/>
            <a:ext cx="12193200" cy="3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F32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200" b="0">
                <a:solidFill>
                  <a:srgbClr val="7F8C8D"/>
                </a:solidFill>
                <a:latin typeface="Calibri"/>
                <a:ea typeface="Calibri"/>
              </a:rPr>
              <a:t>IBM Workshop  |  Nutrition Agentic AI  |  Python 3.7 + Flask + IBM Granite LLM  |  watsonx.ai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>
          <a:solidFill>
            <a:schemeClr val="phClr"/>
          </a:solidFill>
        </a:ln>
        <a:ln w="12700" cap="flat">
          <a:solidFill>
            <a:schemeClr val="phClr"/>
          </a:solidFill>
        </a:ln>
        <a:ln w="19050" cap="flat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ap:Properties xmlns:ap="http://schemas.openxmlformats.org/officeDocument/2006/extended-properties">
  <ap:Application>OfficeCLI/1.0.144</ap:Application>
</ap: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creator>OfficeCLI</dc:creator>
  <dcterms:created xsi:type="dcterms:W3CDTF">2026-10-13T09:08:35Z</dcterms:created>
  <cp:lastModifiedBy>OfficeCLI</cp:lastModifiedBy>
  <dcterms:modified xsi:type="dcterms:W3CDTF">2026-10-13T09:08:35Z</dcterms:modified>
</cp:coreProperties>
</file>

<file path=docProps/custom.xml><?xml version="1.0" encoding="utf-8"?>
<op:Properties xmlns:op="http://schemas.openxmlformats.org/officeDocument/2006/custom-properties">
  <op:property fmtid="{D5CDD505-2E9C-101B-9397-08002B2CF9AE}" pid="2" name="OfficeCLI.Version">
    <vt:lpwstr xmlns:vt="http://schemas.openxmlformats.org/officeDocument/2006/docPropsVTypes">1.0.157</vt:lpwstr>
  </op:property>
  <op:property fmtid="{D5CDD505-2E9C-101B-9397-08002B2CF9AE}" pid="3" name="OfficeCLI.LastModified">
    <vt:lpwstr xmlns:vt="http://schemas.openxmlformats.org/officeDocument/2006/docPropsVTypes">2026-10-13T09:13:36Z</vt:lpwstr>
  </op:property>
</op:Properties>
</file>