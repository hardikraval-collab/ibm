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slide: Nutrition Agentic AI powered by IBM Granite LLM. Full-stack web application built with Flask, Python, and IBM watsonx.ai.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Overview: Nutrition Agentic AI is a complete web application using IBM Granite LLM. It collects user data, applies agentic reasoning, generates personalised nutrition plans, and saves them as Markdown files.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SDLC: 7 phases from requirements through deployment. Every phase maps directly to code in the repository.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Architecture: Browser sends HTTP to Flask, Flask calls the agentic pipeline, which calls IBM Granite or falls back to rule engine. All inputs and outputs pass through the guardrail layer.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IBM Granite integration: Uses granite-13b-instruct-v2. Authenticates via IBM IAM token. Falls back to rule-based AI if API is unavailable — ensuring 100% uptime.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Generate Plan tab has two panels: left is the user profile form collecting personal info, diet, medical history and location; right shows the AI-generated personalised nutrition plan.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Ask AI tab provides a chat interface powered by IBM Granite. Users can type nutrition questions or click quick-question buttons. The AI responds with evidence-based guidance and ethical guardrails.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generated plan is saved as a .md file with YAML front-matter metadata, full 7-day meal plan content, and an auto-appended medical disclaimer. Files are downloadable from the My Plans tab.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7-day plan covers every meal: breakfast, lunch, dinner, and 2 snacks per day. Calorie and macro targets are adjusted for the user's medical conditions (diabetes: low GI, blood pressure: low sodium).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HAM = Helpful, Accurate, Mindful. Guardrails screen both user inputs and AI outputs. Medical awareness means the plan automatically adapts to diabetes, hypertension, allergies etc.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 REST API endpoints. POST /api/generate-plan is the core endpoint — takes user profile JSON, returns complete nutrition plan and saves the .md file. All endpoints have guardrails applied.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 structure: 12 files, 2948 lines. Core intelligence in granite_agent.py (657 lines). Flask routes in app.py. Full responsive frontend in templates and static directories.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Deployment: Windows users can double-click start_nutrition_ai.bat for one-click setup. Manual install works on all platforms. IBM watsonx.ai credentials are optional.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9 key features: IBM Granite LLM, 7-day plans, medical awareness, HAM guardrails, markdown export, smart fallback AI, Q&amp;A agent, cultural context, and responsive web UI.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GitHub repository: github.com/hardikraval-collab/ibm. All 12 files pushed to main branch. Clean commit with descriptive message. .gitignore properly excludes secrets and generated files.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generated plan includes this full medical disclaimer. IBM AI Ethics principles of explainability, fairness, and safety are all implemented through guardrails and transparent design.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Summary: Complete Nutrition Agentic AI application using IBM Granite LLM. 7 SDLC phases, 12 files, 2948 lines. Available on GitHub.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ECC71"/>
          </a:solidFill>
        </p:spPr>
        <p:txBody>
          <a:bodyPr/>
          <a:lstStyle/>
          <a:p>
            <a:endParaRPr lang="en-US">
              <a:solidFill>
                <a:srgbClr val="2ECC71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>
            <a:off x="648000" y="1080000"/>
            <a:ext cx="10800000" cy="108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Nutrition Agentic AI</a:t>
            </a:r>
          </a:p>
        </p:txBody>
      </p:sp>
      <p:sp>
        <p:nvSpPr>
          <p:cNvPr id="100002" name="Sub"/>
          <p:cNvSpPr txBox="1"/>
          <p:nvPr/>
        </p:nvSpPr>
        <p:spPr>
          <a:xfrm>
            <a:off x="648000" y="2268000"/>
            <a:ext cx="10800000" cy="540000"/>
          </a:xfrm>
          <a:prstGeom prst="rect">
            <a:avLst/>
          </a:prstGeom>
        </p:spPr>
        <p:txBody>
          <a:bodyPr/>
          <a:lstStyle/>
          <a:p>
            <a:r>
              <a:rPr lang="en-US" sz="2200" b="0">
                <a:solidFill>
                  <a:srgbClr val="2ECC71"/>
                </a:solidFill>
                <a:latin typeface="Calibri"/>
                <a:ea typeface="Calibri"/>
              </a:rPr>
              <a:t>Powered by IBM Granite LLM &amp; watsonx.ai</a:t>
            </a:r>
          </a:p>
        </p:txBody>
      </p:sp>
      <p:sp>
        <p:nvSpPr>
          <p:cNvPr id="100003" name="Tagline"/>
          <p:cNvSpPr txBox="1"/>
          <p:nvPr/>
        </p:nvSpPr>
        <p:spPr>
          <a:xfrm>
            <a:off x="648000" y="2952000"/>
            <a:ext cx="10800000" cy="432000"/>
          </a:xfrm>
          <a:prstGeom prst="rect">
            <a:avLst/>
          </a:prstGeom>
        </p:spPr>
        <p:txBody>
          <a:bodyPr/>
          <a:lstStyle/>
          <a:p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Personalised 7-Day Nutrition Plans | Ethical AI Guardrails | Medical Awareness | IBM Granite 13B</a:t>
            </a:r>
          </a:p>
        </p:txBody>
      </p:sp>
      <p:sp>
        <p:nvSpPr>
          <p:cNvPr id="100004" name="Footer"/>
          <p:cNvSpPr txBox="1"/>
          <p:nvPr/>
        </p:nvSpPr>
        <p:spPr>
          <a:xfrm>
            <a:off x="648000" y="5940000"/>
            <a:ext cx="10800000" cy="288000"/>
          </a:xfrm>
          <a:prstGeom prst="rect">
            <a:avLst/>
          </a:prstGeom>
        </p:spPr>
        <p:txBody>
          <a:bodyPr/>
          <a:lstStyle/>
          <a:p>
            <a:r>
              <a:rPr lang="en-US" sz="1100" b="0">
                <a:solidFill>
                  <a:srgbClr val="7F8C8D"/>
                </a:solidFill>
                <a:latin typeface="Calibri"/>
                <a:ea typeface="Calibri"/>
              </a:rPr>
              <a:t>GitHub: github.com/hardikraval-collab/ibm  |  Python 3.7 + Flask + IBM Granite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06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07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08" name="MainTitle"/>
          <p:cNvSpPr txBox="1"/>
          <p:nvPr/>
        </p:nvSpPr>
        <p:spPr>
          <a:xfrm>
            <a:off x="540000" y="648000"/>
            <a:ext cx="10800000" cy="504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A3D62"/>
                </a:solidFill>
                <a:latin typeface="Calibri"/>
                <a:ea typeface="Calibri"/>
              </a:rPr>
              <a:t>What is Nutrition Agentic AI?</a:t>
            </a:r>
          </a:p>
        </p:txBody>
      </p:sp>
      <p:sp>
        <p:nvSpPr>
          <p:cNvPr id="100009" name="Desc"/>
          <p:cNvSpPr txBox="1"/>
          <p:nvPr/>
        </p:nvSpPr>
        <p:spPr>
          <a:xfrm>
            <a:off x="540000" y="1224000"/>
            <a:ext cx="10800000" cy="720000"/>
          </a:xfrm>
          <a:prstGeom prst="rect">
            <a:avLst/>
          </a:prstGeom>
        </p:spPr>
        <p:txBody>
          <a:bodyPr/>
          <a:lstStyle/>
          <a:p>
            <a:r>
              <a:rPr lang="en-US" sz="1600" b="0">
                <a:solidFill>
                  <a:srgbClr val="2C3E50"/>
                </a:solidFill>
                <a:latin typeface="Calibri"/>
                <a:ea typeface="Calibri"/>
              </a:rPr>
              <a:t>A full-stack Agentic AI web application that generates personalised 7-day nutrition plans using IBM Granite LLM via watsonx.ai, with ethical guardrails, HAM principles, and medical disclaimers built in.</a:t>
            </a:r>
          </a:p>
        </p:txBody>
      </p:sp>
      <p:sp>
        <p:nvSpPr>
          <p:cNvPr id="100010" name="Box1"/>
          <p:cNvSpPr txBox="1"/>
          <p:nvPr/>
        </p:nvSpPr>
        <p:spPr>
          <a:xfrm>
            <a:off x="540000" y="2088000"/>
            <a:ext cx="3060000" cy="1440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 LLM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granite-13b-instruct-v2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via watsonx.ai REST API</a:t>
            </a:r>
          </a:p>
        </p:txBody>
      </p:sp>
      <p:sp>
        <p:nvSpPr>
          <p:cNvPr id="100011" name="Box2"/>
          <p:cNvSpPr txBox="1"/>
          <p:nvPr/>
        </p:nvSpPr>
        <p:spPr>
          <a:xfrm>
            <a:off x="4032000" y="2088000"/>
            <a:ext cx="3060000" cy="1440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Agentic AI Pipeline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Plan &gt; Execute &gt; Guard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Reflect &gt; Q&amp;A</a:t>
            </a:r>
          </a:p>
        </p:txBody>
      </p:sp>
      <p:sp>
        <p:nvSpPr>
          <p:cNvPr id="100012" name="Box3"/>
          <p:cNvSpPr txBox="1"/>
          <p:nvPr/>
        </p:nvSpPr>
        <p:spPr>
          <a:xfrm>
            <a:off x="7524000" y="2088000"/>
            <a:ext cx="3060000" cy="144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Medical Awareness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Diabetes, Hypertension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Allergies &amp; More</a:t>
            </a:r>
          </a:p>
        </p:txBody>
      </p:sp>
      <p:sp>
        <p:nvSpPr>
          <p:cNvPr id="100013" name="TechStack"/>
          <p:cNvSpPr txBox="1"/>
          <p:nvPr/>
        </p:nvSpPr>
        <p:spPr>
          <a:xfrm>
            <a:off x="540000" y="3780000"/>
            <a:ext cx="10800000" cy="324000"/>
          </a:xfrm>
          <a:prstGeom prst="rect">
            <a:avLst/>
          </a:prstGeom>
        </p:spPr>
        <p:txBody>
          <a:bodyPr/>
          <a:lstStyle/>
          <a:p>
            <a:r>
              <a:rPr lang="en-US" sz="1300" b="0">
                <a:solidFill>
                  <a:srgbClr val="566573"/>
                </a:solidFill>
                <a:latin typeface="Calibri"/>
                <a:ea typeface="Calibri"/>
              </a:rPr>
              <a:t>Tech Stack:  Python 3.7  |  Flask 1.0  |  IBM Watson SDK  |  HTML5 / CSS3 / JavaScript  |  Markdown Export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15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Agentic AI SDLC Phases</a:t>
            </a:r>
          </a:p>
        </p:txBody>
      </p:sp>
      <p:sp>
        <p:nvSpPr>
          <p:cNvPr id="100016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17" name="Ph1"/>
          <p:cNvSpPr txBox="1"/>
          <p:nvPr/>
        </p:nvSpPr>
        <p:spPr>
          <a:xfrm>
            <a:off x="540000" y="648000"/>
            <a:ext cx="10800000" cy="504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1 — Requirements Analysis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User profile collection: name, age, diet, medical history, city, country, goals, allergies</a:t>
            </a:r>
          </a:p>
        </p:txBody>
      </p:sp>
      <p:sp>
        <p:nvSpPr>
          <p:cNvPr id="100018" name="Ph2"/>
          <p:cNvSpPr txBox="1"/>
          <p:nvPr/>
        </p:nvSpPr>
        <p:spPr>
          <a:xfrm>
            <a:off x="540000" y="1260000"/>
            <a:ext cx="10800000" cy="504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2 — Agent Design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Multi-agent architecture: Planner &gt; Executor &gt; Guardrail &gt; Reflector &gt; Q&amp;A Agent</a:t>
            </a:r>
          </a:p>
        </p:txBody>
      </p:sp>
      <p:sp>
        <p:nvSpPr>
          <p:cNvPr id="100019" name="Ph3"/>
          <p:cNvSpPr txBox="1"/>
          <p:nvPr/>
        </p:nvSpPr>
        <p:spPr>
          <a:xfrm>
            <a:off x="540000" y="1872000"/>
            <a:ext cx="10800000" cy="504000"/>
          </a:xfrm>
          <a:prstGeom prst="rect">
            <a:avLst/>
          </a:prstGeom>
          <a:solidFill>
            <a:srgbClr val="78421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3 — Prompt Engineering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Structured, ethics-aware prompts with user context, dietary rules, and medical constraints</a:t>
            </a:r>
          </a:p>
        </p:txBody>
      </p:sp>
      <p:sp>
        <p:nvSpPr>
          <p:cNvPr id="100020" name="Ph4"/>
          <p:cNvSpPr txBox="1"/>
          <p:nvPr/>
        </p:nvSpPr>
        <p:spPr>
          <a:xfrm>
            <a:off x="540000" y="2484000"/>
            <a:ext cx="10800000" cy="504000"/>
          </a:xfrm>
          <a:prstGeom prst="rect">
            <a:avLst/>
          </a:prstGeom>
          <a:solidFill>
            <a:srgbClr val="512E5F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4 — Tool Integration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 via watsonx.ai REST API + IAM token auth + intelligent fallback engine</a:t>
            </a:r>
          </a:p>
        </p:txBody>
      </p:sp>
      <p:sp>
        <p:nvSpPr>
          <p:cNvPr id="100021" name="Ph5"/>
          <p:cNvSpPr txBox="1"/>
          <p:nvPr/>
        </p:nvSpPr>
        <p:spPr>
          <a:xfrm>
            <a:off x="540000" y="3096000"/>
            <a:ext cx="10800000" cy="504000"/>
          </a:xfrm>
          <a:prstGeom prst="rect">
            <a:avLst/>
          </a:prstGeom>
          <a:solidFill>
            <a:srgbClr val="922B21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5 — Guardrails &amp; Ethics (HAM)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Harmful keyword filtering, medical boundary enforcement, HAM principles applied</a:t>
            </a:r>
          </a:p>
        </p:txBody>
      </p:sp>
      <p:sp>
        <p:nvSpPr>
          <p:cNvPr id="100022" name="Ph6"/>
          <p:cNvSpPr txBox="1"/>
          <p:nvPr/>
        </p:nvSpPr>
        <p:spPr>
          <a:xfrm>
            <a:off x="540000" y="3708000"/>
            <a:ext cx="52560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6 — Plan Persistence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Markdown file generation with YAML front-matter, downloadable .md output</a:t>
            </a:r>
          </a:p>
        </p:txBody>
      </p:sp>
      <p:sp>
        <p:nvSpPr>
          <p:cNvPr id="100023" name="Ph7"/>
          <p:cNvSpPr txBox="1"/>
          <p:nvPr/>
        </p:nvSpPr>
        <p:spPr>
          <a:xfrm>
            <a:off x="5904000" y="3708000"/>
            <a:ext cx="5436000" cy="504000"/>
          </a:xfrm>
          <a:prstGeom prst="rect">
            <a:avLst/>
          </a:prstGeom>
          <a:solidFill>
            <a:srgbClr val="0E665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7 — Deployment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Flask web server, REST API, HTML/CSS/JS frontend, Windows .bat launcher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4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25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26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00027" name="Browser"/>
          <p:cNvSpPr txBox="1"/>
          <p:nvPr/>
        </p:nvSpPr>
        <p:spPr>
          <a:xfrm>
            <a:off x="540000" y="792000"/>
            <a:ext cx="2160000" cy="1260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Browser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(HTML / CSS / JS)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User Interface</a:t>
            </a:r>
          </a:p>
        </p:txBody>
      </p:sp>
      <p:sp>
        <p:nvSpPr>
          <p:cNvPr id="100028" name="Arrow1"/>
          <p:cNvSpPr txBox="1"/>
          <p:nvPr/>
        </p:nvSpPr>
        <p:spPr>
          <a:xfrm>
            <a:off x="2880000" y="1296000"/>
            <a:ext cx="10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0A3D62"/>
                </a:solidFill>
                <a:latin typeface="Calibri"/>
                <a:ea typeface="Calibri"/>
              </a:rPr>
              <a:t>HTTP REST</a:t>
            </a:r>
          </a:p>
        </p:txBody>
      </p:sp>
      <p:sp>
        <p:nvSpPr>
          <p:cNvPr id="100029" name="Flask"/>
          <p:cNvSpPr txBox="1"/>
          <p:nvPr/>
        </p:nvSpPr>
        <p:spPr>
          <a:xfrm>
            <a:off x="4140000" y="792000"/>
            <a:ext cx="2160000" cy="126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Flask Server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app.py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6 REST Endpoints</a:t>
            </a:r>
          </a:p>
        </p:txBody>
      </p:sp>
      <p:sp>
        <p:nvSpPr>
          <p:cNvPr id="100030" name="Arrow2"/>
          <p:cNvSpPr txBox="1"/>
          <p:nvPr/>
        </p:nvSpPr>
        <p:spPr>
          <a:xfrm>
            <a:off x="6480000" y="1296000"/>
            <a:ext cx="90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0">
                <a:solidFill>
                  <a:srgbClr val="0A3D62"/>
                </a:solidFill>
                <a:latin typeface="Calibri"/>
                <a:ea typeface="Calibri"/>
              </a:rPr>
              <a:t>calls</a:t>
            </a:r>
          </a:p>
        </p:txBody>
      </p:sp>
      <p:sp>
        <p:nvSpPr>
          <p:cNvPr id="100031" name="Agent"/>
          <p:cNvSpPr txBox="1"/>
          <p:nvPr/>
        </p:nvSpPr>
        <p:spPr>
          <a:xfrm>
            <a:off x="7560000" y="792000"/>
            <a:ext cx="2520000" cy="1260000"/>
          </a:xfrm>
          <a:prstGeom prst="rect">
            <a:avLst/>
          </a:prstGeom>
          <a:solidFill>
            <a:srgbClr val="78421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Agentic Pipeline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granite_agent.py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Plan&gt;Execute&gt;Guard&gt;Reflect</a:t>
            </a:r>
          </a:p>
        </p:txBody>
      </p:sp>
      <p:sp>
        <p:nvSpPr>
          <p:cNvPr id="100032" name="Granite"/>
          <p:cNvSpPr txBox="1"/>
          <p:nvPr/>
        </p:nvSpPr>
        <p:spPr>
          <a:xfrm>
            <a:off x="540000" y="2592000"/>
            <a:ext cx="2880000" cy="1080000"/>
          </a:xfrm>
          <a:prstGeom prst="rect">
            <a:avLst/>
          </a:prstGeom>
          <a:solidFill>
            <a:srgbClr val="512E5F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granite-13b-instruct-v2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watsonx.ai</a:t>
            </a:r>
          </a:p>
        </p:txBody>
      </p:sp>
      <p:sp>
        <p:nvSpPr>
          <p:cNvPr id="100033" name="Plans"/>
          <p:cNvSpPr txBox="1"/>
          <p:nvPr/>
        </p:nvSpPr>
        <p:spPr>
          <a:xfrm>
            <a:off x="4320000" y="2592000"/>
            <a:ext cx="2880000" cy="1080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Nutrition Plans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.md files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YAML + Markdown</a:t>
            </a:r>
          </a:p>
        </p:txBody>
      </p:sp>
      <p:sp>
        <p:nvSpPr>
          <p:cNvPr id="100034" name="QA"/>
          <p:cNvSpPr txBox="1"/>
          <p:nvPr/>
        </p:nvSpPr>
        <p:spPr>
          <a:xfrm>
            <a:off x="8100000" y="2592000"/>
            <a:ext cx="2520000" cy="108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Q&amp;A Agent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Context-aware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Nutrition Q&amp;A</a:t>
            </a:r>
          </a:p>
        </p:txBody>
      </p:sp>
      <p:sp>
        <p:nvSpPr>
          <p:cNvPr id="100035" name="GuardNote"/>
          <p:cNvSpPr txBox="1"/>
          <p:nvPr/>
        </p:nvSpPr>
        <p:spPr>
          <a:xfrm>
            <a:off x="540000" y="3960000"/>
            <a:ext cx="10800000" cy="324000"/>
          </a:xfrm>
          <a:prstGeom prst="rect">
            <a:avLst/>
          </a:prstGeom>
          <a:solidFill>
            <a:srgbClr val="922B21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Guardrail Layer: Harmful keyword filtering on ALL inputs and outputs before processing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6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37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IBM Granite LLM Integration</a:t>
            </a:r>
          </a:p>
        </p:txBody>
      </p:sp>
      <p:sp>
        <p:nvSpPr>
          <p:cNvPr id="100038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100039" name="ModelBox"/>
          <p:cNvSpPr txBox="1"/>
          <p:nvPr/>
        </p:nvSpPr>
        <p:spPr>
          <a:xfrm>
            <a:off x="540000" y="684000"/>
            <a:ext cx="5040000" cy="1008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Model: ibm/granite-13b-instruct-v2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Platform: IBM watsonx.ai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Endpoint: us-south.ml.cloud.ibm.com</a:t>
            </a:r>
          </a:p>
        </p:txBody>
      </p:sp>
      <p:sp>
        <p:nvSpPr>
          <p:cNvPr id="100040" name="ParamsBox"/>
          <p:cNvSpPr txBox="1"/>
          <p:nvPr/>
        </p:nvSpPr>
        <p:spPr>
          <a:xfrm>
            <a:off x="5940000" y="684000"/>
            <a:ext cx="5040000" cy="1008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Parameters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Decoding: greedy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Max tokens: 2,000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Min tokens: 100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Repetition penalty: 1.1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Temperature: 0.7</a:t>
            </a:r>
          </a:p>
        </p:txBody>
      </p:sp>
      <p:sp>
        <p:nvSpPr>
          <p:cNvPr id="100041" name="FlowTitle"/>
          <p:cNvSpPr txBox="1"/>
          <p:nvPr/>
        </p:nvSpPr>
        <p:spPr>
          <a:xfrm>
            <a:off x="540000" y="1872000"/>
            <a:ext cx="10800000" cy="252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API Call Flow</a:t>
            </a:r>
          </a:p>
        </p:txBody>
      </p:sp>
      <p:sp>
        <p:nvSpPr>
          <p:cNvPr id="100042" name="Step1"/>
          <p:cNvSpPr txBox="1"/>
          <p:nvPr/>
        </p:nvSpPr>
        <p:spPr>
          <a:xfrm>
            <a:off x="540000" y="2232000"/>
            <a:ext cx="1980000" cy="792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1. Validate API Key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(skip if placeholder)</a:t>
            </a:r>
          </a:p>
        </p:txBody>
      </p:sp>
      <p:sp>
        <p:nvSpPr>
          <p:cNvPr id="100043" name="Step2"/>
          <p:cNvSpPr txBox="1"/>
          <p:nvPr/>
        </p:nvSpPr>
        <p:spPr>
          <a:xfrm>
            <a:off x="2808000" y="2232000"/>
            <a:ext cx="1980000" cy="792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2. Get IAM Token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POST iam.cloud.ibm.com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/identity/token</a:t>
            </a:r>
          </a:p>
        </p:txBody>
      </p:sp>
      <p:sp>
        <p:nvSpPr>
          <p:cNvPr id="100044" name="Step3"/>
          <p:cNvSpPr txBox="1"/>
          <p:nvPr/>
        </p:nvSpPr>
        <p:spPr>
          <a:xfrm>
            <a:off x="5076000" y="2232000"/>
            <a:ext cx="1980000" cy="792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3. POST to Granite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/ml/v1-beta/generation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/text</a:t>
            </a:r>
          </a:p>
        </p:txBody>
      </p:sp>
      <p:sp>
        <p:nvSpPr>
          <p:cNvPr id="100045" name="Step4"/>
          <p:cNvSpPr txBox="1"/>
          <p:nvPr/>
        </p:nvSpPr>
        <p:spPr>
          <a:xfrm>
            <a:off x="7344000" y="2232000"/>
            <a:ext cx="1980000" cy="792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4. Extract Text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results[0]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.generated_text</a:t>
            </a:r>
          </a:p>
        </p:txBody>
      </p:sp>
      <p:sp>
        <p:nvSpPr>
          <p:cNvPr id="100046" name="Step5"/>
          <p:cNvSpPr txBox="1"/>
          <p:nvPr/>
        </p:nvSpPr>
        <p:spPr>
          <a:xfrm>
            <a:off x="9612000" y="2232000"/>
            <a:ext cx="1692000" cy="792000"/>
          </a:xfrm>
          <a:prstGeom prst="rect">
            <a:avLst/>
          </a:prstGeom>
          <a:solidFill>
            <a:srgbClr val="784212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5. Fallback AI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Rule-based engine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if API unavailable</a:t>
            </a:r>
          </a:p>
        </p:txBody>
      </p:sp>
      <p:sp>
        <p:nvSpPr>
          <p:cNvPr id="100047" name="FallbackNote"/>
          <p:cNvSpPr txBox="1"/>
          <p:nvPr/>
        </p:nvSpPr>
        <p:spPr>
          <a:xfrm>
            <a:off x="540000" y="3312000"/>
            <a:ext cx="10800000" cy="648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Smart Fallback: When watsonx.ai API is unavailable, the application automatically uses the built-in rule-based AI engine — users always receive a complete, personalised 7-day plan.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8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49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Web UI — Screenshot: Generate Plan Tab</a:t>
            </a:r>
          </a:p>
        </p:txBody>
      </p:sp>
      <p:sp>
        <p:nvSpPr>
          <p:cNvPr id="100050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100051" name="MockupBg"/>
          <p:cNvSpPr txBox="1"/>
          <p:nvPr/>
        </p:nvSpPr>
        <p:spPr>
          <a:xfrm>
            <a:off x="540000" y="612000"/>
            <a:ext cx="10980000" cy="3780000"/>
          </a:xfrm>
          <a:prstGeom prst="rect">
            <a:avLst/>
          </a:prstGeom>
          <a:solidFill>
            <a:srgbClr val="F2F3F4"/>
          </a:solidFill>
        </p:spPr>
        <p:txBody>
          <a:bodyPr/>
          <a:lstStyle/>
          <a:p>
            <a:endParaRPr lang="en-US">
              <a:solidFill>
                <a:srgbClr val="BDC3C7"/>
              </a:solidFill>
            </a:endParaRPr>
          </a:p>
        </p:txBody>
      </p:sp>
      <p:sp>
        <p:nvSpPr>
          <p:cNvPr id="100052" name="HeaderBar"/>
          <p:cNvSpPr txBox="1"/>
          <p:nvPr/>
        </p:nvSpPr>
        <p:spPr>
          <a:xfrm>
            <a:off x="540000" y="612000"/>
            <a:ext cx="10980000" cy="396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  Nutrition Agentic AI    Powered by IBM Granite &amp; watsonx.ai</a:t>
            </a:r>
          </a:p>
        </p:txBody>
      </p:sp>
      <p:sp>
        <p:nvSpPr>
          <p:cNvPr id="100053" name="NavTabs"/>
          <p:cNvSpPr txBox="1"/>
          <p:nvPr/>
        </p:nvSpPr>
        <p:spPr>
          <a:xfrm>
            <a:off x="540000" y="1008000"/>
            <a:ext cx="10980000" cy="252000"/>
          </a:xfrm>
          <a:prstGeom prst="rect">
            <a:avLst/>
          </a:prstGeom>
          <a:solidFill>
            <a:srgbClr val="14304F"/>
          </a:solidFill>
        </p:spPr>
        <p:txBody>
          <a:bodyPr/>
          <a:lstStyle/>
          <a:p>
            <a:r>
              <a:rPr lang="en-US" sz="1200" b="0">
                <a:solidFill>
                  <a:srgbClr val="CCCCCC"/>
                </a:solidFill>
                <a:latin typeface="Calibri"/>
                <a:ea typeface="Calibri"/>
              </a:rPr>
              <a:t>  Generate Plan      Ask AI      My Plans</a:t>
            </a:r>
          </a:p>
        </p:txBody>
      </p:sp>
      <p:sp>
        <p:nvSpPr>
          <p:cNvPr id="100054" name="FormPanel"/>
          <p:cNvSpPr txBox="1"/>
          <p:nvPr/>
        </p:nvSpPr>
        <p:spPr>
          <a:xfrm>
            <a:off x="576000" y="1296000"/>
            <a:ext cx="4500000" cy="3024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Your Profile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Full Name:  [Aisha Khan          ]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Age:  [35]   Weight: [68 kg]   Height: [165 cm]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Diet Preference:  [Vegetarian       ]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Activity Level:  [Moderate           ]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Goal:  [Manage diabetes           ]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Medical History: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[x] Diabetes   [x] Blood Pressure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 ] Thyroid    [ ] Heart Disease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City: [Mumbai]   Country: [India]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Allergies: [peanuts]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  Generate My Nutrition Plan  ]</a:t>
            </a:r>
          </a:p>
        </p:txBody>
      </p:sp>
      <p:sp>
        <p:nvSpPr>
          <p:cNvPr id="100055" name="OutputPanel"/>
          <p:cNvSpPr txBox="1"/>
          <p:nvPr/>
        </p:nvSpPr>
        <p:spPr>
          <a:xfrm>
            <a:off x="5148000" y="1296000"/>
            <a:ext cx="6300000" cy="3024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Your Nutrition Plan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Personalised 7-Day Nutrition Plan for Aisha Khan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Day 1 — Energise &amp; Balance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Breakfast (400-450 kcal)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Oatmeal with berries and chia seeds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Paneer scramble  |  Green tea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Lunch (500-550 kcal)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Brown rice (low GI) with lentil curry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Mixed vegetable salad, olive oil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Dinner (450-500 kcal)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Whole wheat roti (2) with tofu</a:t>
            </a: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Steamed broccoli  |  Clear soup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Snacks: Apple + almond butter  |  Mixed nuts</a:t>
            </a:r>
          </a:p>
          <a:p>
            <a:endParaRPr lang="en-US" sz="11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[Download .md]  [Print]  [Copy]</a:t>
            </a:r>
          </a:p>
        </p:txBody>
      </p:sp>
      <p:sp>
        <p:nvSpPr>
          <p:cNvPr id="100056" name="Caption"/>
          <p:cNvSpPr txBox="1"/>
          <p:nvPr/>
        </p:nvSpPr>
        <p:spPr>
          <a:xfrm>
            <a:off x="540000" y="4500000"/>
            <a:ext cx="10980000" cy="252000"/>
          </a:xfrm>
          <a:prstGeom prst="rect">
            <a:avLst/>
          </a:prstGeom>
        </p:spPr>
        <p:txBody>
          <a:bodyPr/>
          <a:lstStyle/>
          <a:p>
            <a:r>
              <a:rPr lang="en-US" sz="1100" b="0">
                <a:solidFill>
                  <a:srgbClr val="7F8C8D"/>
                </a:solidFill>
                <a:latin typeface="Calibri"/>
                <a:ea typeface="Calibri"/>
              </a:rPr>
              <a:t>Screenshot: 3-Tab Web UI — Left: Profile Form | Right: Generated Plan Output  |  URL: http://localhost:5000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7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58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Web UI — Screenshot: Ask AI (Q&amp;A) Tab</a:t>
            </a:r>
          </a:p>
        </p:txBody>
      </p:sp>
      <p:sp>
        <p:nvSpPr>
          <p:cNvPr id="100059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100060" name="ChatBg"/>
          <p:cNvSpPr txBox="1"/>
          <p:nvPr/>
        </p:nvSpPr>
        <p:spPr>
          <a:xfrm>
            <a:off x="1440000" y="648000"/>
            <a:ext cx="9000000" cy="4140000"/>
          </a:xfrm>
          <a:prstGeom prst="rect">
            <a:avLst/>
          </a:prstGeom>
          <a:solidFill>
            <a:srgbClr val="F2F3F4"/>
          </a:solidFill>
        </p:spPr>
        <p:txBody>
          <a:bodyPr/>
          <a:lstStyle/>
          <a:p>
            <a:endParaRPr lang="en-US">
              <a:solidFill>
                <a:srgbClr val="BDC3C7"/>
              </a:solidFill>
            </a:endParaRPr>
          </a:p>
        </p:txBody>
      </p:sp>
      <p:sp>
        <p:nvSpPr>
          <p:cNvPr id="100061" name="ChatHeader"/>
          <p:cNvSpPr txBox="1"/>
          <p:nvPr/>
        </p:nvSpPr>
        <p:spPr>
          <a:xfrm>
            <a:off x="1440000" y="648000"/>
            <a:ext cx="9000000" cy="324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  Ask Nutrition AI       IBM Granite</a:t>
            </a:r>
          </a:p>
        </p:txBody>
      </p:sp>
      <p:sp>
        <p:nvSpPr>
          <p:cNvPr id="100062" name="QuickBtns"/>
          <p:cNvSpPr txBox="1"/>
          <p:nvPr/>
        </p:nvSpPr>
        <p:spPr>
          <a:xfrm>
            <a:off x="1440000" y="1008000"/>
            <a:ext cx="9000000" cy="288000"/>
          </a:xfrm>
          <a:prstGeom prst="rect">
            <a:avLst/>
          </a:prstGeom>
          <a:solidFill>
            <a:srgbClr val="EAECEE"/>
          </a:solidFill>
        </p:spPr>
        <p:txBody>
          <a:bodyPr/>
          <a:lstStyle/>
          <a:p>
            <a:r>
              <a:rPr lang="en-US" sz="1100" b="0">
                <a:solidFill>
                  <a:srgbClr val="566573"/>
                </a:solidFill>
                <a:latin typeface="Calibri"/>
                <a:ea typeface="Calibri"/>
              </a:rPr>
              <a:t>Quick Questions:  [Protein needs]  [Blood sugar foods]  [Hydration guide]  [Vegetarian vitamins]</a:t>
            </a:r>
          </a:p>
        </p:txBody>
      </p:sp>
      <p:sp>
        <p:nvSpPr>
          <p:cNvPr id="100063" name="AiBubble1"/>
          <p:cNvSpPr txBox="1"/>
          <p:nvPr/>
        </p:nvSpPr>
        <p:spPr>
          <a:xfrm>
            <a:off x="1620000" y="1368000"/>
            <a:ext cx="5760000" cy="64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Hello! I'm your IBM Granite-powered Nutrition AI. Ask me anything about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nutrition, diet, vitamins, or managing health conditions through food.</a:t>
            </a:r>
          </a:p>
        </p:txBody>
      </p:sp>
      <p:sp>
        <p:nvSpPr>
          <p:cNvPr id="100064" name="UserBubble"/>
          <p:cNvSpPr txBox="1"/>
          <p:nvPr/>
        </p:nvSpPr>
        <p:spPr>
          <a:xfrm>
            <a:off x="5760000" y="2160000"/>
            <a:ext cx="4500000" cy="324000"/>
          </a:xfrm>
          <a:prstGeom prst="rect">
            <a:avLst/>
          </a:prstGeom>
          <a:solidFill>
            <a:srgbClr val="D5F5E3"/>
          </a:solidFill>
        </p:spPr>
        <p:txBody>
          <a:bodyPr/>
          <a:lstStyle/>
          <a:p>
            <a:r>
              <a:rPr lang="en-US" sz="1200" b="0">
                <a:solidFill>
                  <a:srgbClr val="1A5C32"/>
                </a:solidFill>
                <a:latin typeface="Calibri"/>
                <a:ea typeface="Calibri"/>
              </a:rPr>
              <a:t>What foods help control blood sugar?</a:t>
            </a:r>
          </a:p>
        </p:txBody>
      </p:sp>
      <p:sp>
        <p:nvSpPr>
          <p:cNvPr id="100065" name="AiBubble2"/>
          <p:cNvSpPr txBox="1"/>
          <p:nvPr/>
        </p:nvSpPr>
        <p:spPr>
          <a:xfrm>
            <a:off x="1620000" y="2592000"/>
            <a:ext cx="68400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Blood Sugar Control Foods: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Low GI choices: oats, lentils, chickpeas, most vegetables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Fibre helps slow glucose absorption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Avoid refined sugars and processed carbs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Cinnamon, fenugreek may help stabilise levels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Always follow your doctor's dietary recommendations</a:t>
            </a:r>
          </a:p>
        </p:txBody>
      </p:sp>
      <p:sp>
        <p:nvSpPr>
          <p:cNvPr id="100066" name="InputBar"/>
          <p:cNvSpPr txBox="1"/>
          <p:nvPr/>
        </p:nvSpPr>
        <p:spPr>
          <a:xfrm>
            <a:off x="1440000" y="4428000"/>
            <a:ext cx="9000000" cy="288000"/>
          </a:xfrm>
          <a:prstGeom prst="rect">
            <a:avLst/>
          </a:prstGeom>
          <a:solidFill>
            <a:srgbClr val="EAECEE"/>
          </a:solidFill>
        </p:spPr>
        <p:txBody>
          <a:bodyPr/>
          <a:lstStyle/>
          <a:p>
            <a:r>
              <a:rPr lang="en-US" sz="1200" b="0">
                <a:solidFill>
                  <a:srgbClr val="566573"/>
                </a:solidFill>
                <a:latin typeface="Calibri"/>
                <a:ea typeface="Calibri"/>
              </a:rPr>
              <a:t>  Ask about nutrition, diet, vitamins, health conditions...                    [Send]</a:t>
            </a:r>
          </a:p>
        </p:txBody>
      </p:sp>
      <p:sp>
        <p:nvSpPr>
          <p:cNvPr id="100067" name="EthicsBar"/>
          <p:cNvSpPr txBox="1"/>
          <p:nvPr/>
        </p:nvSpPr>
        <p:spPr>
          <a:xfrm>
            <a:off x="1440000" y="4752000"/>
            <a:ext cx="9000000" cy="180000"/>
          </a:xfrm>
          <a:prstGeom prst="rect">
            <a:avLst/>
          </a:prstGeom>
          <a:solidFill>
            <a:srgbClr val="F9F9F9"/>
          </a:solidFill>
        </p:spPr>
        <p:txBody>
          <a:bodyPr/>
          <a:lstStyle/>
          <a:p>
            <a:r>
              <a:rPr lang="en-US" sz="1000" b="0">
                <a:solidFill>
                  <a:srgbClr val="7F8C8D"/>
                </a:solidFill>
                <a:latin typeface="Calibri"/>
                <a:ea typeface="Calibri"/>
              </a:rPr>
              <a:t>Guardrails Active  |  HAM Principles Applied  |  Educational Use Only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8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69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Generated Nutrition Plan — .md File Output</a:t>
            </a:r>
          </a:p>
        </p:txBody>
      </p:sp>
      <p:sp>
        <p:nvSpPr>
          <p:cNvPr id="100070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08</a:t>
            </a:r>
          </a:p>
        </p:txBody>
      </p:sp>
      <p:sp>
        <p:nvSpPr>
          <p:cNvPr id="100071" name="YAMLHeader"/>
          <p:cNvSpPr txBox="1"/>
          <p:nvPr/>
        </p:nvSpPr>
        <p:spPr>
          <a:xfrm>
            <a:off x="540000" y="648000"/>
            <a:ext cx="5220000" cy="162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--- YAML Front-Matter ---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title: "Personalised Nutrition Plan — Aisha Khan"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generated: "2026-10-13 14:05:00"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model: "IBM Granite (watsonx.ai)"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diet: "vegetarian"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age: 35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location: "Mumbai, India"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medical_history: "diabetes, blood pressure"</a:t>
            </a:r>
          </a:p>
          <a:p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---</a:t>
            </a:r>
          </a:p>
        </p:txBody>
      </p:sp>
      <p:sp>
        <p:nvSpPr>
          <p:cNvPr id="100072" name="PlanContent"/>
          <p:cNvSpPr txBox="1"/>
          <p:nvPr/>
        </p:nvSpPr>
        <p:spPr>
          <a:xfrm>
            <a:off x="5868000" y="648000"/>
            <a:ext cx="5472000" cy="1620000"/>
          </a:xfrm>
          <a:prstGeom prst="rect">
            <a:avLst/>
          </a:prstGeom>
          <a:solidFill>
            <a:srgbClr val="F4F6F7"/>
          </a:solidFill>
        </p:spPr>
        <p:txBody>
          <a:bodyPr/>
          <a:lstStyle/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 Personalised 7-Day Nutrition Plan for Aisha Khan</a:t>
            </a:r>
          </a:p>
          <a:p>
            <a:endParaRPr lang="en-US" sz="1100" b="0">
              <a:solidFill>
                <a:srgbClr val="2C3E50"/>
              </a:solidFill>
              <a:latin typeface="Courier New"/>
              <a:ea typeface="Courier New"/>
            </a:endParaRP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 Day 1 — Energise &amp; Balance</a:t>
            </a: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### Breakfast (400-450 kcal)</a:t>
            </a: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Oatmeal with berries and chia seeds</a:t>
            </a: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Paneer scramble | Green tea</a:t>
            </a:r>
          </a:p>
          <a:p>
            <a:endParaRPr lang="en-US" sz="1100" b="0">
              <a:solidFill>
                <a:srgbClr val="2C3E50"/>
              </a:solidFill>
              <a:latin typeface="Courier New"/>
              <a:ea typeface="Courier New"/>
            </a:endParaRP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### Lunch (500-550 kcal)</a:t>
            </a: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Brown rice (low GI) with lentil curry</a:t>
            </a: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Mixed salad, olive oil | Buttermilk</a:t>
            </a:r>
          </a:p>
          <a:p>
            <a:endParaRPr lang="en-US" sz="1100" b="0">
              <a:solidFill>
                <a:srgbClr val="2C3E50"/>
              </a:solidFill>
              <a:latin typeface="Courier New"/>
              <a:ea typeface="Courier New"/>
            </a:endParaRP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### Dinner (450-500 kcal)</a:t>
            </a: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Whole wheat roti (2) with tofu</a:t>
            </a:r>
          </a:p>
          <a:p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Steamed broccoli | Clear vegetable soup</a:t>
            </a:r>
          </a:p>
        </p:txBody>
      </p:sp>
      <p:sp>
        <p:nvSpPr>
          <p:cNvPr id="100073" name="DisclaimerBox"/>
          <p:cNvSpPr txBox="1"/>
          <p:nvPr/>
        </p:nvSpPr>
        <p:spPr>
          <a:xfrm>
            <a:off x="540000" y="2520000"/>
            <a:ext cx="10800000" cy="1620000"/>
          </a:xfrm>
          <a:prstGeom prst="rect">
            <a:avLst/>
          </a:prstGeom>
          <a:solidFill>
            <a:srgbClr val="FDEDEC"/>
          </a:solidFill>
        </p:spPr>
        <p:txBody>
          <a:bodyPr/>
          <a:lstStyle/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Medical Disclaimer (Auto-appended to every plan)</a:t>
            </a:r>
          </a:p>
          <a:p>
            <a:endParaRPr lang="en-US" sz="12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This nutrition plan is generated by an AI assistant for informational and</a:t>
            </a:r>
          </a:p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educational purposes only. It is NOT a substitute for professional medical</a:t>
            </a:r>
          </a:p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advice, diagnosis, or treatment.</a:t>
            </a:r>
          </a:p>
          <a:p>
            <a:endParaRPr lang="en-US" sz="12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- Consult a qualified nutritionist, dietitian, or physician before changes.</a:t>
            </a:r>
          </a:p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- IBM Granite AI follows ethical AI principles — evidence-based nutrition only.</a:t>
            </a:r>
          </a:p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- Emergency? Contact your local healthcare professional immediately.</a:t>
            </a:r>
          </a:p>
          <a:p>
            <a:endParaRPr lang="en-US" sz="12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Generated by Nutrition Agentic AI powered by IBM Granite | October 13, 2026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4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75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7-Day Nutrition Plan — Day-by-Day Content</a:t>
            </a:r>
          </a:p>
        </p:txBody>
      </p:sp>
      <p:sp>
        <p:nvSpPr>
          <p:cNvPr id="100076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09</a:t>
            </a:r>
          </a:p>
        </p:txBody>
      </p:sp>
      <p:sp>
        <p:nvSpPr>
          <p:cNvPr id="100077" name="D1"/>
          <p:cNvSpPr txBox="1"/>
          <p:nvPr/>
        </p:nvSpPr>
        <p:spPr>
          <a:xfrm>
            <a:off x="540000" y="684000"/>
            <a:ext cx="1476000" cy="1980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1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Energise &amp;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Balance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Oatmeal + berries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Lentil curry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Veg soup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1,800 kcal</a:t>
            </a:r>
          </a:p>
        </p:txBody>
      </p:sp>
      <p:sp>
        <p:nvSpPr>
          <p:cNvPr id="100078" name="D2"/>
          <p:cNvSpPr txBox="1"/>
          <p:nvPr/>
        </p:nvSpPr>
        <p:spPr>
          <a:xfrm>
            <a:off x="2088000" y="684000"/>
            <a:ext cx="1476000" cy="198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2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Protein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Power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Toast + avocado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Quinoa bowl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Baked lentils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1,850 kcal</a:t>
            </a:r>
          </a:p>
        </p:txBody>
      </p:sp>
      <p:sp>
        <p:nvSpPr>
          <p:cNvPr id="100079" name="D3"/>
          <p:cNvSpPr txBox="1"/>
          <p:nvPr/>
        </p:nvSpPr>
        <p:spPr>
          <a:xfrm>
            <a:off x="3636000" y="684000"/>
            <a:ext cx="1476000" cy="1980000"/>
          </a:xfrm>
          <a:prstGeom prst="rect">
            <a:avLst/>
          </a:prstGeom>
          <a:solidFill>
            <a:srgbClr val="784212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3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Heart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Healthy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Smoothie bowl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Fish + sweet potato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Lentil soup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1,820 kcal</a:t>
            </a:r>
          </a:p>
        </p:txBody>
      </p:sp>
      <p:sp>
        <p:nvSpPr>
          <p:cNvPr id="100080" name="D4"/>
          <p:cNvSpPr txBox="1"/>
          <p:nvPr/>
        </p:nvSpPr>
        <p:spPr>
          <a:xfrm>
            <a:off x="5184000" y="684000"/>
            <a:ext cx="1476000" cy="1980000"/>
          </a:xfrm>
          <a:prstGeom prst="rect">
            <a:avLst/>
          </a:prstGeom>
          <a:solidFill>
            <a:srgbClr val="512E5F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4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Midweek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Recharge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Veg omelette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Stir-fry + rice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Baked protein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1,800 kcal</a:t>
            </a:r>
          </a:p>
        </p:txBody>
      </p:sp>
      <p:sp>
        <p:nvSpPr>
          <p:cNvPr id="100081" name="D5"/>
          <p:cNvSpPr txBox="1"/>
          <p:nvPr/>
        </p:nvSpPr>
        <p:spPr>
          <a:xfrm>
            <a:off x="6732000" y="684000"/>
            <a:ext cx="1476000" cy="1980000"/>
          </a:xfrm>
          <a:prstGeom prst="rect">
            <a:avLst/>
          </a:prstGeom>
          <a:solidFill>
            <a:srgbClr val="0E6655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5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Fibre &amp;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Gut Health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Overnight oats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Chickpea soup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Cauliflower rice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1,780 kcal</a:t>
            </a:r>
          </a:p>
        </p:txBody>
      </p:sp>
      <p:sp>
        <p:nvSpPr>
          <p:cNvPr id="100082" name="D6"/>
          <p:cNvSpPr txBox="1"/>
          <p:nvPr/>
        </p:nvSpPr>
        <p:spPr>
          <a:xfrm>
            <a:off x="8280000" y="684000"/>
            <a:ext cx="1476000" cy="1980000"/>
          </a:xfrm>
          <a:prstGeom prst="rect">
            <a:avLst/>
          </a:prstGeom>
          <a:solidFill>
            <a:srgbClr val="922B21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6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Weekend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Wellness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Whole grain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pancakes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Buddha bowl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1,900 kcal</a:t>
            </a:r>
          </a:p>
        </p:txBody>
      </p:sp>
      <p:sp>
        <p:nvSpPr>
          <p:cNvPr id="100083" name="D7"/>
          <p:cNvSpPr txBox="1"/>
          <p:nvPr/>
        </p:nvSpPr>
        <p:spPr>
          <a:xfrm>
            <a:off x="9828000" y="684000"/>
            <a:ext cx="1512000" cy="198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7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Rest &amp;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Restore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Warm porridge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Veg minestrone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Casserole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1,750 kcal</a:t>
            </a:r>
          </a:p>
        </p:txBody>
      </p:sp>
      <p:sp>
        <p:nvSpPr>
          <p:cNvPr id="100084" name="MacroTable"/>
          <p:cNvSpPr txBox="1"/>
          <p:nvPr/>
        </p:nvSpPr>
        <p:spPr>
          <a:xfrm>
            <a:off x="540000" y="2808000"/>
            <a:ext cx="10800000" cy="1368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Nutrient  |  Daily Target  |  Note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Calories  |  1,600-1,800 kcal  |  Adjusted for diabetes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Protein  |  60-80g  |  Plant-based sources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Carbs  |  150-180g (Low GI)  |  No refined sugars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Fats  |  40-50g  |  Healthy fats only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Fibre  |  25-35g  |  Supports digestion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Sodium  |  &lt;1,500mg  |  Low sodium (BP)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Water  |  8-10 glasses  |  2-2.5 litres daily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5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86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Ethical AI &amp; Guardrails — HAM Principles</a:t>
            </a:r>
          </a:p>
        </p:txBody>
      </p:sp>
      <p:sp>
        <p:nvSpPr>
          <p:cNvPr id="100087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00088" name="HelpfulBox"/>
          <p:cNvSpPr txBox="1"/>
          <p:nvPr/>
        </p:nvSpPr>
        <p:spPr>
          <a:xfrm>
            <a:off x="540000" y="720000"/>
            <a:ext cx="3240000" cy="144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H — Helpful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Provides evidence-based, personalised nutrition guidance tailored to each user's profile, medical history, and cultural context.</a:t>
            </a:r>
          </a:p>
        </p:txBody>
      </p:sp>
      <p:sp>
        <p:nvSpPr>
          <p:cNvPr id="100089" name="AccurateBox"/>
          <p:cNvSpPr txBox="1"/>
          <p:nvPr/>
        </p:nvSpPr>
        <p:spPr>
          <a:xfrm>
            <a:off x="4140000" y="720000"/>
            <a:ext cx="3240000" cy="1440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 — Accurate &amp; Honest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Transparent about AI-generated content and its limitations. Clear medical disclaimer on every plan. No false claims.</a:t>
            </a:r>
          </a:p>
        </p:txBody>
      </p:sp>
      <p:sp>
        <p:nvSpPr>
          <p:cNvPr id="100090" name="MindfulBox"/>
          <p:cNvSpPr txBox="1"/>
          <p:nvPr/>
        </p:nvSpPr>
        <p:spPr>
          <a:xfrm>
            <a:off x="7740000" y="720000"/>
            <a:ext cx="3600000" cy="1440000"/>
          </a:xfrm>
          <a:prstGeom prst="rect">
            <a:avLst/>
          </a:prstGeom>
          <a:solidFill>
            <a:srgbClr val="78421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 — Mindful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Respects medical boundaries. Recommends professional consultation. Avoids harmful diet advice, extreme weight-loss methods, or unsupervised supplement use.</a:t>
            </a:r>
          </a:p>
        </p:txBody>
      </p:sp>
      <p:sp>
        <p:nvSpPr>
          <p:cNvPr id="100091" name="GuardTitle"/>
          <p:cNvSpPr txBox="1"/>
          <p:nvPr/>
        </p:nvSpPr>
        <p:spPr>
          <a:xfrm>
            <a:off x="540000" y="2340000"/>
            <a:ext cx="10800000" cy="252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Guardrail Protections</a:t>
            </a:r>
          </a:p>
        </p:txBody>
      </p:sp>
      <p:sp>
        <p:nvSpPr>
          <p:cNvPr id="100092" name="G1"/>
          <p:cNvSpPr txBox="1"/>
          <p:nvPr/>
        </p:nvSpPr>
        <p:spPr>
          <a:xfrm>
            <a:off x="540000" y="2664000"/>
            <a:ext cx="5220000" cy="1008000"/>
          </a:xfrm>
          <a:prstGeom prst="rect">
            <a:avLst/>
          </a:prstGeom>
          <a:solidFill>
            <a:srgbClr val="FDEDEC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Input Screening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Harmful keywords blocked before reaching LLM: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starve, crash diet, overdose, extreme diet, no food, laxative abuse, suicide, self-harm</a:t>
            </a:r>
          </a:p>
        </p:txBody>
      </p:sp>
      <p:sp>
        <p:nvSpPr>
          <p:cNvPr id="100093" name="G2"/>
          <p:cNvSpPr txBox="1"/>
          <p:nvPr/>
        </p:nvSpPr>
        <p:spPr>
          <a:xfrm>
            <a:off x="6120000" y="2664000"/>
            <a:ext cx="5220000" cy="1008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Output Screening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All AI-generated content screened before delivery. If harmful content detected, fallback engine is used. Output is never served unfiltered.</a:t>
            </a:r>
          </a:p>
        </p:txBody>
      </p:sp>
      <p:sp>
        <p:nvSpPr>
          <p:cNvPr id="100094" name="MedNote"/>
          <p:cNvSpPr txBox="1"/>
          <p:nvPr/>
        </p:nvSpPr>
        <p:spPr>
          <a:xfrm>
            <a:off x="540000" y="3816000"/>
            <a:ext cx="10800000" cy="324000"/>
          </a:xfrm>
          <a:prstGeom prst="rect">
            <a:avLst/>
          </a:prstGeom>
          <a:solidFill>
            <a:srgbClr val="922B21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Medical Awareness: Plans automatically adjust for diabetes (low GI), hypertension (low sodium), allergies (excluded foods), and other conditions.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5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096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REST API Reference</a:t>
            </a:r>
          </a:p>
        </p:txBody>
      </p:sp>
      <p:sp>
        <p:nvSpPr>
          <p:cNvPr id="100097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098" name="ApiHeader"/>
          <p:cNvSpPr txBox="1"/>
          <p:nvPr/>
        </p:nvSpPr>
        <p:spPr>
          <a:xfrm>
            <a:off x="540000" y="684000"/>
            <a:ext cx="10800000" cy="252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Method    Endpoint                           Description</a:t>
            </a:r>
          </a:p>
        </p:txBody>
      </p:sp>
      <p:sp>
        <p:nvSpPr>
          <p:cNvPr id="100099" name="Api1"/>
          <p:cNvSpPr txBox="1"/>
          <p:nvPr/>
        </p:nvSpPr>
        <p:spPr>
          <a:xfrm>
            <a:off x="540000" y="972000"/>
            <a:ext cx="10800000" cy="252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                                  Web application homepage (3-tab UI)</a:t>
            </a:r>
          </a:p>
        </p:txBody>
      </p:sp>
      <p:sp>
        <p:nvSpPr>
          <p:cNvPr id="100100" name="Api2"/>
          <p:cNvSpPr txBox="1"/>
          <p:nvPr/>
        </p:nvSpPr>
        <p:spPr>
          <a:xfrm>
            <a:off x="540000" y="1260000"/>
            <a:ext cx="10800000" cy="252000"/>
          </a:xfrm>
          <a:prstGeom prst="rect">
            <a:avLst/>
          </a:prstGeom>
          <a:solidFill>
            <a:srgbClr val="D5F5E3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POST      /api/generate-plan                 Generate personalised 7-day nutrition plan</a:t>
            </a:r>
          </a:p>
        </p:txBody>
      </p:sp>
      <p:sp>
        <p:nvSpPr>
          <p:cNvPr id="100101" name="Api3"/>
          <p:cNvSpPr txBox="1"/>
          <p:nvPr/>
        </p:nvSpPr>
        <p:spPr>
          <a:xfrm>
            <a:off x="540000" y="1548000"/>
            <a:ext cx="10800000" cy="252000"/>
          </a:xfrm>
          <a:prstGeom prst="rect">
            <a:avLst/>
          </a:prstGeom>
          <a:solidFill>
            <a:srgbClr val="D5F5E3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POST      /api/query                         Ask nutrition Q&amp;A — IBM Granite powered</a:t>
            </a:r>
          </a:p>
        </p:txBody>
      </p:sp>
      <p:sp>
        <p:nvSpPr>
          <p:cNvPr id="100102" name="Api4"/>
          <p:cNvSpPr txBox="1"/>
          <p:nvPr/>
        </p:nvSpPr>
        <p:spPr>
          <a:xfrm>
            <a:off x="540000" y="1836000"/>
            <a:ext cx="10800000" cy="252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/api/download-plan/&lt;filename&gt;      Download saved .md nutrition plan file</a:t>
            </a:r>
          </a:p>
        </p:txBody>
      </p:sp>
      <p:sp>
        <p:nvSpPr>
          <p:cNvPr id="100103" name="Api5"/>
          <p:cNvSpPr txBox="1"/>
          <p:nvPr/>
        </p:nvSpPr>
        <p:spPr>
          <a:xfrm>
            <a:off x="540000" y="2124000"/>
            <a:ext cx="10800000" cy="252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/api/list-plans                    List all saved nutrition plan files</a:t>
            </a:r>
          </a:p>
        </p:txBody>
      </p:sp>
      <p:sp>
        <p:nvSpPr>
          <p:cNvPr id="100104" name="Api6"/>
          <p:cNvSpPr txBox="1"/>
          <p:nvPr/>
        </p:nvSpPr>
        <p:spPr>
          <a:xfrm>
            <a:off x="540000" y="2412000"/>
            <a:ext cx="10800000" cy="252000"/>
          </a:xfrm>
          <a:prstGeom prst="rect">
            <a:avLst/>
          </a:prstGeom>
          <a:solidFill>
            <a:srgbClr val="FDEBD0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/api/health                        Health check — service status &amp; model info</a:t>
            </a:r>
          </a:p>
        </p:txBody>
      </p:sp>
      <p:sp>
        <p:nvSpPr>
          <p:cNvPr id="100105" name="SampleTitle"/>
          <p:cNvSpPr txBox="1"/>
          <p:nvPr/>
        </p:nvSpPr>
        <p:spPr>
          <a:xfrm>
            <a:off x="540000" y="2808000"/>
            <a:ext cx="5220000" cy="252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Sample Request  POST /api/generate-plan</a:t>
            </a:r>
          </a:p>
        </p:txBody>
      </p:sp>
      <p:sp>
        <p:nvSpPr>
          <p:cNvPr id="100106" name="SampleReq"/>
          <p:cNvSpPr txBox="1"/>
          <p:nvPr/>
        </p:nvSpPr>
        <p:spPr>
          <a:xfrm>
            <a:off x="540000" y="3096000"/>
            <a:ext cx="5220000" cy="108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{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"name": "Aisha Khan",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"age": 35,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"diet_preference": "vegetarian",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"medical_history": "diabetes, blood pressure",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"goal": "Manage diabetes",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"weight": 68,  "height": 165,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"activity_level": "Moderate",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"allergies": "peanuts",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"city": "Mumbai",  "country": "India"</a:t>
            </a:r>
          </a:p>
          <a:p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}</a:t>
            </a:r>
          </a:p>
        </p:txBody>
      </p:sp>
      <p:sp>
        <p:nvSpPr>
          <p:cNvPr id="100107" name="SampleRespTitle"/>
          <p:cNvSpPr txBox="1"/>
          <p:nvPr/>
        </p:nvSpPr>
        <p:spPr>
          <a:xfrm>
            <a:off x="6120000" y="2808000"/>
            <a:ext cx="5220000" cy="252000"/>
          </a:xfrm>
          <a:prstGeom prst="rect">
            <a:avLst/>
          </a:prstGeom>
          <a:solidFill>
            <a:srgbClr val="784212"/>
          </a:solidFill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Sample Response</a:t>
            </a:r>
          </a:p>
        </p:txBody>
      </p:sp>
      <p:sp>
        <p:nvSpPr>
          <p:cNvPr id="100108" name="SampleResp"/>
          <p:cNvSpPr txBox="1"/>
          <p:nvPr/>
        </p:nvSpPr>
        <p:spPr>
          <a:xfrm>
            <a:off x="6120000" y="3096000"/>
            <a:ext cx="5220000" cy="108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{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"success": true,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"plan": "# Personalised 7-Day...",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"source": "ibm-granite",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"filename": "Aisha_Khan_NutritionPlan_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            20261013_140500.md",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"message": "Plan saved as ...",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"generated_at": "2026-10-13T14:05:00"</a:t>
            </a:r>
          </a:p>
          <a:p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}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9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110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Project File Structure</a:t>
            </a:r>
          </a:p>
        </p:txBody>
      </p:sp>
      <p:sp>
        <p:nvSpPr>
          <p:cNvPr id="100111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00112" name="Tree"/>
          <p:cNvSpPr txBox="1"/>
          <p:nvPr/>
        </p:nvSpPr>
        <p:spPr>
          <a:xfrm>
            <a:off x="540000" y="684000"/>
            <a:ext cx="10800000" cy="3528000"/>
          </a:xfrm>
          <a:prstGeom prst="rect">
            <a:avLst/>
          </a:prstGeom>
          <a:solidFill>
            <a:srgbClr val="F4F6F7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ibm/  (GitHub repo)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NutritionAI/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app.py                   Flask application &amp; 6 REST API endpoints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requirements.txt         Python dependencies (Flask, IBM Watson SDK)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config.env               IBM watsonx.ai credentials configuration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agents/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__init__.py          Package init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granite_agent.py     IBM Granite agent + guardrails (657 lines)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templates/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index.html           3-tab responsive web UI (332 lines)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static/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css/style.css        Professional stylesheet (776 lines)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js/app.js            Frontend JS — markdown renderer (489 lines)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nutrition_plans/         Generated .md plans (auto-created at runtime)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    +-- .gitkeep             Ensures empty dir tracked by Git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start_nutrition_ai.bat       One-click Windows launcher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README.md                    Full documentation (300 lines)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.gitignore                   Excludes secrets, cache, generated plans</a:t>
            </a:r>
          </a:p>
          <a:p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requirements.txt             Root-level Python dependencies</a:t>
            </a:r>
          </a:p>
        </p:txBody>
      </p:sp>
      <p:sp>
        <p:nvSpPr>
          <p:cNvPr id="100113" name="Stats"/>
          <p:cNvSpPr txBox="1"/>
          <p:nvPr/>
        </p:nvSpPr>
        <p:spPr>
          <a:xfrm>
            <a:off x="540000" y="4356000"/>
            <a:ext cx="10800000" cy="252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Total: 12 files committed  |  2,948 lines of code  |  GitHub: github.com/hardikraval-collab/ibm  |  Branch: main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4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115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Setup &amp; Deployment Guide</a:t>
            </a:r>
          </a:p>
        </p:txBody>
      </p:sp>
      <p:sp>
        <p:nvSpPr>
          <p:cNvPr id="100116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00117" name="Opt1Title"/>
          <p:cNvSpPr txBox="1"/>
          <p:nvPr/>
        </p:nvSpPr>
        <p:spPr>
          <a:xfrm>
            <a:off x="540000" y="684000"/>
            <a:ext cx="10800000" cy="252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Option 1 — One-Click Windows Launcher</a:t>
            </a:r>
          </a:p>
        </p:txBody>
      </p:sp>
      <p:sp>
        <p:nvSpPr>
          <p:cNvPr id="100118" name="Opt1"/>
          <p:cNvSpPr txBox="1"/>
          <p:nvPr/>
        </p:nvSpPr>
        <p:spPr>
          <a:xfrm>
            <a:off x="540000" y="972000"/>
            <a:ext cx="10800000" cy="1008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Double-click:  start_nutrition_ai.bat</a:t>
            </a:r>
          </a:p>
          <a:p>
            <a:endParaRPr lang="en-US" sz="13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The .bat file automatically:</a:t>
            </a:r>
          </a:p>
          <a:p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Checks Python (Anaconda) is available</a:t>
            </a:r>
          </a:p>
          <a:p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Installs all pip dependencies</a:t>
            </a:r>
          </a:p>
          <a:p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Loads IBM watsonx.ai credentials from config.env</a:t>
            </a:r>
          </a:p>
          <a:p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Starts the Flask server on port 5000</a:t>
            </a:r>
          </a:p>
          <a:p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Opens http://localhost:5000 in your browser</a:t>
            </a:r>
          </a:p>
        </p:txBody>
      </p:sp>
      <p:sp>
        <p:nvSpPr>
          <p:cNvPr id="100119" name="Opt2Title"/>
          <p:cNvSpPr txBox="1"/>
          <p:nvPr/>
        </p:nvSpPr>
        <p:spPr>
          <a:xfrm>
            <a:off x="540000" y="2160000"/>
            <a:ext cx="10800000" cy="252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Option 2 — Manual (All Platforms)</a:t>
            </a:r>
          </a:p>
        </p:txBody>
      </p:sp>
      <p:sp>
        <p:nvSpPr>
          <p:cNvPr id="100120" name="Cmd1"/>
          <p:cNvSpPr txBox="1"/>
          <p:nvPr/>
        </p:nvSpPr>
        <p:spPr>
          <a:xfrm>
            <a:off x="540000" y="2484000"/>
            <a:ext cx="10800000" cy="234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2ECC71"/>
                </a:solidFill>
                <a:latin typeface="Courier New"/>
                <a:ea typeface="Courier New"/>
              </a:rPr>
              <a:t>git clone https://github.com/hardikraval-collab/ibm.git</a:t>
            </a:r>
          </a:p>
        </p:txBody>
      </p:sp>
      <p:sp>
        <p:nvSpPr>
          <p:cNvPr id="100121" name="Cmd2"/>
          <p:cNvSpPr txBox="1"/>
          <p:nvPr/>
        </p:nvSpPr>
        <p:spPr>
          <a:xfrm>
            <a:off x="540000" y="2754000"/>
            <a:ext cx="10800000" cy="234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2ECC71"/>
                </a:solidFill>
                <a:latin typeface="Courier New"/>
                <a:ea typeface="Courier New"/>
              </a:rPr>
              <a:t>pip install -r requirements.txt</a:t>
            </a:r>
          </a:p>
        </p:txBody>
      </p:sp>
      <p:sp>
        <p:nvSpPr>
          <p:cNvPr id="100122" name="Cmd3"/>
          <p:cNvSpPr txBox="1"/>
          <p:nvPr/>
        </p:nvSpPr>
        <p:spPr>
          <a:xfrm>
            <a:off x="540000" y="3024000"/>
            <a:ext cx="10800000" cy="234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2ECC71"/>
                </a:solidFill>
                <a:latin typeface="Courier New"/>
                <a:ea typeface="Courier New"/>
              </a:rPr>
              <a:t>cd NutritionAI  &amp;&amp;  python app.py</a:t>
            </a:r>
          </a:p>
        </p:txBody>
      </p:sp>
      <p:sp>
        <p:nvSpPr>
          <p:cNvPr id="100123" name="Cmd4"/>
          <p:cNvSpPr txBox="1"/>
          <p:nvPr/>
        </p:nvSpPr>
        <p:spPr>
          <a:xfrm>
            <a:off x="540000" y="3294000"/>
            <a:ext cx="10800000" cy="234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300" b="0">
                <a:solidFill>
                  <a:srgbClr val="A9CCE3"/>
                </a:solidFill>
                <a:latin typeface="Courier New"/>
                <a:ea typeface="Courier New"/>
              </a:rPr>
              <a:t># Open browser:  http://localhost:5000</a:t>
            </a:r>
          </a:p>
        </p:txBody>
      </p:sp>
      <p:sp>
        <p:nvSpPr>
          <p:cNvPr id="100124" name="IBMNote"/>
          <p:cNvSpPr txBox="1"/>
          <p:nvPr/>
        </p:nvSpPr>
        <p:spPr>
          <a:xfrm>
            <a:off x="540000" y="3672000"/>
            <a:ext cx="10800000" cy="540000"/>
          </a:xfrm>
          <a:prstGeom prst="rect">
            <a:avLst/>
          </a:prstGeom>
          <a:solidFill>
            <a:srgbClr val="FDEDEC"/>
          </a:solidFill>
        </p:spPr>
        <p:txBody>
          <a:bodyPr/>
          <a:lstStyle/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IBM watsonx.ai (Optional): Edit config.env with your API key and Project ID. Without credentials, the built-in AI engine generates complete plans automatically.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5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126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Key Features Summary</a:t>
            </a:r>
          </a:p>
        </p:txBody>
      </p:sp>
      <p:sp>
        <p:nvSpPr>
          <p:cNvPr id="100127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128" name="F1"/>
          <p:cNvSpPr txBox="1"/>
          <p:nvPr/>
        </p:nvSpPr>
        <p:spPr>
          <a:xfrm>
            <a:off x="540000" y="720000"/>
            <a:ext cx="3420000" cy="1080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 LLM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granite-13b-instruct-v2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watsonx.ai REST API</a:t>
            </a:r>
          </a:p>
        </p:txBody>
      </p:sp>
      <p:sp>
        <p:nvSpPr>
          <p:cNvPr id="100129" name="F2"/>
          <p:cNvSpPr txBox="1"/>
          <p:nvPr/>
        </p:nvSpPr>
        <p:spPr>
          <a:xfrm>
            <a:off x="4248000" y="720000"/>
            <a:ext cx="3420000" cy="108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7-Day Nutrition Plans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Breakfast, Lunch, Dinner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+ 2 daily snacks</a:t>
            </a:r>
          </a:p>
        </p:txBody>
      </p:sp>
      <p:sp>
        <p:nvSpPr>
          <p:cNvPr id="100130" name="F3"/>
          <p:cNvSpPr txBox="1"/>
          <p:nvPr/>
        </p:nvSpPr>
        <p:spPr>
          <a:xfrm>
            <a:off x="7956000" y="720000"/>
            <a:ext cx="3384000" cy="1080000"/>
          </a:xfrm>
          <a:prstGeom prst="rect">
            <a:avLst/>
          </a:prstGeom>
          <a:solidFill>
            <a:srgbClr val="78421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Medical Awareness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Diabetes, Hypertension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Allergies, PCOS &amp; more</a:t>
            </a:r>
          </a:p>
        </p:txBody>
      </p:sp>
      <p:sp>
        <p:nvSpPr>
          <p:cNvPr id="100131" name="F4"/>
          <p:cNvSpPr txBox="1"/>
          <p:nvPr/>
        </p:nvSpPr>
        <p:spPr>
          <a:xfrm>
            <a:off x="540000" y="1980000"/>
            <a:ext cx="3420000" cy="1080000"/>
          </a:xfrm>
          <a:prstGeom prst="rect">
            <a:avLst/>
          </a:prstGeom>
          <a:solidFill>
            <a:srgbClr val="922B21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Ethical AI Guardrails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HAM Principles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Input + Output screening</a:t>
            </a:r>
          </a:p>
        </p:txBody>
      </p:sp>
      <p:sp>
        <p:nvSpPr>
          <p:cNvPr id="100132" name="F5"/>
          <p:cNvSpPr txBox="1"/>
          <p:nvPr/>
        </p:nvSpPr>
        <p:spPr>
          <a:xfrm>
            <a:off x="4248000" y="1980000"/>
            <a:ext cx="3420000" cy="1080000"/>
          </a:xfrm>
          <a:prstGeom prst="rect">
            <a:avLst/>
          </a:prstGeom>
          <a:solidFill>
            <a:srgbClr val="512E5F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Markdown Export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.md files with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YAML front-matter</a:t>
            </a:r>
          </a:p>
        </p:txBody>
      </p:sp>
      <p:sp>
        <p:nvSpPr>
          <p:cNvPr id="100133" name="F6"/>
          <p:cNvSpPr txBox="1"/>
          <p:nvPr/>
        </p:nvSpPr>
        <p:spPr>
          <a:xfrm>
            <a:off x="7956000" y="1980000"/>
            <a:ext cx="3384000" cy="1080000"/>
          </a:xfrm>
          <a:prstGeom prst="rect">
            <a:avLst/>
          </a:prstGeom>
          <a:solidFill>
            <a:srgbClr val="0E665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Smart Fallback AI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Rule-based engine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100% uptime guarantee</a:t>
            </a:r>
          </a:p>
        </p:txBody>
      </p:sp>
      <p:sp>
        <p:nvSpPr>
          <p:cNvPr id="100134" name="F7"/>
          <p:cNvSpPr txBox="1"/>
          <p:nvPr/>
        </p:nvSpPr>
        <p:spPr>
          <a:xfrm>
            <a:off x="540000" y="3240000"/>
            <a:ext cx="3420000" cy="900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Q&amp;A Chat Agent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Context-aware answers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Quick-question shortcuts</a:t>
            </a:r>
          </a:p>
        </p:txBody>
      </p:sp>
      <p:sp>
        <p:nvSpPr>
          <p:cNvPr id="100135" name="F8"/>
          <p:cNvSpPr txBox="1"/>
          <p:nvPr/>
        </p:nvSpPr>
        <p:spPr>
          <a:xfrm>
            <a:off x="4248000" y="3240000"/>
            <a:ext cx="3420000" cy="90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Cultural Context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Local food suggestions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based on city/country</a:t>
            </a:r>
          </a:p>
        </p:txBody>
      </p:sp>
      <p:sp>
        <p:nvSpPr>
          <p:cNvPr id="100136" name="F9"/>
          <p:cNvSpPr txBox="1"/>
          <p:nvPr/>
        </p:nvSpPr>
        <p:spPr>
          <a:xfrm>
            <a:off x="7956000" y="3240000"/>
            <a:ext cx="3384000" cy="900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Responsive Web UI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3 tabs, mobile-friendly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No framework required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37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138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GitHub Repository &amp; Project Delivery</a:t>
            </a:r>
          </a:p>
        </p:txBody>
      </p:sp>
      <p:sp>
        <p:nvSpPr>
          <p:cNvPr id="100139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15</a:t>
            </a:r>
          </a:p>
        </p:txBody>
      </p:sp>
      <p:sp>
        <p:nvSpPr>
          <p:cNvPr id="100140" name="RepoBox"/>
          <p:cNvSpPr txBox="1"/>
          <p:nvPr/>
        </p:nvSpPr>
        <p:spPr>
          <a:xfrm>
            <a:off x="540000" y="720000"/>
            <a:ext cx="5220000" cy="1080000"/>
          </a:xfrm>
          <a:prstGeom prst="rect">
            <a:avLst/>
          </a:prstGeom>
          <a:solidFill>
            <a:srgbClr val="1A3A5C"/>
          </a:solidFill>
        </p:spPr>
        <p:txBody>
          <a:bodyPr/>
          <a:lstStyle/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GitHub Repository</a:t>
            </a:r>
          </a:p>
          <a:p>
            <a:endParaRPr lang="en-US" sz="16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github.com/hardikraval-collab/ibm</a:t>
            </a: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Branch: main  |  Commit: 20eb2ae</a:t>
            </a:r>
          </a:p>
        </p:txBody>
      </p:sp>
      <p:sp>
        <p:nvSpPr>
          <p:cNvPr id="100141" name="CommitBox"/>
          <p:cNvSpPr txBox="1"/>
          <p:nvPr/>
        </p:nvSpPr>
        <p:spPr>
          <a:xfrm>
            <a:off x="6120000" y="720000"/>
            <a:ext cx="5220000" cy="1080000"/>
          </a:xfrm>
          <a:prstGeom prst="rect">
            <a:avLst/>
          </a:prstGeom>
          <a:solidFill>
            <a:srgbClr val="EBF5FB"/>
          </a:solidFill>
        </p:spPr>
        <p:txBody>
          <a:bodyPr/>
          <a:lstStyle/>
          <a:p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Commit Summary</a:t>
            </a:r>
          </a:p>
          <a:p>
            <a:endParaRPr lang="en-US" sz="1400" b="0">
              <a:solidFill>
                <a:srgbClr val="2C3E50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feat: Nutrition Agentic AI powered by IBM Granite</a:t>
            </a:r>
          </a:p>
          <a:p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12 files changed  |  2,948 insertions</a:t>
            </a:r>
          </a:p>
          <a:p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Date: October 13, 2026</a:t>
            </a:r>
          </a:p>
        </p:txBody>
      </p:sp>
      <p:sp>
        <p:nvSpPr>
          <p:cNvPr id="100142" name="FilesTitle"/>
          <p:cNvSpPr txBox="1"/>
          <p:nvPr/>
        </p:nvSpPr>
        <p:spPr>
          <a:xfrm>
            <a:off x="540000" y="1980000"/>
            <a:ext cx="10800000" cy="252000"/>
          </a:xfrm>
          <a:prstGeom prst="rect">
            <a:avLst/>
          </a:prstGeom>
        </p:spPr>
        <p:txBody>
          <a:bodyPr/>
          <a:lstStyle/>
          <a:p>
            <a:r>
              <a:rPr lang="en-US" sz="1500" b="1">
                <a:solidFill>
                  <a:srgbClr val="0A3D62"/>
                </a:solidFill>
                <a:latin typeface="Calibri"/>
                <a:ea typeface="Calibri"/>
              </a:rPr>
              <a:t>Files Included in Repository</a:t>
            </a:r>
          </a:p>
        </p:txBody>
      </p:sp>
      <p:sp>
        <p:nvSpPr>
          <p:cNvPr id="100143" name="FileList"/>
          <p:cNvSpPr txBox="1"/>
          <p:nvPr/>
        </p:nvSpPr>
        <p:spPr>
          <a:xfrm>
            <a:off x="540000" y="2304000"/>
            <a:ext cx="10800000" cy="1620000"/>
          </a:xfrm>
          <a:prstGeom prst="rect">
            <a:avLst/>
          </a:prstGeom>
          <a:solidFill>
            <a:srgbClr val="F4F6F7"/>
          </a:solidFill>
        </p:spPr>
        <p:txBody>
          <a:bodyPr/>
          <a:lstStyle/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README.md               Full documentation with architecture, API ref, setup guide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.gitignore              Excludes secrets, __pycache__, generated plans, IDE files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requirements.txt        Root-level Python dependencies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start_nutrition_ai.bat  Windows one-click launcher with auto-install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NutritionAI/app.py      Flask server — 6 REST endpoints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NutritionAI/agents/     IBM Granite agent + guardrails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NutritionAI/templates/  3-tab responsive HTML web UI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NutritionAI/static/     CSS stylesheet + JavaScript frontend</a:t>
            </a:r>
          </a:p>
          <a:p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NutritionAI/requirements.txt  App-level dependencies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4" name="TopBar"/>
          <p:cNvSpPr txBox="1"/>
          <p:nvPr/>
        </p:nvSpPr>
        <p:spPr>
          <a:xfrm>
            <a:off x="0" y="0"/>
            <a:ext cx="12193200" cy="504000"/>
          </a:xfrm>
          <a:prstGeom prst="rect">
            <a:avLst/>
          </a:prstGeom>
          <a:solidFill>
            <a:srgbClr val="0A3D62"/>
          </a:solidFill>
        </p:spPr>
        <p:txBody>
          <a:bodyPr/>
          <a:lstStyle/>
          <a:p>
            <a:endParaRPr lang="en-US">
              <a:solidFill>
                <a:srgbClr val="0A3D62"/>
              </a:solidFill>
            </a:endParaRPr>
          </a:p>
        </p:txBody>
      </p:sp>
      <p:sp>
        <p:nvSpPr>
          <p:cNvPr id="100145" name="SlideTitle"/>
          <p:cNvSpPr txBox="1"/>
          <p:nvPr/>
        </p:nvSpPr>
        <p:spPr>
          <a:xfrm>
            <a:off x="540000" y="72000"/>
            <a:ext cx="9000000" cy="360000"/>
          </a:xfrm>
          <a:prstGeom prst="rect">
            <a:avLst/>
          </a:prstGeom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Medical Disclaimer &amp; AI Ethics Statement</a:t>
            </a:r>
          </a:p>
        </p:txBody>
      </p:sp>
      <p:sp>
        <p:nvSpPr>
          <p:cNvPr id="100146" name="SlideNum"/>
          <p:cNvSpPr txBox="1"/>
          <p:nvPr/>
        </p:nvSpPr>
        <p:spPr>
          <a:xfrm>
            <a:off x="10800000" y="72000"/>
            <a:ext cx="1080000" cy="360000"/>
          </a:xfrm>
          <a:prstGeom prst="rect">
            <a:avLst/>
          </a:prstGeom>
        </p:spPr>
        <p:txBody>
          <a:bodyPr/>
          <a:lstStyle/>
          <a:p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16</a:t>
            </a:r>
          </a:p>
        </p:txBody>
      </p:sp>
      <p:sp>
        <p:nvSpPr>
          <p:cNvPr id="100147" name="DisclaimerFull"/>
          <p:cNvSpPr txBox="1"/>
          <p:nvPr/>
        </p:nvSpPr>
        <p:spPr>
          <a:xfrm>
            <a:off x="540000" y="720000"/>
            <a:ext cx="10800000" cy="2700000"/>
          </a:xfrm>
          <a:prstGeom prst="rect">
            <a:avLst/>
          </a:prstGeom>
          <a:solidFill>
            <a:srgbClr val="FDEDEC"/>
          </a:solidFill>
        </p:spPr>
        <p:txBody>
          <a:bodyPr/>
          <a:lstStyle/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MEDICAL DISCLAIMER</a:t>
            </a:r>
          </a:p>
          <a:p>
            <a:endParaRPr lang="en-US" sz="13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This nutrition plan is generated by an AI assistant for informational and educational</a:t>
            </a: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purposes only. It is NOT a substitute for professional medical advice, diagnosis,</a:t>
            </a: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or treatment.</a:t>
            </a:r>
          </a:p>
          <a:p>
            <a:endParaRPr lang="en-US" sz="13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Always consult a qualified nutritionist, dietitian, or physician before making</a:t>
            </a: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significant dietary changes.</a:t>
            </a:r>
          </a:p>
          <a:p>
            <a:endParaRPr lang="en-US" sz="13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If you have a medical condition (e.g. diabetes, hypertension, kidney disease),</a:t>
            </a: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seek personalised clinical guidance from a healthcare professional.</a:t>
            </a:r>
          </a:p>
          <a:p>
            <a:endParaRPr lang="en-US" sz="13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IBM Granite AI follows ethical AI principles — this plan avoids harmful advice</a:t>
            </a: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and promotes balanced, evidence-based nutrition.</a:t>
            </a:r>
          </a:p>
          <a:p>
            <a:endParaRPr lang="en-US" sz="13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Emergency? Contact your local emergency services or a healthcare professional</a:t>
            </a: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immediately.</a:t>
            </a:r>
          </a:p>
          <a:p>
            <a:endParaRPr lang="en-US" sz="1300" b="0">
              <a:solidFill>
                <a:srgbClr val="7B241C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Generated by Nutrition Agentic AI powered by IBM Granite LLM | watsonx.ai</a:t>
            </a:r>
          </a:p>
        </p:txBody>
      </p:sp>
      <p:sp>
        <p:nvSpPr>
          <p:cNvPr id="100148" name="IBM_Ethics"/>
          <p:cNvSpPr txBox="1"/>
          <p:nvPr/>
        </p:nvSpPr>
        <p:spPr>
          <a:xfrm>
            <a:off x="540000" y="3600000"/>
            <a:ext cx="10800000" cy="252000"/>
          </a:xfrm>
          <a:prstGeom prst="rect">
            <a:avLst/>
          </a:prstGeom>
        </p:spPr>
        <p:txBody>
          <a:bodyPr/>
          <a:lstStyle/>
          <a:p>
            <a:r>
              <a:rPr lang="en-US" sz="1500" b="1">
                <a:solidFill>
                  <a:srgbClr val="0A3D62"/>
                </a:solidFill>
                <a:latin typeface="Calibri"/>
                <a:ea typeface="Calibri"/>
              </a:rPr>
              <a:t>IBM AI Ethics Principles Implemented in This Project</a:t>
            </a:r>
          </a:p>
        </p:txBody>
      </p:sp>
      <p:sp>
        <p:nvSpPr>
          <p:cNvPr id="100149" name="E1"/>
          <p:cNvSpPr txBox="1"/>
          <p:nvPr/>
        </p:nvSpPr>
        <p:spPr>
          <a:xfrm>
            <a:off x="540000" y="3924000"/>
            <a:ext cx="3420000" cy="540000"/>
          </a:xfrm>
          <a:prstGeom prst="rect">
            <a:avLst/>
          </a:prstGeom>
          <a:solidFill>
            <a:srgbClr val="1A5276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Explainability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Transparent AI-generated content labelling and source attribution</a:t>
            </a:r>
          </a:p>
        </p:txBody>
      </p:sp>
      <p:sp>
        <p:nvSpPr>
          <p:cNvPr id="100150" name="E2"/>
          <p:cNvSpPr txBox="1"/>
          <p:nvPr/>
        </p:nvSpPr>
        <p:spPr>
          <a:xfrm>
            <a:off x="4248000" y="3924000"/>
            <a:ext cx="3420000" cy="540000"/>
          </a:xfrm>
          <a:prstGeom prst="rect">
            <a:avLst/>
          </a:prstGeom>
          <a:solidFill>
            <a:srgbClr val="117A65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Fairness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No demographic bias; plans tailored only to provided health data</a:t>
            </a:r>
          </a:p>
        </p:txBody>
      </p:sp>
      <p:sp>
        <p:nvSpPr>
          <p:cNvPr id="100151" name="E3"/>
          <p:cNvSpPr txBox="1"/>
          <p:nvPr/>
        </p:nvSpPr>
        <p:spPr>
          <a:xfrm>
            <a:off x="7956000" y="3924000"/>
            <a:ext cx="3384000" cy="540000"/>
          </a:xfrm>
          <a:prstGeom prst="rect">
            <a:avLst/>
          </a:prstGeom>
          <a:solidFill>
            <a:srgbClr val="922B21"/>
          </a:solidFill>
        </p:spPr>
        <p:txBody>
          <a:bodyPr/>
          <a:lstStyle/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Safety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Guardrails prevent harmful dietary recommendations at all times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2" name="TopAccent"/>
          <p:cNvSpPr txBox="1"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2ECC71"/>
          </a:solidFill>
        </p:spPr>
        <p:txBody>
          <a:bodyPr/>
          <a:lstStyle/>
          <a:p>
            <a:endParaRPr lang="en-US">
              <a:solidFill>
                <a:srgbClr val="2ECC71"/>
              </a:solidFill>
            </a:endParaRPr>
          </a:p>
        </p:txBody>
      </p:sp>
      <p:sp>
        <p:nvSpPr>
          <p:cNvPr id="100153" name="ThankYou"/>
          <p:cNvSpPr txBox="1"/>
          <p:nvPr/>
        </p:nvSpPr>
        <p:spPr>
          <a:xfrm>
            <a:off x="648000" y="900000"/>
            <a:ext cx="10800000" cy="1080000"/>
          </a:xfrm>
          <a:prstGeom prst="rect">
            <a:avLst/>
          </a:prstGeom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154" name="ProjectName"/>
          <p:cNvSpPr txBox="1"/>
          <p:nvPr/>
        </p:nvSpPr>
        <p:spPr>
          <a:xfrm>
            <a:off x="648000" y="2088000"/>
            <a:ext cx="10800000" cy="540000"/>
          </a:xfrm>
          <a:prstGeom prst="rect">
            <a:avLst/>
          </a:prstGeom>
        </p:spPr>
        <p:txBody>
          <a:bodyPr/>
          <a:lstStyle/>
          <a:p>
            <a:r>
              <a:rPr lang="en-US" sz="2200" b="0">
                <a:solidFill>
                  <a:srgbClr val="2ECC71"/>
                </a:solidFill>
                <a:latin typeface="Calibri"/>
                <a:ea typeface="Calibri"/>
              </a:rPr>
              <a:t>Nutrition Agentic AI — IBM Granite LLM</a:t>
            </a:r>
          </a:p>
        </p:txBody>
      </p:sp>
      <p:sp>
        <p:nvSpPr>
          <p:cNvPr id="100155" name="SummaryPoints"/>
          <p:cNvSpPr txBox="1"/>
          <p:nvPr/>
        </p:nvSpPr>
        <p:spPr>
          <a:xfrm>
            <a:off x="648000" y="2700000"/>
            <a:ext cx="10800000" cy="1260000"/>
          </a:xfrm>
          <a:prstGeom prst="rect">
            <a:avLst/>
          </a:prstGeom>
        </p:spPr>
        <p:txBody>
          <a:bodyPr/>
          <a:lstStyle/>
          <a:p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7 Agentic AI SDLC Phases Completed    |    IBM Granite-13B LLM Integrated</a:t>
            </a:r>
          </a:p>
          <a:p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12 Files, 2,948 Lines of Code           |    Full Ethical Guardrails Applied</a:t>
            </a:r>
          </a:p>
          <a:p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Personalised 7-Day Nutrition Plans      |    Markdown .md File Export</a:t>
            </a:r>
          </a:p>
          <a:p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3-Tab Responsive Web UI                 |    REST API with 6 Endpoints</a:t>
            </a:r>
          </a:p>
        </p:txBody>
      </p:sp>
      <p:sp>
        <p:nvSpPr>
          <p:cNvPr id="100156" name="GitHubLink"/>
          <p:cNvSpPr txBox="1"/>
          <p:nvPr/>
        </p:nvSpPr>
        <p:spPr>
          <a:xfrm>
            <a:off x="648000" y="4068000"/>
            <a:ext cx="5760000" cy="324000"/>
          </a:xfrm>
          <a:prstGeom prst="rect">
            <a:avLst/>
          </a:prstGeom>
        </p:spPr>
        <p:txBody>
          <a:bodyPr/>
          <a:lstStyle/>
          <a:p>
            <a:r>
              <a:rPr lang="en-US" sz="1600" b="1">
                <a:solidFill>
                  <a:srgbClr val="2ECC71"/>
                </a:solidFill>
                <a:latin typeface="Calibri"/>
                <a:ea typeface="Calibri"/>
              </a:rPr>
              <a:t>github.com/hardikraval-collab/ibm</a:t>
            </a:r>
          </a:p>
        </p:txBody>
      </p:sp>
      <p:sp>
        <p:nvSpPr>
          <p:cNvPr id="100157" name="RunCmd"/>
          <p:cNvSpPr txBox="1"/>
          <p:nvPr/>
        </p:nvSpPr>
        <p:spPr>
          <a:xfrm>
            <a:off x="648000" y="4464000"/>
            <a:ext cx="10800000" cy="252000"/>
          </a:xfrm>
          <a:prstGeom prst="rect">
            <a:avLst/>
          </a:prstGeom>
        </p:spPr>
        <p:txBody>
          <a:bodyPr/>
          <a:lstStyle/>
          <a:p>
            <a:r>
              <a:rPr lang="en-US" sz="1400" b="0">
                <a:solidFill>
                  <a:srgbClr val="A9CCE3"/>
                </a:solidFill>
                <a:latin typeface="Courier New"/>
                <a:ea typeface="Courier New"/>
              </a:rPr>
              <a:t>git clone https://github.com/hardikraval-collab/ibm.git</a:t>
            </a:r>
          </a:p>
        </p:txBody>
      </p:sp>
      <p:sp>
        <p:nvSpPr>
          <p:cNvPr id="100158" name="BottomBar"/>
          <p:cNvSpPr txBox="1"/>
          <p:nvPr/>
        </p:nvSpPr>
        <p:spPr>
          <a:xfrm>
            <a:off x="0" y="6408000"/>
            <a:ext cx="12193200" cy="324000"/>
          </a:xfrm>
          <a:prstGeom prst="rect">
            <a:avLst/>
          </a:prstGeom>
          <a:solidFill>
            <a:srgbClr val="071F32"/>
          </a:solidFill>
        </p:spPr>
        <p:txBody>
          <a:bodyPr/>
          <a:lstStyle/>
          <a:p>
            <a:r>
              <a:rPr lang="en-US" sz="1200" b="0">
                <a:solidFill>
                  <a:srgbClr val="7F8C8D"/>
                </a:solidFill>
                <a:latin typeface="Calibri"/>
                <a:ea typeface="Calibri"/>
              </a:rPr>
              <a:t>IBM Workshop  |  Nutrition Agentic AI  |  Python 3.7 + Flask + IBM Granite LLM  |  watsonx.ai</a:t>
            </a:r>
          </a:p>
        </p:txBody>
      </p:sp>
    </p:spTree>
  </p:cSld>
  <p:clrMapOvr>
    <a:masterClrMapping/>
  </p:clrMapOvr>
  <p:transition spd="med" advClick="0" advTm="8820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2826</Words>
  <Application>Microsoft Office PowerPoint</Application>
  <PresentationFormat>Widescreen</PresentationFormat>
  <Paragraphs>431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OfficeCLI</dc:creator>
  <cp:lastModifiedBy>STUDENT</cp:lastModifiedBy>
  <cp:revision>1</cp:revision>
  <dcterms:created xsi:type="dcterms:W3CDTF">2026-10-13T09:08:35Z</dcterms:created>
  <dcterms:modified xsi:type="dcterms:W3CDTF">2026-10-13T09:28:18Z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1.0.157</vt:lpwstr>
  </property>
  <property fmtid="{D5CDD505-2E9C-101B-9397-08002B2CF9AE}" pid="3" name="OfficeCLI.LastModified">
    <vt:lpwstr>2026-10-13T09:13:36Z</vt:lpwstr>
  </property>
</Properties>
</file>